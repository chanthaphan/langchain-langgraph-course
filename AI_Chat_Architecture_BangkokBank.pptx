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7589520" y="-1371600"/>
            <a:ext cx="6400800" cy="9601200"/>
          </a:xfrm>
          <a:prstGeom prst="parallelogram">
            <a:avLst/>
          </a:prstGeom>
          <a:solidFill>
            <a:srgbClr val="142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109728" cy="25603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68680" y="731520"/>
            <a:ext cx="2926080" cy="45720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0B1F3A"/>
                </a:solidFill>
                <a:latin typeface="Calibri"/>
              </a:rPr>
              <a:t>◆  BANGKOK BANK · InnoHub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783080"/>
            <a:ext cx="67665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4400" b="1" i="0">
                <a:solidFill>
                  <a:srgbClr val="FFFFFF"/>
                </a:solidFill>
                <a:latin typeface="Calibri"/>
              </a:rPr>
              <a:t>End-to-End AI Chat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4400" b="1" i="0">
                <a:solidFill>
                  <a:srgbClr val="C9A227"/>
                </a:solidFill>
                <a:latin typeface="Calibri"/>
              </a:rPr>
              <a:t>Application Architecture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800" b="0" i="0">
                <a:solidFill>
                  <a:srgbClr val="E8F1FB"/>
                </a:solidFill>
                <a:latin typeface="Calibri"/>
              </a:rPr>
              <a:t>A five-layer journey from user input to intelligent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800" b="0" i="0">
                <a:solidFill>
                  <a:srgbClr val="E8F1FB"/>
                </a:solidFill>
                <a:latin typeface="Calibri"/>
              </a:rPr>
              <a:t>response — with governance, PII protection &amp; security.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1051560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C9A227"/>
                </a:solidFill>
                <a:latin typeface="Calibri"/>
              </a:rPr>
              <a:t>THE SKELETON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1417320"/>
            <a:ext cx="2834640" cy="749808"/>
          </a:xfrm>
          <a:prstGeom prst="roundRect">
            <a:avLst>
              <a:gd name="adj" fmla="val 50000"/>
            </a:avLst>
          </a:prstGeom>
          <a:solidFill>
            <a:srgbClr val="3C82D6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Calibri"/>
              </a:rPr>
              <a:t>💬  Client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012680" y="2176272"/>
            <a:ext cx="0" cy="182880"/>
          </a:xfrm>
          <a:prstGeom prst="line">
            <a:avLst/>
          </a:prstGeom>
          <a:ln w="22225">
            <a:solidFill>
              <a:srgbClr val="C9A227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595360" y="2368296"/>
            <a:ext cx="2834640" cy="749808"/>
          </a:xfrm>
          <a:prstGeom prst="roundRect">
            <a:avLst>
              <a:gd name="adj" fmla="val 50000"/>
            </a:avLst>
          </a:prstGeom>
          <a:solidFill>
            <a:srgbClr val="1A9C9C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Calibri"/>
              </a:rPr>
              <a:t>🧠  Agent Orchestrator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012680" y="3127247"/>
            <a:ext cx="0" cy="182880"/>
          </a:xfrm>
          <a:prstGeom prst="line">
            <a:avLst/>
          </a:prstGeom>
          <a:ln w="22225">
            <a:solidFill>
              <a:srgbClr val="C9A227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5360" y="3319272"/>
            <a:ext cx="2834640" cy="749808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0B1F3A"/>
                </a:solidFill>
                <a:latin typeface="Calibri"/>
              </a:rPr>
              <a:t>🏛️  AI Hub Gateway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012680" y="4078224"/>
            <a:ext cx="0" cy="182880"/>
          </a:xfrm>
          <a:prstGeom prst="line">
            <a:avLst/>
          </a:prstGeom>
          <a:ln w="22225">
            <a:solidFill>
              <a:srgbClr val="C9A227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595360" y="4270248"/>
            <a:ext cx="2834640" cy="749808"/>
          </a:xfrm>
          <a:prstGeom prst="roundRect">
            <a:avLst>
              <a:gd name="adj" fmla="val 50000"/>
            </a:avLst>
          </a:prstGeom>
          <a:solidFill>
            <a:srgbClr val="6B4CA8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Calibri"/>
              </a:rPr>
              <a:t>🤖  LLM Providers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012680" y="5029200"/>
            <a:ext cx="0" cy="182880"/>
          </a:xfrm>
          <a:prstGeom prst="line">
            <a:avLst/>
          </a:prstGeom>
          <a:ln w="22225">
            <a:solidFill>
              <a:srgbClr val="C9A227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595360" y="5221224"/>
            <a:ext cx="2834640" cy="74980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Calibri"/>
              </a:rPr>
              <a:t>🗄️  Data &amp; 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89788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300" b="0" i="0">
                <a:solidFill>
                  <a:srgbClr val="5A6677"/>
                </a:solidFill>
                <a:latin typeface="Calibri"/>
              </a:rPr>
              <a:t>Executive Briefing  ·  AI Technology Team  ·  2026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"/>
            <a:ext cx="100584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ARCHITECTURE 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6576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300" b="1" i="0">
                <a:solidFill>
                  <a:srgbClr val="FFFFFF"/>
                </a:solidFill>
                <a:latin typeface="Calibri"/>
              </a:rPr>
              <a:t>The Skeleton — Five Cooperating Layers</a:t>
            </a:r>
          </a:p>
        </p:txBody>
      </p:sp>
      <p:sp>
        <p:nvSpPr>
          <p:cNvPr id="8" name="Oval 7"/>
          <p:cNvSpPr/>
          <p:nvPr/>
        </p:nvSpPr>
        <p:spPr>
          <a:xfrm>
            <a:off x="11430000" y="237744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0B1F3A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47104"/>
            <a:ext cx="73152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6547104"/>
            <a:ext cx="277063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2 / 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09728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50" b="0" i="1">
                <a:solidFill>
                  <a:srgbClr val="5A6677"/>
                </a:solidFill>
                <a:latin typeface="Calibri"/>
              </a:rPr>
              <a:t>This stack is the backbone of every slide that follows. Each section zooms into one layer.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1691640"/>
            <a:ext cx="3108960" cy="786384"/>
          </a:xfrm>
          <a:prstGeom prst="roundRect">
            <a:avLst>
              <a:gd name="adj" fmla="val 50000"/>
            </a:avLst>
          </a:prstGeom>
          <a:solidFill>
            <a:srgbClr val="3C82D6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Calibri"/>
              </a:rPr>
              <a:t>💬  Client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240279" y="2482596"/>
            <a:ext cx="0" cy="160020"/>
          </a:xfrm>
          <a:prstGeom prst="line">
            <a:avLst/>
          </a:prstGeom>
          <a:ln w="20320">
            <a:solidFill>
              <a:srgbClr val="6D7989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2606040" y="2482596"/>
            <a:ext cx="0" cy="160020"/>
          </a:xfrm>
          <a:prstGeom prst="line">
            <a:avLst/>
          </a:prstGeom>
          <a:ln w="20320">
            <a:solidFill>
              <a:srgbClr val="58B17C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97680" y="1691640"/>
            <a:ext cx="5897880" cy="786384"/>
          </a:xfrm>
          <a:prstGeom prst="roundRect">
            <a:avLst>
              <a:gd name="adj" fmla="val 8000"/>
            </a:avLst>
          </a:prstGeom>
          <a:solidFill>
            <a:srgbClr val="F1F3F6"/>
          </a:solidFill>
          <a:ln w="15240">
            <a:solidFill>
              <a:srgbClr val="94B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97680" y="1691640"/>
            <a:ext cx="109728" cy="786384"/>
          </a:xfrm>
          <a:prstGeom prst="rect">
            <a:avLst/>
          </a:prstGeom>
          <a:solidFill>
            <a:srgbClr val="3C8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1755648"/>
            <a:ext cx="548640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Secure web/mobile chat UI — captures the user's natural-language request.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332720" y="1837944"/>
            <a:ext cx="1417320" cy="493776"/>
          </a:xfrm>
          <a:prstGeom prst="roundRect">
            <a:avLst>
              <a:gd name="adj" fmla="val 40000"/>
            </a:avLst>
          </a:prstGeom>
          <a:solidFill>
            <a:srgbClr val="0B1F3A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00" b="1" i="0">
                <a:solidFill>
                  <a:srgbClr val="C9A227"/>
                </a:solidFill>
                <a:latin typeface="Calibri"/>
              </a:rPr>
              <a:t>🔍 </a:t>
            </a:r>
            <a:r>
              <a:rPr sz="1000" b="1" i="0">
                <a:solidFill>
                  <a:srgbClr val="FFFFFF"/>
                </a:solidFill>
                <a:latin typeface="Calibri"/>
              </a:rPr>
              <a:t>Slide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2642616"/>
            <a:ext cx="3108960" cy="786384"/>
          </a:xfrm>
          <a:prstGeom prst="roundRect">
            <a:avLst>
              <a:gd name="adj" fmla="val 50000"/>
            </a:avLst>
          </a:prstGeom>
          <a:solidFill>
            <a:srgbClr val="1A9C9C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Calibri"/>
              </a:rPr>
              <a:t>🧠  Agent Orchestrator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240279" y="3433572"/>
            <a:ext cx="0" cy="160020"/>
          </a:xfrm>
          <a:prstGeom prst="line">
            <a:avLst/>
          </a:prstGeom>
          <a:ln w="20320">
            <a:solidFill>
              <a:srgbClr val="6D7989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2606040" y="3433572"/>
            <a:ext cx="0" cy="160020"/>
          </a:xfrm>
          <a:prstGeom prst="line">
            <a:avLst/>
          </a:prstGeom>
          <a:ln w="20320">
            <a:solidFill>
              <a:srgbClr val="58B17C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297680" y="2642616"/>
            <a:ext cx="5897880" cy="786384"/>
          </a:xfrm>
          <a:prstGeom prst="roundRect">
            <a:avLst>
              <a:gd name="adj" fmla="val 8000"/>
            </a:avLst>
          </a:prstGeom>
          <a:solidFill>
            <a:srgbClr val="F1F3F6"/>
          </a:solidFill>
          <a:ln w="15240">
            <a:solidFill>
              <a:srgbClr val="81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2642616"/>
            <a:ext cx="109728" cy="786384"/>
          </a:xfrm>
          <a:prstGeom prst="rect">
            <a:avLst/>
          </a:prstGeom>
          <a:solidFill>
            <a:srgbClr val="1A9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26280" y="2706624"/>
            <a:ext cx="548640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Plans the task, calls tools, generates SQL, applies input/output guardrails &amp; PII handling.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332720" y="2788920"/>
            <a:ext cx="1417320" cy="493776"/>
          </a:xfrm>
          <a:prstGeom prst="roundRect">
            <a:avLst>
              <a:gd name="adj" fmla="val 40000"/>
            </a:avLst>
          </a:prstGeom>
          <a:solidFill>
            <a:srgbClr val="0B1F3A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00" b="1" i="0">
                <a:solidFill>
                  <a:srgbClr val="C9A227"/>
                </a:solidFill>
                <a:latin typeface="Calibri"/>
              </a:rPr>
              <a:t>🔍 </a:t>
            </a:r>
            <a:r>
              <a:rPr sz="1000" b="1" i="0">
                <a:solidFill>
                  <a:srgbClr val="FFFFFF"/>
                </a:solidFill>
                <a:latin typeface="Calibri"/>
              </a:rPr>
              <a:t>Slides 4–6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" y="3593592"/>
            <a:ext cx="3108960" cy="78638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 i="0">
                <a:solidFill>
                  <a:srgbClr val="0B1F3A"/>
                </a:solidFill>
                <a:latin typeface="Calibri"/>
              </a:rPr>
              <a:t>🏛️  AI Hub Gateway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240279" y="4384548"/>
            <a:ext cx="0" cy="160020"/>
          </a:xfrm>
          <a:prstGeom prst="line">
            <a:avLst/>
          </a:prstGeom>
          <a:ln w="20320">
            <a:solidFill>
              <a:srgbClr val="6D7989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2606040" y="4384548"/>
            <a:ext cx="0" cy="160020"/>
          </a:xfrm>
          <a:prstGeom prst="line">
            <a:avLst/>
          </a:prstGeom>
          <a:ln w="20320">
            <a:solidFill>
              <a:srgbClr val="58B17C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4297680" y="3593592"/>
            <a:ext cx="5897880" cy="786384"/>
          </a:xfrm>
          <a:prstGeom prst="roundRect">
            <a:avLst>
              <a:gd name="adj" fmla="val 8000"/>
            </a:avLst>
          </a:prstGeom>
          <a:solidFill>
            <a:srgbClr val="F1F3F6"/>
          </a:solidFill>
          <a:ln w="15240">
            <a:solidFill>
              <a:srgbClr val="E1CC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97680" y="3593592"/>
            <a:ext cx="109728" cy="7863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26280" y="3657600"/>
            <a:ext cx="548640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Central control plane: policy, PII masking, quotas and provider routing + logging.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332720" y="3739896"/>
            <a:ext cx="1417320" cy="493776"/>
          </a:xfrm>
          <a:prstGeom prst="roundRect">
            <a:avLst>
              <a:gd name="adj" fmla="val 40000"/>
            </a:avLst>
          </a:prstGeom>
          <a:solidFill>
            <a:srgbClr val="0B1F3A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00" b="1" i="0">
                <a:solidFill>
                  <a:srgbClr val="C9A227"/>
                </a:solidFill>
                <a:latin typeface="Calibri"/>
              </a:rPr>
              <a:t>🔍 </a:t>
            </a:r>
            <a:r>
              <a:rPr sz="1000" b="1" i="0">
                <a:solidFill>
                  <a:srgbClr val="FFFFFF"/>
                </a:solidFill>
                <a:latin typeface="Calibri"/>
              </a:rPr>
              <a:t>Slide 7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" y="4544568"/>
            <a:ext cx="3108960" cy="786384"/>
          </a:xfrm>
          <a:prstGeom prst="roundRect">
            <a:avLst>
              <a:gd name="adj" fmla="val 50000"/>
            </a:avLst>
          </a:prstGeom>
          <a:solidFill>
            <a:srgbClr val="6B4CA8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Calibri"/>
              </a:rPr>
              <a:t>🤖  LLM Providers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240279" y="5335524"/>
            <a:ext cx="0" cy="160020"/>
          </a:xfrm>
          <a:prstGeom prst="line">
            <a:avLst/>
          </a:prstGeom>
          <a:ln w="20320">
            <a:solidFill>
              <a:srgbClr val="6D7989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2606040" y="5335524"/>
            <a:ext cx="0" cy="160020"/>
          </a:xfrm>
          <a:prstGeom prst="line">
            <a:avLst/>
          </a:prstGeom>
          <a:ln w="20320">
            <a:solidFill>
              <a:srgbClr val="58B17C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4297680" y="4544568"/>
            <a:ext cx="5897880" cy="786384"/>
          </a:xfrm>
          <a:prstGeom prst="roundRect">
            <a:avLst>
              <a:gd name="adj" fmla="val 8000"/>
            </a:avLst>
          </a:prstGeom>
          <a:solidFill>
            <a:srgbClr val="F1F3F6"/>
          </a:solidFill>
          <a:ln w="15240">
            <a:solidFill>
              <a:srgbClr val="AE9D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297680" y="4544568"/>
            <a:ext cx="109728" cy="786384"/>
          </a:xfrm>
          <a:prstGeom prst="rect">
            <a:avLst/>
          </a:prstGeom>
          <a:solidFill>
            <a:srgbClr val="6B4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26280" y="4608576"/>
            <a:ext cx="548640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External &amp; private LLMs — generate the reasoning and response (placeholders only).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332720" y="4690872"/>
            <a:ext cx="1417320" cy="493776"/>
          </a:xfrm>
          <a:prstGeom prst="roundRect">
            <a:avLst>
              <a:gd name="adj" fmla="val 40000"/>
            </a:avLst>
          </a:prstGeom>
          <a:solidFill>
            <a:srgbClr val="0B1F3A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00" b="1" i="0">
                <a:solidFill>
                  <a:srgbClr val="C9A227"/>
                </a:solidFill>
                <a:latin typeface="Calibri"/>
              </a:rPr>
              <a:t>🔍 </a:t>
            </a:r>
            <a:r>
              <a:rPr sz="1000" b="1" i="0">
                <a:solidFill>
                  <a:srgbClr val="FFFFFF"/>
                </a:solidFill>
                <a:latin typeface="Calibri"/>
              </a:rPr>
              <a:t>Slides 8–9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68680" y="5495544"/>
            <a:ext cx="3108960" cy="786384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Calibri"/>
              </a:rPr>
              <a:t>🗄️  Data &amp; RAG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97680" y="5495544"/>
            <a:ext cx="5897880" cy="786384"/>
          </a:xfrm>
          <a:prstGeom prst="roundRect">
            <a:avLst>
              <a:gd name="adj" fmla="val 8000"/>
            </a:avLst>
          </a:prstGeom>
          <a:solidFill>
            <a:srgbClr val="F1F3F6"/>
          </a:solidFill>
          <a:ln w="15240">
            <a:solidFill>
              <a:srgbClr val="8CCA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297680" y="5495544"/>
            <a:ext cx="109728" cy="786384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26280" y="5559552"/>
            <a:ext cx="5486400" cy="6949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Transactional DB, vector knowledge base, document store and the audit trail.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332720" y="5641848"/>
            <a:ext cx="1417320" cy="493776"/>
          </a:xfrm>
          <a:prstGeom prst="roundRect">
            <a:avLst>
              <a:gd name="adj" fmla="val 40000"/>
            </a:avLst>
          </a:prstGeom>
          <a:solidFill>
            <a:srgbClr val="0B1F3A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00" b="1" i="0">
                <a:solidFill>
                  <a:srgbClr val="C9A227"/>
                </a:solidFill>
                <a:latin typeface="Calibri"/>
              </a:rPr>
              <a:t>🔍 </a:t>
            </a:r>
            <a:r>
              <a:rPr sz="1000" b="1" i="0">
                <a:solidFill>
                  <a:srgbClr val="FFFFFF"/>
                </a:solidFill>
                <a:latin typeface="Calibri"/>
              </a:rPr>
              <a:t>Slide 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" y="64008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546275"/>
                </a:solidFill>
                <a:latin typeface="Calibri"/>
              </a:rPr>
              <a:t>▼ request   </a:t>
            </a:r>
            <a:r>
              <a:rPr sz="1000" b="1" i="0">
                <a:solidFill>
                  <a:srgbClr val="2E9E5B"/>
                </a:solidFill>
                <a:latin typeface="Calibri"/>
              </a:rPr>
              <a:t>▲ response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ZOOM · LAYER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300" b="1" i="0">
                <a:solidFill>
                  <a:srgbClr val="FFFFFF"/>
                </a:solidFill>
                <a:latin typeface="Calibri"/>
              </a:rPr>
              <a:t>Client Layer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237744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0B1F3A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024128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8A939F"/>
                </a:solidFill>
                <a:latin typeface="Calibri"/>
              </a:rPr>
              <a:t>ARCHITECTURE MAP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1325880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3C82D6"/>
          </a:solidFill>
          <a:ln w="31750">
            <a:solidFill>
              <a:srgbClr val="C9A227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💬  Client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85316" y="2057400"/>
            <a:ext cx="0" cy="237744"/>
          </a:xfrm>
          <a:prstGeom prst="line">
            <a:avLst/>
          </a:prstGeom>
          <a:ln w="19050">
            <a:solidFill>
              <a:srgbClr val="B9C2CE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714499" y="2057400"/>
            <a:ext cx="0" cy="237744"/>
          </a:xfrm>
          <a:prstGeom prst="line">
            <a:avLst/>
          </a:prstGeom>
          <a:ln w="19050">
            <a:solidFill>
              <a:srgbClr val="C9DECF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697479" y="1682495"/>
            <a:ext cx="347472" cy="0"/>
          </a:xfrm>
          <a:prstGeom prst="line">
            <a:avLst/>
          </a:prstGeom>
          <a:ln w="28575">
            <a:solidFill>
              <a:srgbClr val="C9A227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2441448" y="1161288"/>
            <a:ext cx="384048" cy="38404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0B1F3A"/>
                </a:solidFill>
                <a:latin typeface="Calibri"/>
              </a:rPr>
              <a:t>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" y="2313432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B1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8A939F"/>
                </a:solidFill>
                <a:latin typeface="Calibri"/>
              </a:rPr>
              <a:t>🧠  Agent Orchestrator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385316" y="3044952"/>
            <a:ext cx="0" cy="237744"/>
          </a:xfrm>
          <a:prstGeom prst="line">
            <a:avLst/>
          </a:prstGeom>
          <a:ln w="19050">
            <a:solidFill>
              <a:srgbClr val="B9C2CE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714499" y="3044952"/>
            <a:ext cx="0" cy="237744"/>
          </a:xfrm>
          <a:prstGeom prst="line">
            <a:avLst/>
          </a:prstGeom>
          <a:ln w="19050">
            <a:solidFill>
              <a:srgbClr val="C9DECF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84048" y="3300984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EDD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8A939F"/>
                </a:solidFill>
                <a:latin typeface="Calibri"/>
              </a:rPr>
              <a:t>🏛️  AI Hub Gateway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385316" y="4032504"/>
            <a:ext cx="0" cy="237744"/>
          </a:xfrm>
          <a:prstGeom prst="line">
            <a:avLst/>
          </a:prstGeom>
          <a:ln w="19050">
            <a:solidFill>
              <a:srgbClr val="B9C2CE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714499" y="4032504"/>
            <a:ext cx="0" cy="237744"/>
          </a:xfrm>
          <a:prstGeom prst="line">
            <a:avLst/>
          </a:prstGeom>
          <a:ln w="19050">
            <a:solidFill>
              <a:srgbClr val="C9DECF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84048" y="4288536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CDC2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8A939F"/>
                </a:solidFill>
                <a:latin typeface="Calibri"/>
              </a:rPr>
              <a:t>🤖  LLM Providers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385316" y="5020056"/>
            <a:ext cx="0" cy="237744"/>
          </a:xfrm>
          <a:prstGeom prst="line">
            <a:avLst/>
          </a:prstGeom>
          <a:ln w="19050">
            <a:solidFill>
              <a:srgbClr val="B9C2CE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714499" y="5020056"/>
            <a:ext cx="0" cy="237744"/>
          </a:xfrm>
          <a:prstGeom prst="line">
            <a:avLst/>
          </a:prstGeom>
          <a:ln w="19050">
            <a:solidFill>
              <a:srgbClr val="C9DECF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84048" y="5276088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B8D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8A939F"/>
                </a:solidFill>
                <a:latin typeface="Calibri"/>
              </a:rPr>
              <a:t>🗄️  Data &amp; RAG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6035040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546275"/>
                </a:solidFill>
                <a:latin typeface="Calibri"/>
              </a:rPr>
              <a:t>▼ request   </a:t>
            </a:r>
            <a:r>
              <a:rPr sz="850" b="1" i="0">
                <a:solidFill>
                  <a:srgbClr val="43A86B"/>
                </a:solidFill>
                <a:latin typeface="Calibri"/>
              </a:rPr>
              <a:t>▲ response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547104"/>
            <a:ext cx="73152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6547104"/>
            <a:ext cx="277063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3 / 15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46120" y="1143000"/>
            <a:ext cx="8534095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7780">
            <a:solidFill>
              <a:srgbClr val="8AB4E6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 Same Side Corner Rectangle 27"/>
          <p:cNvSpPr/>
          <p:nvPr/>
        </p:nvSpPr>
        <p:spPr>
          <a:xfrm>
            <a:off x="3246120" y="1143000"/>
            <a:ext cx="8534095" cy="658368"/>
          </a:xfrm>
          <a:prstGeom prst="round2SameRect">
            <a:avLst/>
          </a:prstGeom>
          <a:solidFill>
            <a:srgbClr val="3C8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410712" y="1261872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3C82D6"/>
                </a:solidFill>
                <a:latin typeface="Calibri"/>
              </a:rPr>
              <a:t>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59352" y="1197864"/>
            <a:ext cx="6705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Calibri"/>
              </a:rPr>
              <a:t>1 · Client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59352" y="1508760"/>
            <a:ext cx="6705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0" i="0">
                <a:solidFill>
                  <a:srgbClr val="E8F1FB"/>
                </a:solidFill>
                <a:latin typeface="Calibri"/>
              </a:rPr>
              <a:t>The secure entry &amp; exit point for the user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362895" y="1307592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00" b="1" i="0">
                <a:solidFill>
                  <a:srgbClr val="3C82D6"/>
                </a:solidFill>
                <a:latin typeface="Calibri"/>
              </a:rPr>
              <a:t>ZOOM 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196596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300" b="1" i="0">
                <a:solidFill>
                  <a:srgbClr val="0B1F3A"/>
                </a:solidFill>
                <a:latin typeface="Calibri"/>
              </a:rPr>
              <a:t>Role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74720" y="2295144"/>
            <a:ext cx="41605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indent="-182880" marL="228600">
              <a:spcBef>
                <a:spcPts val="0"/>
              </a:spcBef>
              <a:spcAft>
                <a:spcPts val="500"/>
              </a:spcAft>
              <a:buFont typeface="Arial"/>
              <a:buChar char="•"/>
            </a:pPr>
            <a:r>
              <a:rPr sz="1150" b="0" i="0">
                <a:solidFill>
                  <a:srgbClr val="1A2230"/>
                </a:solidFill>
                <a:latin typeface="Calibri"/>
              </a:rPr>
              <a:t>Render a secure chat experience</a:t>
            </a:r>
          </a:p>
          <a:p>
            <a:pPr algn="l" indent="-182880" marL="228600">
              <a:spcBef>
                <a:spcPts val="0"/>
              </a:spcBef>
              <a:spcAft>
                <a:spcPts val="500"/>
              </a:spcAft>
              <a:buFont typeface="Arial"/>
              <a:buChar char="•"/>
            </a:pPr>
            <a:r>
              <a:rPr sz="1150" b="0" i="0">
                <a:solidFill>
                  <a:srgbClr val="1A2230"/>
                </a:solidFill>
                <a:latin typeface="Calibri"/>
              </a:rPr>
              <a:t>Authenticate the user (SSO / OAuth2)</a:t>
            </a:r>
          </a:p>
          <a:p>
            <a:pPr algn="l" indent="-182880" marL="228600">
              <a:spcBef>
                <a:spcPts val="0"/>
              </a:spcBef>
              <a:spcAft>
                <a:spcPts val="500"/>
              </a:spcAft>
              <a:buFont typeface="Arial"/>
              <a:buChar char="•"/>
            </a:pPr>
            <a:r>
              <a:rPr sz="1150" b="0" i="0">
                <a:solidFill>
                  <a:srgbClr val="1A2230"/>
                </a:solidFill>
                <a:latin typeface="Calibri"/>
              </a:rPr>
              <a:t>Manage session &amp; conversation state</a:t>
            </a:r>
          </a:p>
          <a:p>
            <a:pPr algn="l" indent="-182880" marL="228600">
              <a:spcBef>
                <a:spcPts val="0"/>
              </a:spcBef>
              <a:spcAft>
                <a:spcPts val="500"/>
              </a:spcAft>
              <a:buFont typeface="Arial"/>
              <a:buChar char="•"/>
            </a:pPr>
            <a:r>
              <a:rPr sz="1150" b="0" i="0">
                <a:solidFill>
                  <a:srgbClr val="1A2230"/>
                </a:solidFill>
                <a:latin typeface="Calibri"/>
              </a:rPr>
              <a:t>Stream the response back in real time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74720" y="4251960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300" b="1" i="0">
                <a:solidFill>
                  <a:srgbClr val="0B1F3A"/>
                </a:solidFill>
                <a:latin typeface="Calibri"/>
              </a:rPr>
              <a:t>Handover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74720" y="4581144"/>
            <a:ext cx="4160520" cy="86868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1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The raw query is passed to the Agent Orchestrator, where PII handling begins.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09559" y="1965960"/>
            <a:ext cx="3566160" cy="3566160"/>
          </a:xfrm>
          <a:prstGeom prst="roundRect">
            <a:avLst>
              <a:gd name="adj" fmla="val 5000"/>
            </a:avLst>
          </a:prstGeom>
          <a:solidFill>
            <a:srgbClr val="F1F3F6"/>
          </a:solidFill>
          <a:ln w="15240">
            <a:solidFill>
              <a:srgbClr val="CF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7909559" y="1965960"/>
            <a:ext cx="3566160" cy="548640"/>
          </a:xfrm>
          <a:prstGeom prst="round2Same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055863" y="2075688"/>
            <a:ext cx="329184" cy="329184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0B1F3A"/>
                </a:solidFill>
                <a:latin typeface="Calibri"/>
              </a:rPr>
              <a:t>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58199" y="205740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InnoHub Assistant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00" b="0" i="0">
                <a:solidFill>
                  <a:srgbClr val="E3F3E9"/>
                </a:solidFill>
                <a:latin typeface="Calibri"/>
              </a:rPr>
              <a:t>● Secure channel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66759" y="2743200"/>
            <a:ext cx="2926080" cy="1417320"/>
          </a:xfrm>
          <a:prstGeom prst="roundRect">
            <a:avLst>
              <a:gd name="adj" fmla="val 18000"/>
            </a:avLst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100" b="0" i="0">
                <a:solidFill>
                  <a:srgbClr val="FFFFFF"/>
                </a:solidFill>
                <a:latin typeface="Calibri"/>
              </a:rPr>
              <a:t>Show me transaction history for customer Somchai Jantapan with account number 1234567890 from last month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6759" y="4178808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850" b="0" i="0">
                <a:solidFill>
                  <a:srgbClr val="5A6677"/>
                </a:solidFill>
                <a:latin typeface="Calibri"/>
              </a:rPr>
              <a:t>You · just now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38159" y="461772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F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73152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00" b="0" i="0">
                <a:solidFill>
                  <a:srgbClr val="5A6677"/>
                </a:solidFill>
                <a:latin typeface="Calibri"/>
              </a:rPr>
              <a:t>Type a message…</a:t>
            </a:r>
          </a:p>
        </p:txBody>
      </p:sp>
      <p:sp>
        <p:nvSpPr>
          <p:cNvPr id="44" name="Oval 43"/>
          <p:cNvSpPr/>
          <p:nvPr/>
        </p:nvSpPr>
        <p:spPr>
          <a:xfrm>
            <a:off x="10927080" y="4636008"/>
            <a:ext cx="420624" cy="420624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ZOOM · LAYER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300" b="1" i="0">
                <a:solidFill>
                  <a:srgbClr val="FFFFFF"/>
                </a:solidFill>
                <a:latin typeface="Calibri"/>
              </a:rPr>
              <a:t>Agent Orchestrator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237744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0B1F3A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024128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8A939F"/>
                </a:solidFill>
                <a:latin typeface="Calibri"/>
              </a:rPr>
              <a:t>ARCHITECTURE MAP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1325880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BDD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8A939F"/>
                </a:solidFill>
                <a:latin typeface="Calibri"/>
              </a:rPr>
              <a:t>💬  Client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85316" y="2057400"/>
            <a:ext cx="0" cy="237744"/>
          </a:xfrm>
          <a:prstGeom prst="line">
            <a:avLst/>
          </a:prstGeom>
          <a:ln w="19050">
            <a:solidFill>
              <a:srgbClr val="B9C2CE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714499" y="2057400"/>
            <a:ext cx="0" cy="237744"/>
          </a:xfrm>
          <a:prstGeom prst="line">
            <a:avLst/>
          </a:prstGeom>
          <a:ln w="19050">
            <a:solidFill>
              <a:srgbClr val="C9DECF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84048" y="2313432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1A9C9C"/>
          </a:solidFill>
          <a:ln w="31750">
            <a:solidFill>
              <a:srgbClr val="C9A227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🧠  Agent Orchestrator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385316" y="3044952"/>
            <a:ext cx="0" cy="237744"/>
          </a:xfrm>
          <a:prstGeom prst="line">
            <a:avLst/>
          </a:prstGeom>
          <a:ln w="19050">
            <a:solidFill>
              <a:srgbClr val="B9C2CE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714499" y="3044952"/>
            <a:ext cx="0" cy="237744"/>
          </a:xfrm>
          <a:prstGeom prst="line">
            <a:avLst/>
          </a:prstGeom>
          <a:ln w="19050">
            <a:solidFill>
              <a:srgbClr val="C9DECF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697479" y="2670048"/>
            <a:ext cx="347472" cy="0"/>
          </a:xfrm>
          <a:prstGeom prst="line">
            <a:avLst/>
          </a:prstGeom>
          <a:ln w="28575">
            <a:solidFill>
              <a:srgbClr val="C9A227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2441448" y="2148840"/>
            <a:ext cx="384048" cy="38404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0B1F3A"/>
                </a:solidFill>
                <a:latin typeface="Calibri"/>
              </a:rPr>
              <a:t>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4048" y="3300984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EDD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8A939F"/>
                </a:solidFill>
                <a:latin typeface="Calibri"/>
              </a:rPr>
              <a:t>🏛️  AI Hub Gateway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385316" y="4032504"/>
            <a:ext cx="0" cy="237744"/>
          </a:xfrm>
          <a:prstGeom prst="line">
            <a:avLst/>
          </a:prstGeom>
          <a:ln w="19050">
            <a:solidFill>
              <a:srgbClr val="B9C2CE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714499" y="4032504"/>
            <a:ext cx="0" cy="237744"/>
          </a:xfrm>
          <a:prstGeom prst="line">
            <a:avLst/>
          </a:prstGeom>
          <a:ln w="19050">
            <a:solidFill>
              <a:srgbClr val="C9DECF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84048" y="4288536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CDC2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8A939F"/>
                </a:solidFill>
                <a:latin typeface="Calibri"/>
              </a:rPr>
              <a:t>🤖  LLM Providers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385316" y="5020056"/>
            <a:ext cx="0" cy="237744"/>
          </a:xfrm>
          <a:prstGeom prst="line">
            <a:avLst/>
          </a:prstGeom>
          <a:ln w="19050">
            <a:solidFill>
              <a:srgbClr val="B9C2CE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714499" y="5020056"/>
            <a:ext cx="0" cy="237744"/>
          </a:xfrm>
          <a:prstGeom prst="line">
            <a:avLst/>
          </a:prstGeom>
          <a:ln w="19050">
            <a:solidFill>
              <a:srgbClr val="C9DECF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84048" y="5276088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B8D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8A939F"/>
                </a:solidFill>
                <a:latin typeface="Calibri"/>
              </a:rPr>
              <a:t>🗄️  Data &amp; RAG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6035040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546275"/>
                </a:solidFill>
                <a:latin typeface="Calibri"/>
              </a:rPr>
              <a:t>▼ request   </a:t>
            </a:r>
            <a:r>
              <a:rPr sz="850" b="1" i="0">
                <a:solidFill>
                  <a:srgbClr val="43A86B"/>
                </a:solidFill>
                <a:latin typeface="Calibri"/>
              </a:rPr>
              <a:t>▲ response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547104"/>
            <a:ext cx="73152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6547104"/>
            <a:ext cx="277063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4 / 15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46120" y="1143000"/>
            <a:ext cx="8534095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7780">
            <a:solidFill>
              <a:srgbClr val="76C4C4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 Same Side Corner Rectangle 27"/>
          <p:cNvSpPr/>
          <p:nvPr/>
        </p:nvSpPr>
        <p:spPr>
          <a:xfrm>
            <a:off x="3246120" y="1143000"/>
            <a:ext cx="8534095" cy="658368"/>
          </a:xfrm>
          <a:prstGeom prst="round2SameRect">
            <a:avLst/>
          </a:prstGeom>
          <a:solidFill>
            <a:srgbClr val="1A9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410712" y="1261872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1A9C9C"/>
                </a:solidFill>
                <a:latin typeface="Calibri"/>
              </a:rPr>
              <a:t>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59352" y="1197864"/>
            <a:ext cx="6705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Calibri"/>
              </a:rPr>
              <a:t>2 · Agent Orchestrator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59352" y="1508760"/>
            <a:ext cx="6705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0" i="0">
                <a:solidFill>
                  <a:srgbClr val="E8F1FB"/>
                </a:solidFill>
                <a:latin typeface="Calibri"/>
              </a:rPr>
              <a:t>Plans the task, calls tools, governs the flow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362895" y="1307592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00" b="1" i="0">
                <a:solidFill>
                  <a:srgbClr val="1A9C9C"/>
                </a:solidFill>
                <a:latin typeface="Calibri"/>
              </a:rPr>
              <a:t>ZOOM 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1965960"/>
            <a:ext cx="80768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1">
                <a:solidFill>
                  <a:srgbClr val="5A6677"/>
                </a:solidFill>
                <a:latin typeface="Calibri"/>
              </a:rPr>
              <a:t>The orchestrator turns one request into an executable, governed plan: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74720" y="2423160"/>
            <a:ext cx="2570378" cy="123444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5240">
            <a:solidFill>
              <a:srgbClr val="1E5AA8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474720" y="2423160"/>
            <a:ext cx="2570378" cy="384048"/>
          </a:xfrm>
          <a:prstGeom prst="round2Same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74720" y="2423160"/>
            <a:ext cx="2570378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Task Type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21024" y="2880360"/>
            <a:ext cx="2296058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DB retrieval + LLM-assisted SQL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27978" y="2423160"/>
            <a:ext cx="2570378" cy="1234440"/>
          </a:xfrm>
          <a:prstGeom prst="roundRect">
            <a:avLst>
              <a:gd name="adj" fmla="val 8000"/>
            </a:avLst>
          </a:prstGeom>
          <a:solidFill>
            <a:srgbClr val="ECE6F6"/>
          </a:solidFill>
          <a:ln w="15240">
            <a:solidFill>
              <a:srgbClr val="6B4CA8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6227978" y="2423160"/>
            <a:ext cx="2570378" cy="384048"/>
          </a:xfrm>
          <a:prstGeom prst="round2SameRect">
            <a:avLst/>
          </a:prstGeom>
          <a:solidFill>
            <a:srgbClr val="6B4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27978" y="2423160"/>
            <a:ext cx="2570378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Tools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74282" y="2880360"/>
            <a:ext cx="2296058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SQL tool · RAG retriever · formatter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81236" y="2423160"/>
            <a:ext cx="2570378" cy="1234440"/>
          </a:xfrm>
          <a:prstGeom prst="roundRect">
            <a:avLst>
              <a:gd name="adj" fmla="val 8000"/>
            </a:avLst>
          </a:prstGeom>
          <a:solidFill>
            <a:srgbClr val="E3F3E9"/>
          </a:solidFill>
          <a:ln w="15240">
            <a:solidFill>
              <a:srgbClr val="2E9E5B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8981236" y="2423160"/>
            <a:ext cx="2570378" cy="384048"/>
          </a:xfrm>
          <a:prstGeom prst="round2Same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981236" y="2423160"/>
            <a:ext cx="2570378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Data Sources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27540" y="2880360"/>
            <a:ext cx="2296058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Transaction DB · knowledge base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474720" y="3858768"/>
            <a:ext cx="2570378" cy="1234440"/>
          </a:xfrm>
          <a:prstGeom prst="roundRect">
            <a:avLst>
              <a:gd name="adj" fmla="val 8000"/>
            </a:avLst>
          </a:prstGeom>
          <a:solidFill>
            <a:srgbClr val="F7E4E4"/>
          </a:solidFill>
          <a:ln w="15240">
            <a:solidFill>
              <a:srgbClr val="C0393D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3474720" y="3858768"/>
            <a:ext cx="2570378" cy="384048"/>
          </a:xfrm>
          <a:prstGeom prst="round2SameRect">
            <a:avLst/>
          </a:prstGeom>
          <a:solidFill>
            <a:srgbClr val="C03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474720" y="3858768"/>
            <a:ext cx="2570378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Constraints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21024" y="4315968"/>
            <a:ext cx="2296058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Read-only · PII placeholders kept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27978" y="3858768"/>
            <a:ext cx="2570378" cy="1234440"/>
          </a:xfrm>
          <a:prstGeom prst="roundRect">
            <a:avLst>
              <a:gd name="adj" fmla="val 8000"/>
            </a:avLst>
          </a:prstGeom>
          <a:solidFill>
            <a:srgbClr val="F2E6BE"/>
          </a:solidFill>
          <a:ln w="15240">
            <a:solidFill>
              <a:srgbClr val="C9A227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6227978" y="3858768"/>
            <a:ext cx="2570378" cy="384048"/>
          </a:xfrm>
          <a:prstGeom prst="round2Same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27978" y="3858768"/>
            <a:ext cx="2570378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0B1F3A"/>
                </a:solidFill>
                <a:latin typeface="Calibri"/>
              </a:rPr>
              <a:t>Plan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74282" y="4315968"/>
            <a:ext cx="2296058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generate → validate → run → answer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981236" y="3858768"/>
            <a:ext cx="2570378" cy="1234440"/>
          </a:xfrm>
          <a:prstGeom prst="roundRect">
            <a:avLst>
              <a:gd name="adj" fmla="val 8000"/>
            </a:avLst>
          </a:prstGeom>
          <a:solidFill>
            <a:srgbClr val="F1F3F6"/>
          </a:solidFill>
          <a:ln w="15240">
            <a:solidFill>
              <a:srgbClr val="0B1F3A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 Same Side Corner Rectangle 54"/>
          <p:cNvSpPr/>
          <p:nvPr/>
        </p:nvSpPr>
        <p:spPr>
          <a:xfrm>
            <a:off x="8981236" y="3858768"/>
            <a:ext cx="2570378" cy="384048"/>
          </a:xfrm>
          <a:prstGeom prst="round2Same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981236" y="3858768"/>
            <a:ext cx="2570378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Governance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27540" y="4315968"/>
            <a:ext cx="2296058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route via AI Hub · log each step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74720" y="5312664"/>
            <a:ext cx="80768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1A9C9C"/>
                </a:solidFill>
                <a:latin typeface="Calibri"/>
              </a:rPr>
              <a:t>Next zoom: </a:t>
            </a:r>
            <a:r>
              <a:rPr sz="1100" b="0" i="0">
                <a:solidFill>
                  <a:srgbClr val="1A2230"/>
                </a:solidFill>
                <a:latin typeface="Calibri"/>
              </a:rPr>
              <a:t>input guardrails &amp; PII redaction (slide 5), then dynamic SQL tool generation (slide 6).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ZOOM · LAYER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300" b="1" i="0">
                <a:solidFill>
                  <a:srgbClr val="FFFFFF"/>
                </a:solidFill>
                <a:latin typeface="Calibri"/>
              </a:rPr>
              <a:t>Input Guardrails &amp; PII Redaction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237744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0B1F3A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024128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8A939F"/>
                </a:solidFill>
                <a:latin typeface="Calibri"/>
              </a:rPr>
              <a:t>ARCHITECTURE MAP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1325880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BDD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8A939F"/>
                </a:solidFill>
                <a:latin typeface="Calibri"/>
              </a:rPr>
              <a:t>💬  Client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85316" y="2057400"/>
            <a:ext cx="0" cy="237744"/>
          </a:xfrm>
          <a:prstGeom prst="line">
            <a:avLst/>
          </a:prstGeom>
          <a:ln w="19050">
            <a:solidFill>
              <a:srgbClr val="B9C2CE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714499" y="2057400"/>
            <a:ext cx="0" cy="237744"/>
          </a:xfrm>
          <a:prstGeom prst="line">
            <a:avLst/>
          </a:prstGeom>
          <a:ln w="19050">
            <a:solidFill>
              <a:srgbClr val="C9DECF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84048" y="2313432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1A9C9C"/>
          </a:solidFill>
          <a:ln w="31750">
            <a:solidFill>
              <a:srgbClr val="C9A227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🧠  Agent Orchestrator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385316" y="3044952"/>
            <a:ext cx="0" cy="237744"/>
          </a:xfrm>
          <a:prstGeom prst="line">
            <a:avLst/>
          </a:prstGeom>
          <a:ln w="19050">
            <a:solidFill>
              <a:srgbClr val="B9C2CE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714499" y="3044952"/>
            <a:ext cx="0" cy="237744"/>
          </a:xfrm>
          <a:prstGeom prst="line">
            <a:avLst/>
          </a:prstGeom>
          <a:ln w="19050">
            <a:solidFill>
              <a:srgbClr val="C9DECF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697479" y="2670048"/>
            <a:ext cx="347472" cy="0"/>
          </a:xfrm>
          <a:prstGeom prst="line">
            <a:avLst/>
          </a:prstGeom>
          <a:ln w="28575">
            <a:solidFill>
              <a:srgbClr val="C9A227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2441448" y="2148840"/>
            <a:ext cx="384048" cy="38404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0B1F3A"/>
                </a:solidFill>
                <a:latin typeface="Calibri"/>
              </a:rPr>
              <a:t>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4048" y="3300984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EDD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8A939F"/>
                </a:solidFill>
                <a:latin typeface="Calibri"/>
              </a:rPr>
              <a:t>🏛️  AI Hub Gateway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385316" y="4032504"/>
            <a:ext cx="0" cy="237744"/>
          </a:xfrm>
          <a:prstGeom prst="line">
            <a:avLst/>
          </a:prstGeom>
          <a:ln w="19050">
            <a:solidFill>
              <a:srgbClr val="B9C2CE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714499" y="4032504"/>
            <a:ext cx="0" cy="237744"/>
          </a:xfrm>
          <a:prstGeom prst="line">
            <a:avLst/>
          </a:prstGeom>
          <a:ln w="19050">
            <a:solidFill>
              <a:srgbClr val="C9DECF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84048" y="4288536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CDC2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8A939F"/>
                </a:solidFill>
                <a:latin typeface="Calibri"/>
              </a:rPr>
              <a:t>🤖  LLM Providers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385316" y="5020056"/>
            <a:ext cx="0" cy="237744"/>
          </a:xfrm>
          <a:prstGeom prst="line">
            <a:avLst/>
          </a:prstGeom>
          <a:ln w="19050">
            <a:solidFill>
              <a:srgbClr val="B9C2CE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714499" y="5020056"/>
            <a:ext cx="0" cy="237744"/>
          </a:xfrm>
          <a:prstGeom prst="line">
            <a:avLst/>
          </a:prstGeom>
          <a:ln w="19050">
            <a:solidFill>
              <a:srgbClr val="C9DECF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84048" y="5276088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B8D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8A939F"/>
                </a:solidFill>
                <a:latin typeface="Calibri"/>
              </a:rPr>
              <a:t>🗄️  Data &amp; RAG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6035040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546275"/>
                </a:solidFill>
                <a:latin typeface="Calibri"/>
              </a:rPr>
              <a:t>▼ request   </a:t>
            </a:r>
            <a:r>
              <a:rPr sz="850" b="1" i="0">
                <a:solidFill>
                  <a:srgbClr val="43A86B"/>
                </a:solidFill>
                <a:latin typeface="Calibri"/>
              </a:rPr>
              <a:t>▲ response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547104"/>
            <a:ext cx="73152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6547104"/>
            <a:ext cx="277063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5 / 15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46120" y="1143000"/>
            <a:ext cx="8534095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7780">
            <a:solidFill>
              <a:srgbClr val="76C4C4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 Same Side Corner Rectangle 27"/>
          <p:cNvSpPr/>
          <p:nvPr/>
        </p:nvSpPr>
        <p:spPr>
          <a:xfrm>
            <a:off x="3246120" y="1143000"/>
            <a:ext cx="8534095" cy="658368"/>
          </a:xfrm>
          <a:prstGeom prst="round2SameRect">
            <a:avLst/>
          </a:prstGeom>
          <a:solidFill>
            <a:srgbClr val="1A9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410712" y="1261872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1A9C9C"/>
                </a:solidFill>
                <a:latin typeface="Calibri"/>
              </a:rPr>
              <a:t>🛡️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59352" y="1197864"/>
            <a:ext cx="6705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Calibri"/>
              </a:rPr>
              <a:t>2 · Agent Orchestrator — Guardrails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59352" y="1508760"/>
            <a:ext cx="6705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0" i="0">
                <a:solidFill>
                  <a:srgbClr val="E8F1FB"/>
                </a:solidFill>
                <a:latin typeface="Calibri"/>
              </a:rPr>
              <a:t>Scan, then redact before anything leaves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362895" y="1307592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00" b="1" i="0">
                <a:solidFill>
                  <a:srgbClr val="1A9C9C"/>
                </a:solidFill>
                <a:latin typeface="Calibri"/>
              </a:rPr>
              <a:t>ZOOM 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74720" y="1965960"/>
            <a:ext cx="1916353" cy="566928"/>
          </a:xfrm>
          <a:prstGeom prst="roundRect">
            <a:avLst>
              <a:gd name="adj" fmla="val 12000"/>
            </a:avLst>
          </a:prstGeom>
          <a:solidFill>
            <a:srgbClr val="F7E4E4"/>
          </a:solidFill>
          <a:ln w="13970">
            <a:solidFill>
              <a:srgbClr val="C03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50" b="1" i="0">
                <a:solidFill>
                  <a:srgbClr val="C0393D"/>
                </a:solidFill>
                <a:latin typeface="Calibri"/>
              </a:rPr>
              <a:t>🔐 </a:t>
            </a:r>
            <a:r>
              <a:rPr sz="1150" b="1" i="0">
                <a:solidFill>
                  <a:srgbClr val="0B1F3A"/>
                </a:solidFill>
                <a:latin typeface="Calibri"/>
              </a:rPr>
              <a:t>PII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28233" y="1965960"/>
            <a:ext cx="1916353" cy="566928"/>
          </a:xfrm>
          <a:prstGeom prst="roundRect">
            <a:avLst>
              <a:gd name="adj" fmla="val 12000"/>
            </a:avLst>
          </a:prstGeom>
          <a:solidFill>
            <a:srgbClr val="FBECD9"/>
          </a:solidFill>
          <a:ln w="13970">
            <a:solidFill>
              <a:srgbClr val="E08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50" b="1" i="0">
                <a:solidFill>
                  <a:srgbClr val="E0822B"/>
                </a:solidFill>
                <a:latin typeface="Calibri"/>
              </a:rPr>
              <a:t>⚠️ </a:t>
            </a:r>
            <a:r>
              <a:rPr sz="1150" b="1" i="0">
                <a:solidFill>
                  <a:srgbClr val="0B1F3A"/>
                </a:solidFill>
                <a:latin typeface="Calibri"/>
              </a:rPr>
              <a:t>Injection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81747" y="1965960"/>
            <a:ext cx="1916353" cy="566928"/>
          </a:xfrm>
          <a:prstGeom prst="roundRect">
            <a:avLst>
              <a:gd name="adj" fmla="val 12000"/>
            </a:avLst>
          </a:prstGeom>
          <a:solidFill>
            <a:srgbClr val="ECE6F6"/>
          </a:solidFill>
          <a:ln w="13970">
            <a:solidFill>
              <a:srgbClr val="6B4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50" b="1" i="0">
                <a:solidFill>
                  <a:srgbClr val="6B4CA8"/>
                </a:solidFill>
                <a:latin typeface="Calibri"/>
              </a:rPr>
              <a:t>🚫 </a:t>
            </a:r>
            <a:r>
              <a:rPr sz="1150" b="1" i="0">
                <a:solidFill>
                  <a:srgbClr val="0B1F3A"/>
                </a:solidFill>
                <a:latin typeface="Calibri"/>
              </a:rPr>
              <a:t>Toxicity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635261" y="1965960"/>
            <a:ext cx="1916353" cy="566928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3970">
            <a:solidFill>
              <a:srgbClr val="1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50" b="1" i="0">
                <a:solidFill>
                  <a:srgbClr val="1E5AA8"/>
                </a:solidFill>
                <a:latin typeface="Calibri"/>
              </a:rPr>
              <a:t>📋 </a:t>
            </a:r>
            <a:r>
              <a:rPr sz="1150" b="1" i="0">
                <a:solidFill>
                  <a:srgbClr val="0B1F3A"/>
                </a:solidFill>
                <a:latin typeface="Calibri"/>
              </a:rPr>
              <a:t>Policy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74720" y="2679191"/>
            <a:ext cx="3749039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C0393D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11879" y="2734056"/>
            <a:ext cx="3474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C0393D"/>
                </a:solidFill>
                <a:latin typeface="Calibri"/>
              </a:rPr>
              <a:t>ORIGINAL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11879" y="2990087"/>
            <a:ext cx="3520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50" b="0" i="0">
                <a:solidFill>
                  <a:srgbClr val="1A2230"/>
                </a:solidFill>
                <a:latin typeface="Calibri"/>
              </a:rPr>
              <a:t>…customer </a:t>
            </a:r>
            <a:r>
              <a:rPr sz="1050" b="1" i="0">
                <a:solidFill>
                  <a:srgbClr val="C0393D"/>
                </a:solidFill>
                <a:latin typeface="Calibri"/>
              </a:rPr>
              <a:t>Somchai Jantapan</a:t>
            </a:r>
            <a:r>
              <a:rPr sz="1050" b="0" i="0">
                <a:solidFill>
                  <a:srgbClr val="1A2230"/>
                </a:solidFill>
                <a:latin typeface="Calibri"/>
              </a:rPr>
              <a:t>, account </a:t>
            </a:r>
            <a:r>
              <a:rPr sz="1050" b="1" i="0">
                <a:solidFill>
                  <a:srgbClr val="C0393D"/>
                </a:solidFill>
                <a:latin typeface="Calibri"/>
              </a:rPr>
              <a:t>1234567890</a:t>
            </a:r>
            <a:r>
              <a:rPr sz="1050" b="0" i="0">
                <a:solidFill>
                  <a:srgbClr val="1A2230"/>
                </a:solidFill>
                <a:latin typeface="Calibri"/>
              </a:rPr>
              <a:t>, last month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06640" y="2935224"/>
            <a:ext cx="1097280" cy="640080"/>
          </a:xfrm>
          <a:prstGeom prst="roundRect">
            <a:avLst>
              <a:gd name="adj" fmla="val 12000"/>
            </a:avLst>
          </a:prstGeom>
          <a:solidFill>
            <a:srgbClr val="0B1F3A"/>
          </a:solidFill>
          <a:ln w="16510">
            <a:solidFill>
              <a:srgbClr val="C9A227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00" b="1" i="0">
                <a:solidFill>
                  <a:srgbClr val="C9A227"/>
                </a:solidFill>
                <a:latin typeface="Calibri"/>
              </a:rPr>
              <a:t>🛡️ SCAN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223759" y="3246120"/>
            <a:ext cx="182881" cy="0"/>
          </a:xfrm>
          <a:prstGeom prst="line">
            <a:avLst/>
          </a:prstGeom>
          <a:ln w="28575">
            <a:solidFill>
              <a:srgbClr val="5A6677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503920" y="3246120"/>
            <a:ext cx="182880" cy="0"/>
          </a:xfrm>
          <a:prstGeom prst="line">
            <a:avLst/>
          </a:prstGeom>
          <a:ln w="28575">
            <a:solidFill>
              <a:srgbClr val="5A6677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8705088" y="2679191"/>
            <a:ext cx="2590495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2E9E5B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42248" y="2734056"/>
            <a:ext cx="2743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2E9E5B"/>
                </a:solidFill>
                <a:latin typeface="Calibri"/>
              </a:rPr>
              <a:t>REDACTED 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42248" y="2990087"/>
            <a:ext cx="24076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50" b="0" i="0">
                <a:solidFill>
                  <a:srgbClr val="1A2230"/>
                </a:solidFill>
                <a:latin typeface="Calibri"/>
              </a:rPr>
              <a:t>…customer </a:t>
            </a:r>
            <a:r>
              <a:rPr sz="1050" b="1" i="0">
                <a:solidFill>
                  <a:srgbClr val="2E9E5B"/>
                </a:solidFill>
                <a:latin typeface="Calibri"/>
              </a:rPr>
              <a:t>CUSTOMER_NAME_001</a:t>
            </a:r>
            <a:r>
              <a:rPr sz="1050" b="0" i="0">
                <a:solidFill>
                  <a:srgbClr val="1A2230"/>
                </a:solidFill>
                <a:latin typeface="Calibri"/>
              </a:rPr>
              <a:t>, account </a:t>
            </a:r>
            <a:r>
              <a:rPr sz="1050" b="1" i="0">
                <a:solidFill>
                  <a:srgbClr val="2E9E5B"/>
                </a:solidFill>
                <a:latin typeface="Calibri"/>
              </a:rPr>
              <a:t>ACCOUNT_ID_001</a:t>
            </a:r>
            <a:r>
              <a:rPr sz="1050" b="0" i="0">
                <a:solidFill>
                  <a:srgbClr val="1A2230"/>
                </a:solidFill>
                <a:latin typeface="Calibri"/>
              </a:rPr>
              <a:t>, last month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74720" y="400507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0B1F3A"/>
                </a:solidFill>
                <a:latin typeface="Calibri"/>
              </a:rPr>
              <a:t>PII Mapping Table (held securely for re-insertion)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474720" y="4334256"/>
            <a:ext cx="3017520" cy="384048"/>
          </a:xfrm>
          <a:prstGeom prst="rect">
            <a:avLst/>
          </a:prstGeom>
          <a:solidFill>
            <a:srgbClr val="0B1F3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C9A227"/>
                </a:solidFill>
                <a:latin typeface="Calibri"/>
              </a:rPr>
              <a:t>Original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92240" y="4334256"/>
            <a:ext cx="2468880" cy="384048"/>
          </a:xfrm>
          <a:prstGeom prst="rect">
            <a:avLst/>
          </a:prstGeom>
          <a:solidFill>
            <a:srgbClr val="0B1F3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C9A227"/>
                </a:solidFill>
                <a:latin typeface="Calibri"/>
              </a:rPr>
              <a:t>PII Type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961120" y="4334256"/>
            <a:ext cx="3108960" cy="384048"/>
          </a:xfrm>
          <a:prstGeom prst="rect">
            <a:avLst/>
          </a:prstGeom>
          <a:solidFill>
            <a:srgbClr val="0B1F3A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C9A227"/>
                </a:solidFill>
                <a:latin typeface="Calibri"/>
              </a:rPr>
              <a:t>Placeholder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720" y="4718304"/>
            <a:ext cx="3017520" cy="384048"/>
          </a:xfrm>
          <a:prstGeom prst="rect">
            <a:avLst/>
          </a:prstGeom>
          <a:solidFill>
            <a:srgbClr val="E8F1FB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0" i="0">
                <a:solidFill>
                  <a:srgbClr val="1A2230"/>
                </a:solidFill>
                <a:latin typeface="Calibri"/>
              </a:rPr>
              <a:t>Somchai Jantapan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92240" y="4718304"/>
            <a:ext cx="2468880" cy="384048"/>
          </a:xfrm>
          <a:prstGeom prst="rect">
            <a:avLst/>
          </a:prstGeom>
          <a:solidFill>
            <a:srgbClr val="E8F1FB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0" i="0">
                <a:solidFill>
                  <a:srgbClr val="1A2230"/>
                </a:solidFill>
                <a:latin typeface="Calibri"/>
              </a:rPr>
              <a:t>Customer Name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961120" y="4718304"/>
            <a:ext cx="3108960" cy="384048"/>
          </a:xfrm>
          <a:prstGeom prst="rect">
            <a:avLst/>
          </a:prstGeom>
          <a:solidFill>
            <a:srgbClr val="E8F1FB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C0393D"/>
                </a:solidFill>
                <a:latin typeface="Calibri"/>
              </a:rPr>
              <a:t>CUSTOMER_NAME_001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474720" y="5102352"/>
            <a:ext cx="3017520" cy="384048"/>
          </a:xfrm>
          <a:prstGeom prst="rect">
            <a:avLst/>
          </a:prstGeom>
          <a:solidFill>
            <a:srgbClr val="E8F1FB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0" i="0">
                <a:solidFill>
                  <a:srgbClr val="1A2230"/>
                </a:solidFill>
                <a:latin typeface="Calibri"/>
              </a:rPr>
              <a:t>1234567890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92240" y="5102352"/>
            <a:ext cx="2468880" cy="384048"/>
          </a:xfrm>
          <a:prstGeom prst="rect">
            <a:avLst/>
          </a:prstGeom>
          <a:solidFill>
            <a:srgbClr val="E8F1FB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0" i="0">
                <a:solidFill>
                  <a:srgbClr val="1A2230"/>
                </a:solidFill>
                <a:latin typeface="Calibri"/>
              </a:rPr>
              <a:t>Account ID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961120" y="5102352"/>
            <a:ext cx="3108960" cy="384048"/>
          </a:xfrm>
          <a:prstGeom prst="rect">
            <a:avLst/>
          </a:prstGeom>
          <a:solidFill>
            <a:srgbClr val="E8F1FB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C0393D"/>
                </a:solidFill>
                <a:latin typeface="Calibri"/>
              </a:rPr>
              <a:t>ACCOUNT_ID_001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720" y="5486400"/>
            <a:ext cx="30175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0" i="0">
                <a:solidFill>
                  <a:srgbClr val="5A6677"/>
                </a:solidFill>
                <a:latin typeface="Calibri"/>
              </a:rPr>
              <a:t>"last month"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92240" y="5486400"/>
            <a:ext cx="24688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0" i="0">
                <a:solidFill>
                  <a:srgbClr val="5A6677"/>
                </a:solidFill>
                <a:latin typeface="Calibri"/>
              </a:rPr>
              <a:t>Temporal context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961120" y="5486400"/>
            <a:ext cx="31089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27432" bIns="27432"/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050" b="0" i="0">
                <a:solidFill>
                  <a:srgbClr val="5A6677"/>
                </a:solidFill>
                <a:latin typeface="Calibri"/>
              </a:rPr>
              <a:t>(no redaction)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ZOOM · LAYER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300" b="1" i="0">
                <a:solidFill>
                  <a:srgbClr val="FFFFFF"/>
                </a:solidFill>
                <a:latin typeface="Calibri"/>
              </a:rPr>
              <a:t>Dynamic Tool Generation — SQL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237744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0B1F3A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024128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8A939F"/>
                </a:solidFill>
                <a:latin typeface="Calibri"/>
              </a:rPr>
              <a:t>ARCHITECTURE MAP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1325880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BDD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8A939F"/>
                </a:solidFill>
                <a:latin typeface="Calibri"/>
              </a:rPr>
              <a:t>💬  Client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85316" y="2057400"/>
            <a:ext cx="0" cy="237744"/>
          </a:xfrm>
          <a:prstGeom prst="line">
            <a:avLst/>
          </a:prstGeom>
          <a:ln w="19050">
            <a:solidFill>
              <a:srgbClr val="B9C2CE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714499" y="2057400"/>
            <a:ext cx="0" cy="237744"/>
          </a:xfrm>
          <a:prstGeom prst="line">
            <a:avLst/>
          </a:prstGeom>
          <a:ln w="19050">
            <a:solidFill>
              <a:srgbClr val="C9DECF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84048" y="2313432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1A9C9C"/>
          </a:solidFill>
          <a:ln w="31750">
            <a:solidFill>
              <a:srgbClr val="C9A227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🧠  Agent Orchestrator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385316" y="3044952"/>
            <a:ext cx="0" cy="237744"/>
          </a:xfrm>
          <a:prstGeom prst="line">
            <a:avLst/>
          </a:prstGeom>
          <a:ln w="19050">
            <a:solidFill>
              <a:srgbClr val="B9C2CE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714499" y="3044952"/>
            <a:ext cx="0" cy="237744"/>
          </a:xfrm>
          <a:prstGeom prst="line">
            <a:avLst/>
          </a:prstGeom>
          <a:ln w="19050">
            <a:solidFill>
              <a:srgbClr val="C9DECF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697479" y="2670048"/>
            <a:ext cx="347472" cy="0"/>
          </a:xfrm>
          <a:prstGeom prst="line">
            <a:avLst/>
          </a:prstGeom>
          <a:ln w="28575">
            <a:solidFill>
              <a:srgbClr val="C9A227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2441448" y="2148840"/>
            <a:ext cx="384048" cy="38404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0B1F3A"/>
                </a:solidFill>
                <a:latin typeface="Calibri"/>
              </a:rPr>
              <a:t>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4048" y="3300984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EDD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8A939F"/>
                </a:solidFill>
                <a:latin typeface="Calibri"/>
              </a:rPr>
              <a:t>🏛️  AI Hub Gateway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385316" y="4032504"/>
            <a:ext cx="0" cy="237744"/>
          </a:xfrm>
          <a:prstGeom prst="line">
            <a:avLst/>
          </a:prstGeom>
          <a:ln w="19050">
            <a:solidFill>
              <a:srgbClr val="B9C2CE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714499" y="4032504"/>
            <a:ext cx="0" cy="237744"/>
          </a:xfrm>
          <a:prstGeom prst="line">
            <a:avLst/>
          </a:prstGeom>
          <a:ln w="19050">
            <a:solidFill>
              <a:srgbClr val="C9DECF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84048" y="4288536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CDC2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8A939F"/>
                </a:solidFill>
                <a:latin typeface="Calibri"/>
              </a:rPr>
              <a:t>🤖  LLM Providers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385316" y="5020056"/>
            <a:ext cx="0" cy="237744"/>
          </a:xfrm>
          <a:prstGeom prst="line">
            <a:avLst/>
          </a:prstGeom>
          <a:ln w="19050">
            <a:solidFill>
              <a:srgbClr val="B9C2CE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714499" y="5020056"/>
            <a:ext cx="0" cy="237744"/>
          </a:xfrm>
          <a:prstGeom prst="line">
            <a:avLst/>
          </a:prstGeom>
          <a:ln w="19050">
            <a:solidFill>
              <a:srgbClr val="C9DECF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84048" y="5276088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B8D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8A939F"/>
                </a:solidFill>
                <a:latin typeface="Calibri"/>
              </a:rPr>
              <a:t>🗄️  Data &amp; RAG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6035040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546275"/>
                </a:solidFill>
                <a:latin typeface="Calibri"/>
              </a:rPr>
              <a:t>▼ request   </a:t>
            </a:r>
            <a:r>
              <a:rPr sz="850" b="1" i="0">
                <a:solidFill>
                  <a:srgbClr val="43A86B"/>
                </a:solidFill>
                <a:latin typeface="Calibri"/>
              </a:rPr>
              <a:t>▲ response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547104"/>
            <a:ext cx="73152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6547104"/>
            <a:ext cx="277063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6 / 15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46120" y="1143000"/>
            <a:ext cx="8534095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7780">
            <a:solidFill>
              <a:srgbClr val="76C4C4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 Same Side Corner Rectangle 27"/>
          <p:cNvSpPr/>
          <p:nvPr/>
        </p:nvSpPr>
        <p:spPr>
          <a:xfrm>
            <a:off x="3246120" y="1143000"/>
            <a:ext cx="8534095" cy="658368"/>
          </a:xfrm>
          <a:prstGeom prst="round2SameRect">
            <a:avLst/>
          </a:prstGeom>
          <a:solidFill>
            <a:srgbClr val="1A9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410712" y="1261872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1A9C9C"/>
                </a:solidFill>
                <a:latin typeface="Calibri"/>
              </a:rPr>
              <a:t>⚙️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59352" y="1197864"/>
            <a:ext cx="6705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Calibri"/>
              </a:rPr>
              <a:t>2 · Agent Orchestrator — Tooling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59352" y="1508760"/>
            <a:ext cx="6705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0" i="0">
                <a:solidFill>
                  <a:srgbClr val="E8F1FB"/>
                </a:solidFill>
                <a:latin typeface="Calibri"/>
              </a:rPr>
              <a:t>The agent writes its own parameterized query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362895" y="1307592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00" b="1" i="0">
                <a:solidFill>
                  <a:srgbClr val="1A9C9C"/>
                </a:solidFill>
                <a:latin typeface="Calibri"/>
              </a:rPr>
              <a:t>ZOOM 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74720" y="1965960"/>
            <a:ext cx="4846320" cy="2743200"/>
          </a:xfrm>
          <a:prstGeom prst="roundRect">
            <a:avLst>
              <a:gd name="adj" fmla="val 4000"/>
            </a:avLst>
          </a:prstGeom>
          <a:solidFill>
            <a:srgbClr val="101A2B"/>
          </a:solidFill>
          <a:ln w="12700">
            <a:solidFill>
              <a:srgbClr val="142E53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474720" y="1965960"/>
            <a:ext cx="4846320" cy="365760"/>
          </a:xfrm>
          <a:prstGeom prst="round2SameRect">
            <a:avLst/>
          </a:prstGeom>
          <a:solidFill>
            <a:srgbClr val="142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657600" y="2084831"/>
            <a:ext cx="118872" cy="118872"/>
          </a:xfrm>
          <a:prstGeom prst="ellipse">
            <a:avLst/>
          </a:prstGeom>
          <a:solidFill>
            <a:srgbClr val="C03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840480" y="2084831"/>
            <a:ext cx="118872" cy="118872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023360" y="2084831"/>
            <a:ext cx="118872" cy="118872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43400" y="2020824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0" i="0">
                <a:solidFill>
                  <a:srgbClr val="E8F1FB"/>
                </a:solidFill>
                <a:latin typeface="Calibri"/>
              </a:rPr>
              <a:t>generated_query.sql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0" y="2423160"/>
            <a:ext cx="45720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"/>
              </a:spcAft>
              <a:buNone/>
            </a:pPr>
            <a:r>
              <a:rPr sz="1100" b="1">
                <a:solidFill>
                  <a:srgbClr val="3C82D6"/>
                </a:solidFill>
                <a:latin typeface="Consolas"/>
              </a:rPr>
              <a:t>SELECT </a:t>
            </a:r>
            <a:r>
              <a:rPr sz="1100" b="0">
                <a:solidFill>
                  <a:srgbClr val="FFFFFF"/>
                </a:solidFill>
                <a:latin typeface="Consolas"/>
              </a:rPr>
              <a:t>txn_date, amount, channel</a:t>
            </a:r>
          </a:p>
          <a:p>
            <a:pPr>
              <a:spcAft>
                <a:spcPts val="100"/>
              </a:spcAft>
              <a:buNone/>
            </a:pPr>
            <a:r>
              <a:rPr sz="1100" b="1">
                <a:solidFill>
                  <a:srgbClr val="3C82D6"/>
                </a:solidFill>
                <a:latin typeface="Consolas"/>
              </a:rPr>
              <a:t>FROM </a:t>
            </a:r>
            <a:r>
              <a:rPr sz="1100" b="0">
                <a:solidFill>
                  <a:srgbClr val="FFFFFF"/>
                </a:solidFill>
                <a:latin typeface="Consolas"/>
              </a:rPr>
              <a:t>transactions t</a:t>
            </a:r>
          </a:p>
          <a:p>
            <a:pPr>
              <a:spcAft>
                <a:spcPts val="100"/>
              </a:spcAft>
              <a:buNone/>
            </a:pPr>
            <a:r>
              <a:rPr sz="1100" b="1">
                <a:solidFill>
                  <a:srgbClr val="3C82D6"/>
                </a:solidFill>
                <a:latin typeface="Consolas"/>
              </a:rPr>
              <a:t>JOIN </a:t>
            </a:r>
            <a:r>
              <a:rPr sz="1100" b="0">
                <a:solidFill>
                  <a:srgbClr val="FFFFFF"/>
                </a:solidFill>
                <a:latin typeface="Consolas"/>
              </a:rPr>
              <a:t>customers c </a:t>
            </a:r>
            <a:r>
              <a:rPr sz="1100" b="1">
                <a:solidFill>
                  <a:srgbClr val="3C82D6"/>
                </a:solidFill>
                <a:latin typeface="Consolas"/>
              </a:rPr>
              <a:t>ON </a:t>
            </a:r>
            <a:r>
              <a:rPr sz="1100" b="0">
                <a:solidFill>
                  <a:srgbClr val="FFFFFF"/>
                </a:solidFill>
                <a:latin typeface="Consolas"/>
              </a:rPr>
              <a:t>c.id=t.cust_id</a:t>
            </a:r>
          </a:p>
          <a:p>
            <a:pPr>
              <a:spcAft>
                <a:spcPts val="100"/>
              </a:spcAft>
              <a:buNone/>
            </a:pPr>
            <a:r>
              <a:rPr sz="1100" b="1">
                <a:solidFill>
                  <a:srgbClr val="3C82D6"/>
                </a:solidFill>
                <a:latin typeface="Consolas"/>
              </a:rPr>
              <a:t>WHERE </a:t>
            </a:r>
            <a:r>
              <a:rPr sz="1100" b="0">
                <a:solidFill>
                  <a:srgbClr val="FFFFFF"/>
                </a:solidFill>
                <a:latin typeface="Consolas"/>
              </a:rPr>
              <a:t>c.name = </a:t>
            </a:r>
            <a:r>
              <a:rPr sz="1100" b="1">
                <a:solidFill>
                  <a:srgbClr val="C9A227"/>
                </a:solidFill>
                <a:latin typeface="Consolas"/>
              </a:rPr>
              <a:t>:CUSTOMER_NAME_001</a:t>
            </a:r>
          </a:p>
          <a:p>
            <a:pPr>
              <a:spcAft>
                <a:spcPts val="100"/>
              </a:spcAft>
              <a:buNone/>
            </a:pPr>
            <a:r>
              <a:rPr sz="1100" b="1">
                <a:solidFill>
                  <a:srgbClr val="3C82D6"/>
                </a:solidFill>
                <a:latin typeface="Consolas"/>
              </a:rPr>
              <a:t>  AND </a:t>
            </a:r>
            <a:r>
              <a:rPr sz="1100" b="0">
                <a:solidFill>
                  <a:srgbClr val="FFFFFF"/>
                </a:solidFill>
                <a:latin typeface="Consolas"/>
              </a:rPr>
              <a:t>t.account = </a:t>
            </a:r>
            <a:r>
              <a:rPr sz="1100" b="1">
                <a:solidFill>
                  <a:srgbClr val="C9A227"/>
                </a:solidFill>
                <a:latin typeface="Consolas"/>
              </a:rPr>
              <a:t>:ACCOUNT_ID_001</a:t>
            </a:r>
          </a:p>
          <a:p>
            <a:pPr>
              <a:spcAft>
                <a:spcPts val="100"/>
              </a:spcAft>
              <a:buNone/>
            </a:pPr>
            <a:r>
              <a:rPr sz="1100" b="1">
                <a:solidFill>
                  <a:srgbClr val="3C82D6"/>
                </a:solidFill>
                <a:latin typeface="Consolas"/>
              </a:rPr>
              <a:t>  AND </a:t>
            </a:r>
            <a:r>
              <a:rPr sz="1100" b="0">
                <a:solidFill>
                  <a:srgbClr val="FFFFFF"/>
                </a:solidFill>
                <a:latin typeface="Consolas"/>
              </a:rPr>
              <a:t>t.txn_date &gt;= </a:t>
            </a:r>
            <a:r>
              <a:rPr sz="1100" b="0">
                <a:solidFill>
                  <a:srgbClr val="E3F3E9"/>
                </a:solidFill>
                <a:latin typeface="Consolas"/>
              </a:rPr>
              <a:t>date_trunc(</a:t>
            </a:r>
          </a:p>
          <a:p>
            <a:pPr>
              <a:spcAft>
                <a:spcPts val="100"/>
              </a:spcAft>
              <a:buNone/>
            </a:pPr>
            <a:r>
              <a:rPr sz="1100" b="0">
                <a:solidFill>
                  <a:srgbClr val="E3F3E9"/>
                </a:solidFill>
                <a:latin typeface="Consolas"/>
              </a:rPr>
              <a:t>       'month', now()-interval '1 month')</a:t>
            </a:r>
          </a:p>
          <a:p>
            <a:pPr>
              <a:spcAft>
                <a:spcPts val="100"/>
              </a:spcAft>
              <a:buNone/>
            </a:pPr>
            <a:r>
              <a:rPr sz="1100" b="1">
                <a:solidFill>
                  <a:srgbClr val="3C82D6"/>
                </a:solidFill>
                <a:latin typeface="Consolas"/>
              </a:rPr>
              <a:t>ORDER BY </a:t>
            </a:r>
            <a:r>
              <a:rPr sz="1100" b="0">
                <a:solidFill>
                  <a:srgbClr val="FFFFFF"/>
                </a:solidFill>
                <a:latin typeface="Consolas"/>
              </a:rPr>
              <a:t>t.txn_date </a:t>
            </a:r>
            <a:r>
              <a:rPr sz="1100" b="1">
                <a:solidFill>
                  <a:srgbClr val="3C82D6"/>
                </a:solidFill>
                <a:latin typeface="Consolas"/>
              </a:rPr>
              <a:t>DESC;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49640" y="1965960"/>
            <a:ext cx="323057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300" b="1" i="0">
                <a:solidFill>
                  <a:srgbClr val="0B1F3A"/>
                </a:solidFill>
                <a:latin typeface="Calibri"/>
              </a:rPr>
              <a:t>Built-in safeguards</a:t>
            </a:r>
          </a:p>
        </p:txBody>
      </p:sp>
      <p:sp>
        <p:nvSpPr>
          <p:cNvPr id="41" name="Oval 40"/>
          <p:cNvSpPr/>
          <p:nvPr/>
        </p:nvSpPr>
        <p:spPr>
          <a:xfrm>
            <a:off x="8549640" y="2350008"/>
            <a:ext cx="365760" cy="365760"/>
          </a:xfrm>
          <a:prstGeom prst="ellipse">
            <a:avLst/>
          </a:prstGeom>
          <a:solidFill>
            <a:srgbClr val="C03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Calibri"/>
              </a:rPr>
              <a:t>🔒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52560" y="2368296"/>
            <a:ext cx="26819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Placeholders bound, never real values</a:t>
            </a:r>
          </a:p>
        </p:txBody>
      </p:sp>
      <p:sp>
        <p:nvSpPr>
          <p:cNvPr id="43" name="Oval 42"/>
          <p:cNvSpPr/>
          <p:nvPr/>
        </p:nvSpPr>
        <p:spPr>
          <a:xfrm>
            <a:off x="8549640" y="2953512"/>
            <a:ext cx="365760" cy="365760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Calibri"/>
              </a:rPr>
              <a:t>👁️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52560" y="2971800"/>
            <a:ext cx="26819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Read-only — no writes / DDL</a:t>
            </a:r>
          </a:p>
        </p:txBody>
      </p:sp>
      <p:sp>
        <p:nvSpPr>
          <p:cNvPr id="45" name="Oval 44"/>
          <p:cNvSpPr/>
          <p:nvPr/>
        </p:nvSpPr>
        <p:spPr>
          <a:xfrm>
            <a:off x="8549640" y="3557016"/>
            <a:ext cx="365760" cy="365760"/>
          </a:xfrm>
          <a:prstGeom prst="ellipse">
            <a:avLst/>
          </a:prstGeom>
          <a:solidFill>
            <a:srgbClr val="6B4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Calibri"/>
              </a:rPr>
              <a:t>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52560" y="3575304"/>
            <a:ext cx="26819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Validated vs schema &amp; row-level access</a:t>
            </a:r>
          </a:p>
        </p:txBody>
      </p:sp>
      <p:sp>
        <p:nvSpPr>
          <p:cNvPr id="47" name="Oval 46"/>
          <p:cNvSpPr/>
          <p:nvPr/>
        </p:nvSpPr>
        <p:spPr>
          <a:xfrm>
            <a:off x="8549640" y="4160520"/>
            <a:ext cx="365760" cy="36576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Calibri"/>
              </a:rPr>
              <a:t>⏱️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52560" y="4178807"/>
            <a:ext cx="268193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0" i="0">
                <a:solidFill>
                  <a:srgbClr val="1A2230"/>
                </a:solidFill>
                <a:latin typeface="Calibri"/>
              </a:rPr>
              <a:t>Row caps, timeouts &amp; cost ceilings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74720" y="4892040"/>
            <a:ext cx="80768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2E9E5B"/>
                </a:solidFill>
                <a:latin typeface="Calibri"/>
              </a:rPr>
              <a:t>Result: </a:t>
            </a:r>
            <a:r>
              <a:rPr sz="1100" b="0" i="0">
                <a:solidFill>
                  <a:srgbClr val="1A2230"/>
                </a:solidFill>
                <a:latin typeface="Calibri"/>
              </a:rPr>
              <a:t>rows return still keyed to placeholders — real data is restored only at the secured output stage.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ZOOM · LAYER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300" b="1" i="0">
                <a:solidFill>
                  <a:srgbClr val="FFFFFF"/>
                </a:solidFill>
                <a:latin typeface="Calibri"/>
              </a:rPr>
              <a:t>AI Hub Gateway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237744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0B1F3A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024128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8A939F"/>
                </a:solidFill>
                <a:latin typeface="Calibri"/>
              </a:rPr>
              <a:t>ARCHITECTURE MAP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1325880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BDD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8A939F"/>
                </a:solidFill>
                <a:latin typeface="Calibri"/>
              </a:rPr>
              <a:t>💬  Client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85316" y="2057400"/>
            <a:ext cx="0" cy="237744"/>
          </a:xfrm>
          <a:prstGeom prst="line">
            <a:avLst/>
          </a:prstGeom>
          <a:ln w="19050">
            <a:solidFill>
              <a:srgbClr val="B9C2CE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714499" y="2057400"/>
            <a:ext cx="0" cy="237744"/>
          </a:xfrm>
          <a:prstGeom prst="line">
            <a:avLst/>
          </a:prstGeom>
          <a:ln w="19050">
            <a:solidFill>
              <a:srgbClr val="C9DECF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84048" y="2313432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B1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8A939F"/>
                </a:solidFill>
                <a:latin typeface="Calibri"/>
              </a:rPr>
              <a:t>🧠  Agent Orchestrator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385316" y="3044952"/>
            <a:ext cx="0" cy="237744"/>
          </a:xfrm>
          <a:prstGeom prst="line">
            <a:avLst/>
          </a:prstGeom>
          <a:ln w="19050">
            <a:solidFill>
              <a:srgbClr val="B9C2CE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714499" y="3044952"/>
            <a:ext cx="0" cy="237744"/>
          </a:xfrm>
          <a:prstGeom prst="line">
            <a:avLst/>
          </a:prstGeom>
          <a:ln w="19050">
            <a:solidFill>
              <a:srgbClr val="C9DECF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84048" y="3300984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 w="31750">
            <a:solidFill>
              <a:srgbClr val="C9A227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0B1F3A"/>
                </a:solidFill>
                <a:latin typeface="Calibri"/>
              </a:rPr>
              <a:t>🏛️  AI Hub Gateway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385316" y="4032504"/>
            <a:ext cx="0" cy="237744"/>
          </a:xfrm>
          <a:prstGeom prst="line">
            <a:avLst/>
          </a:prstGeom>
          <a:ln w="19050">
            <a:solidFill>
              <a:srgbClr val="B9C2CE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714499" y="4032504"/>
            <a:ext cx="0" cy="237744"/>
          </a:xfrm>
          <a:prstGeom prst="line">
            <a:avLst/>
          </a:prstGeom>
          <a:ln w="19050">
            <a:solidFill>
              <a:srgbClr val="C9DECF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697479" y="3657600"/>
            <a:ext cx="347472" cy="0"/>
          </a:xfrm>
          <a:prstGeom prst="line">
            <a:avLst/>
          </a:prstGeom>
          <a:ln w="28575">
            <a:solidFill>
              <a:srgbClr val="C9A227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2441448" y="3136392"/>
            <a:ext cx="384048" cy="38404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0B1F3A"/>
                </a:solidFill>
                <a:latin typeface="Calibri"/>
              </a:rPr>
              <a:t>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84048" y="4288536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CDC2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8A939F"/>
                </a:solidFill>
                <a:latin typeface="Calibri"/>
              </a:rPr>
              <a:t>🤖  LLM Providers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385316" y="5020056"/>
            <a:ext cx="0" cy="237744"/>
          </a:xfrm>
          <a:prstGeom prst="line">
            <a:avLst/>
          </a:prstGeom>
          <a:ln w="19050">
            <a:solidFill>
              <a:srgbClr val="B9C2CE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714499" y="5020056"/>
            <a:ext cx="0" cy="237744"/>
          </a:xfrm>
          <a:prstGeom prst="line">
            <a:avLst/>
          </a:prstGeom>
          <a:ln w="19050">
            <a:solidFill>
              <a:srgbClr val="C9DECF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84048" y="5276088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B8D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8A939F"/>
                </a:solidFill>
                <a:latin typeface="Calibri"/>
              </a:rPr>
              <a:t>🗄️  Data &amp; RAG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6035040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546275"/>
                </a:solidFill>
                <a:latin typeface="Calibri"/>
              </a:rPr>
              <a:t>▼ request   </a:t>
            </a:r>
            <a:r>
              <a:rPr sz="850" b="1" i="0">
                <a:solidFill>
                  <a:srgbClr val="43A86B"/>
                </a:solidFill>
                <a:latin typeface="Calibri"/>
              </a:rPr>
              <a:t>▲ response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547104"/>
            <a:ext cx="73152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6547104"/>
            <a:ext cx="277063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7 / 15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46120" y="1143000"/>
            <a:ext cx="8534095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7780">
            <a:solidFill>
              <a:srgbClr val="DFC77D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 Same Side Corner Rectangle 27"/>
          <p:cNvSpPr/>
          <p:nvPr/>
        </p:nvSpPr>
        <p:spPr>
          <a:xfrm>
            <a:off x="3246120" y="1143000"/>
            <a:ext cx="8534095" cy="658368"/>
          </a:xfrm>
          <a:prstGeom prst="round2Same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410712" y="1261872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C9A227"/>
                </a:solidFill>
                <a:latin typeface="Calibri"/>
              </a:rPr>
              <a:t>🏛️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59352" y="1197864"/>
            <a:ext cx="6705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0B1F3A"/>
                </a:solidFill>
                <a:latin typeface="Calibri"/>
              </a:rPr>
              <a:t>3 · AI Hub Gateway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59352" y="1508760"/>
            <a:ext cx="6705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0" i="0">
                <a:solidFill>
                  <a:srgbClr val="0B1F3A"/>
                </a:solidFill>
                <a:latin typeface="Calibri"/>
              </a:rPr>
              <a:t>One governed control plane for every model call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362895" y="1307592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00" b="1" i="0">
                <a:solidFill>
                  <a:srgbClr val="C9A227"/>
                </a:solidFill>
                <a:latin typeface="Calibri"/>
              </a:rPr>
              <a:t>ZOOM 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74720" y="1965960"/>
            <a:ext cx="2570378" cy="1024128"/>
          </a:xfrm>
          <a:prstGeom prst="roundRect">
            <a:avLst>
              <a:gd name="adj" fmla="val 8000"/>
            </a:avLst>
          </a:prstGeom>
          <a:solidFill>
            <a:srgbClr val="F2E6BE"/>
          </a:solidFill>
          <a:ln w="13970">
            <a:solidFill>
              <a:srgbClr val="C9A227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602736" y="211226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 i="0">
                <a:solidFill>
                  <a:srgbClr val="C9A227"/>
                </a:solidFill>
                <a:latin typeface="Calibri"/>
              </a:rPr>
              <a:t>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33087" y="2084831"/>
            <a:ext cx="179313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0B1F3A"/>
                </a:solidFill>
                <a:latin typeface="Calibri"/>
              </a:rPr>
              <a:t>Policy Engine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33087" y="2423160"/>
            <a:ext cx="179313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50" b="0" i="0">
                <a:solidFill>
                  <a:srgbClr val="5A6677"/>
                </a:solidFill>
                <a:latin typeface="Calibri"/>
              </a:rPr>
              <a:t>access control · routing rules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27978" y="1965960"/>
            <a:ext cx="2570378" cy="1024128"/>
          </a:xfrm>
          <a:prstGeom prst="roundRect">
            <a:avLst>
              <a:gd name="adj" fmla="val 8000"/>
            </a:avLst>
          </a:prstGeom>
          <a:solidFill>
            <a:srgbClr val="F2E6BE"/>
          </a:solidFill>
          <a:ln w="13970">
            <a:solidFill>
              <a:srgbClr val="C9A227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355994" y="211226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 i="0">
                <a:solidFill>
                  <a:srgbClr val="C9A227"/>
                </a:solidFill>
                <a:latin typeface="Calibri"/>
              </a:rPr>
              <a:t>🎭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86346" y="2084831"/>
            <a:ext cx="179313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0B1F3A"/>
                </a:solidFill>
                <a:latin typeface="Calibri"/>
              </a:rPr>
              <a:t>PII Masking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86346" y="2423160"/>
            <a:ext cx="179313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50" b="0" i="0">
                <a:solidFill>
                  <a:srgbClr val="5A6677"/>
                </a:solidFill>
                <a:latin typeface="Calibri"/>
              </a:rPr>
              <a:t>verify redaction · block leakage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981236" y="1965960"/>
            <a:ext cx="2570378" cy="1024128"/>
          </a:xfrm>
          <a:prstGeom prst="roundRect">
            <a:avLst>
              <a:gd name="adj" fmla="val 8000"/>
            </a:avLst>
          </a:prstGeom>
          <a:solidFill>
            <a:srgbClr val="F2E6BE"/>
          </a:solidFill>
          <a:ln w="13970">
            <a:solidFill>
              <a:srgbClr val="C9A227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109252" y="211226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 i="0">
                <a:solidFill>
                  <a:srgbClr val="C9A227"/>
                </a:solidFill>
                <a:latin typeface="Calibri"/>
              </a:rPr>
              <a:t>📦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39604" y="2084831"/>
            <a:ext cx="179313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0B1F3A"/>
                </a:solidFill>
                <a:latin typeface="Calibri"/>
              </a:rPr>
              <a:t>Quota &amp; 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39604" y="2423160"/>
            <a:ext cx="179313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50" b="0" i="0">
                <a:solidFill>
                  <a:srgbClr val="5A6677"/>
                </a:solidFill>
                <a:latin typeface="Calibri"/>
              </a:rPr>
              <a:t>budgets · throttling · cost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474720" y="3172968"/>
            <a:ext cx="2570378" cy="1024128"/>
          </a:xfrm>
          <a:prstGeom prst="roundRect">
            <a:avLst>
              <a:gd name="adj" fmla="val 8000"/>
            </a:avLst>
          </a:prstGeom>
          <a:solidFill>
            <a:srgbClr val="F2E6BE"/>
          </a:solidFill>
          <a:ln w="13970">
            <a:solidFill>
              <a:srgbClr val="C9A227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602736" y="331927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 i="0">
                <a:solidFill>
                  <a:srgbClr val="C9A227"/>
                </a:solidFill>
                <a:latin typeface="Calibri"/>
              </a:rPr>
              <a:t>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33087" y="3291839"/>
            <a:ext cx="179313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0B1F3A"/>
                </a:solidFill>
                <a:latin typeface="Calibri"/>
              </a:rPr>
              <a:t>Provider Router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33087" y="3630168"/>
            <a:ext cx="179313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50" b="0" i="0">
                <a:solidFill>
                  <a:srgbClr val="5A6677"/>
                </a:solidFill>
                <a:latin typeface="Calibri"/>
              </a:rPr>
              <a:t>select · balance · fail-over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27978" y="3172968"/>
            <a:ext cx="2570378" cy="1024128"/>
          </a:xfrm>
          <a:prstGeom prst="roundRect">
            <a:avLst>
              <a:gd name="adj" fmla="val 8000"/>
            </a:avLst>
          </a:prstGeom>
          <a:solidFill>
            <a:srgbClr val="F2E6BE"/>
          </a:solidFill>
          <a:ln w="13970">
            <a:solidFill>
              <a:srgbClr val="C9A227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355994" y="331927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 i="0">
                <a:solidFill>
                  <a:srgbClr val="C9A227"/>
                </a:solidFill>
                <a:latin typeface="Calibri"/>
              </a:rPr>
              <a:t>🧾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86346" y="3291839"/>
            <a:ext cx="179313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0B1F3A"/>
                </a:solidFill>
                <a:latin typeface="Calibri"/>
              </a:rPr>
              <a:t>Logging &amp; Tracing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86346" y="3630168"/>
            <a:ext cx="179313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50" b="0" i="0">
                <a:solidFill>
                  <a:srgbClr val="5A6677"/>
                </a:solidFill>
                <a:latin typeface="Calibri"/>
              </a:rPr>
              <a:t>every prompt, token &amp; decision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74720" y="4425696"/>
            <a:ext cx="1828800" cy="502920"/>
          </a:xfrm>
          <a:prstGeom prst="roundRect">
            <a:avLst>
              <a:gd name="adj" fmla="val 40000"/>
            </a:avLst>
          </a:prstGeom>
          <a:solidFill>
            <a:srgbClr val="1A9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Agent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303520" y="4590288"/>
            <a:ext cx="502920" cy="0"/>
          </a:xfrm>
          <a:prstGeom prst="line">
            <a:avLst/>
          </a:prstGeom>
          <a:ln w="28575">
            <a:solidFill>
              <a:srgbClr val="1A9C9C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5303520" y="4773168"/>
            <a:ext cx="502920" cy="0"/>
          </a:xfrm>
          <a:prstGeom prst="line">
            <a:avLst/>
          </a:prstGeom>
          <a:ln w="22225">
            <a:solidFill>
              <a:srgbClr val="2E9E5B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5806440" y="4425696"/>
            <a:ext cx="2286000" cy="502920"/>
          </a:xfrm>
          <a:prstGeom prst="roundRect">
            <a:avLst>
              <a:gd name="adj" fmla="val 4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>
                <a:solidFill>
                  <a:srgbClr val="0B1F3A"/>
                </a:solidFill>
                <a:latin typeface="Calibri"/>
              </a:rPr>
              <a:t>AI Hub Gateway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8092440" y="4590288"/>
            <a:ext cx="502920" cy="0"/>
          </a:xfrm>
          <a:prstGeom prst="line">
            <a:avLst/>
          </a:prstGeom>
          <a:ln w="28575">
            <a:solidFill>
              <a:srgbClr val="6B4CA8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8092440" y="4773168"/>
            <a:ext cx="502920" cy="0"/>
          </a:xfrm>
          <a:prstGeom prst="line">
            <a:avLst/>
          </a:prstGeom>
          <a:ln w="22225">
            <a:solidFill>
              <a:srgbClr val="2E9E5B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8595359" y="4425696"/>
            <a:ext cx="1828800" cy="502920"/>
          </a:xfrm>
          <a:prstGeom prst="roundRect">
            <a:avLst>
              <a:gd name="adj" fmla="val 40000"/>
            </a:avLst>
          </a:prstGeom>
          <a:solidFill>
            <a:srgbClr val="6B4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>
                <a:solidFill>
                  <a:srgbClr val="FFFFFF"/>
                </a:solidFill>
                <a:latin typeface="Calibri"/>
              </a:rPr>
              <a:t>LLM Provider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61320" y="4443983"/>
            <a:ext cx="1036015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0B1F3A"/>
                </a:solidFill>
                <a:latin typeface="Calibri"/>
              </a:rPr>
              <a:t>One gateway = one audit point &amp; one policy surface.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ZOOM · LAYER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300" b="1" i="0">
                <a:solidFill>
                  <a:srgbClr val="FFFFFF"/>
                </a:solidFill>
                <a:latin typeface="Calibri"/>
              </a:rPr>
              <a:t>LLM Providers &amp; Routing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237744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0B1F3A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024128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8A939F"/>
                </a:solidFill>
                <a:latin typeface="Calibri"/>
              </a:rPr>
              <a:t>ARCHITECTURE MAP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1325880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BDD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8A939F"/>
                </a:solidFill>
                <a:latin typeface="Calibri"/>
              </a:rPr>
              <a:t>💬  Client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85316" y="2057400"/>
            <a:ext cx="0" cy="237744"/>
          </a:xfrm>
          <a:prstGeom prst="line">
            <a:avLst/>
          </a:prstGeom>
          <a:ln w="19050">
            <a:solidFill>
              <a:srgbClr val="B9C2CE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714499" y="2057400"/>
            <a:ext cx="0" cy="237744"/>
          </a:xfrm>
          <a:prstGeom prst="line">
            <a:avLst/>
          </a:prstGeom>
          <a:ln w="19050">
            <a:solidFill>
              <a:srgbClr val="C9DECF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84048" y="2313432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B1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8A939F"/>
                </a:solidFill>
                <a:latin typeface="Calibri"/>
              </a:rPr>
              <a:t>🧠  Agent Orchestrator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385316" y="3044952"/>
            <a:ext cx="0" cy="237744"/>
          </a:xfrm>
          <a:prstGeom prst="line">
            <a:avLst/>
          </a:prstGeom>
          <a:ln w="19050">
            <a:solidFill>
              <a:srgbClr val="B9C2CE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714499" y="3044952"/>
            <a:ext cx="0" cy="237744"/>
          </a:xfrm>
          <a:prstGeom prst="line">
            <a:avLst/>
          </a:prstGeom>
          <a:ln w="19050">
            <a:solidFill>
              <a:srgbClr val="C9DECF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84048" y="3300984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EDD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8A939F"/>
                </a:solidFill>
                <a:latin typeface="Calibri"/>
              </a:rPr>
              <a:t>🏛️  AI Hub Gateway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385316" y="4032504"/>
            <a:ext cx="0" cy="237744"/>
          </a:xfrm>
          <a:prstGeom prst="line">
            <a:avLst/>
          </a:prstGeom>
          <a:ln w="19050">
            <a:solidFill>
              <a:srgbClr val="B9C2CE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714499" y="4032504"/>
            <a:ext cx="0" cy="237744"/>
          </a:xfrm>
          <a:prstGeom prst="line">
            <a:avLst/>
          </a:prstGeom>
          <a:ln w="19050">
            <a:solidFill>
              <a:srgbClr val="C9DECF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84048" y="4288536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6B4CA8"/>
          </a:solidFill>
          <a:ln w="31750">
            <a:solidFill>
              <a:srgbClr val="C9A227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🤖  LLM Providers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385316" y="5020056"/>
            <a:ext cx="0" cy="237744"/>
          </a:xfrm>
          <a:prstGeom prst="line">
            <a:avLst/>
          </a:prstGeom>
          <a:ln w="19050">
            <a:solidFill>
              <a:srgbClr val="B9C2CE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714499" y="5020056"/>
            <a:ext cx="0" cy="237744"/>
          </a:xfrm>
          <a:prstGeom prst="line">
            <a:avLst/>
          </a:prstGeom>
          <a:ln w="19050">
            <a:solidFill>
              <a:srgbClr val="C9DECF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697479" y="4645152"/>
            <a:ext cx="347472" cy="0"/>
          </a:xfrm>
          <a:prstGeom prst="line">
            <a:avLst/>
          </a:prstGeom>
          <a:ln w="28575">
            <a:solidFill>
              <a:srgbClr val="C9A227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2441448" y="4123944"/>
            <a:ext cx="384048" cy="38404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0B1F3A"/>
                </a:solidFill>
                <a:latin typeface="Calibri"/>
              </a:rPr>
              <a:t>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048" y="5276088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B8D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8A939F"/>
                </a:solidFill>
                <a:latin typeface="Calibri"/>
              </a:rPr>
              <a:t>🗄️  Data &amp; RAG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6035040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546275"/>
                </a:solidFill>
                <a:latin typeface="Calibri"/>
              </a:rPr>
              <a:t>▼ request   </a:t>
            </a:r>
            <a:r>
              <a:rPr sz="850" b="1" i="0">
                <a:solidFill>
                  <a:srgbClr val="43A86B"/>
                </a:solidFill>
                <a:latin typeface="Calibri"/>
              </a:rPr>
              <a:t>▲ response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547104"/>
            <a:ext cx="73152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6547104"/>
            <a:ext cx="277063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8 / 15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46120" y="1143000"/>
            <a:ext cx="8534095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7780">
            <a:solidFill>
              <a:srgbClr val="A694CB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 Same Side Corner Rectangle 27"/>
          <p:cNvSpPr/>
          <p:nvPr/>
        </p:nvSpPr>
        <p:spPr>
          <a:xfrm>
            <a:off x="3246120" y="1143000"/>
            <a:ext cx="8534095" cy="658368"/>
          </a:xfrm>
          <a:prstGeom prst="round2SameRect">
            <a:avLst/>
          </a:prstGeom>
          <a:solidFill>
            <a:srgbClr val="6B4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410712" y="1261872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6B4CA8"/>
                </a:solidFill>
                <a:latin typeface="Calibri"/>
              </a:rPr>
              <a:t>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59352" y="1197864"/>
            <a:ext cx="6705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Calibri"/>
              </a:rPr>
              <a:t>4 · LLM Providers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59352" y="1508760"/>
            <a:ext cx="6705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0" i="0">
                <a:solidFill>
                  <a:srgbClr val="E8F1FB"/>
                </a:solidFill>
                <a:latin typeface="Calibri"/>
              </a:rPr>
              <a:t>Pluggable models behind the gateway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362895" y="1307592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00" b="1" i="0">
                <a:solidFill>
                  <a:srgbClr val="6B4CA8"/>
                </a:solidFill>
                <a:latin typeface="Calibri"/>
              </a:rPr>
              <a:t>ZOOM 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1965960"/>
            <a:ext cx="4206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300" b="1" i="0">
                <a:solidFill>
                  <a:srgbClr val="0B1F3A"/>
                </a:solidFill>
                <a:latin typeface="Calibri"/>
              </a:rPr>
              <a:t>Provider pool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74720" y="2350008"/>
            <a:ext cx="4206240" cy="54864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2700">
            <a:solidFill>
              <a:srgbClr val="6B4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0" y="2386584"/>
            <a:ext cx="3931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6B4CA8"/>
                </a:solidFill>
                <a:latin typeface="Calibri"/>
              </a:rPr>
              <a:t>OpenAI GPT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0" y="2642615"/>
            <a:ext cx="3931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frontier reasoning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74720" y="2990087"/>
            <a:ext cx="4206240" cy="54864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2700">
            <a:solidFill>
              <a:srgbClr val="6B4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0" y="3026663"/>
            <a:ext cx="3931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6B4CA8"/>
                </a:solidFill>
                <a:latin typeface="Calibri"/>
              </a:rPr>
              <a:t>Anthropic Claude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0" y="3282695"/>
            <a:ext cx="3931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long-context &amp; safety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474720" y="3630168"/>
            <a:ext cx="4206240" cy="54864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2700">
            <a:solidFill>
              <a:srgbClr val="6B4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0" y="3666744"/>
            <a:ext cx="3931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6B4CA8"/>
                </a:solidFill>
                <a:latin typeface="Calibri"/>
              </a:rPr>
              <a:t>Google Gemini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0" y="3922776"/>
            <a:ext cx="3931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multimodal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74720" y="4270248"/>
            <a:ext cx="4206240" cy="54864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2700">
            <a:solidFill>
              <a:srgbClr val="6B4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0" y="4306824"/>
            <a:ext cx="3931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>
                <a:solidFill>
                  <a:srgbClr val="6B4CA8"/>
                </a:solidFill>
                <a:latin typeface="Calibri"/>
              </a:rPr>
              <a:t>Private / On-prem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0" y="4562856"/>
            <a:ext cx="39319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sensitive workloads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01000" y="1965960"/>
            <a:ext cx="37792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300" b="1" i="0">
                <a:solidFill>
                  <a:srgbClr val="0B1F3A"/>
                </a:solidFill>
                <a:latin typeface="Calibri"/>
              </a:rPr>
              <a:t>Routing &amp; resilience</a:t>
            </a:r>
          </a:p>
        </p:txBody>
      </p:sp>
      <p:sp>
        <p:nvSpPr>
          <p:cNvPr id="47" name="Oval 46"/>
          <p:cNvSpPr/>
          <p:nvPr/>
        </p:nvSpPr>
        <p:spPr>
          <a:xfrm>
            <a:off x="8001000" y="2350008"/>
            <a:ext cx="384048" cy="384048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Calibri"/>
              </a:rPr>
              <a:t>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31352" y="2386584"/>
            <a:ext cx="31391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Best-fit model per task type</a:t>
            </a:r>
          </a:p>
        </p:txBody>
      </p:sp>
      <p:sp>
        <p:nvSpPr>
          <p:cNvPr id="49" name="Oval 48"/>
          <p:cNvSpPr/>
          <p:nvPr/>
        </p:nvSpPr>
        <p:spPr>
          <a:xfrm>
            <a:off x="8001000" y="3008376"/>
            <a:ext cx="384048" cy="384048"/>
          </a:xfrm>
          <a:prstGeom prst="ellipse">
            <a:avLst/>
          </a:prstGeom>
          <a:solidFill>
            <a:srgbClr val="1A9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Calibri"/>
              </a:rPr>
              <a:t>⚖️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31352" y="3044952"/>
            <a:ext cx="31391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Load balancing across providers</a:t>
            </a:r>
          </a:p>
        </p:txBody>
      </p:sp>
      <p:sp>
        <p:nvSpPr>
          <p:cNvPr id="51" name="Oval 50"/>
          <p:cNvSpPr/>
          <p:nvPr/>
        </p:nvSpPr>
        <p:spPr>
          <a:xfrm>
            <a:off x="8001000" y="3666744"/>
            <a:ext cx="384048" cy="384048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Calibri"/>
              </a:rPr>
              <a:t>🛟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31352" y="3703320"/>
            <a:ext cx="31391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Automatic fail-over on outage</a:t>
            </a:r>
          </a:p>
        </p:txBody>
      </p:sp>
      <p:sp>
        <p:nvSpPr>
          <p:cNvPr id="53" name="Oval 52"/>
          <p:cNvSpPr/>
          <p:nvPr/>
        </p:nvSpPr>
        <p:spPr>
          <a:xfrm>
            <a:off x="8001000" y="4325112"/>
            <a:ext cx="384048" cy="384048"/>
          </a:xfrm>
          <a:prstGeom prst="ellipse">
            <a:avLst/>
          </a:prstGeom>
          <a:solidFill>
            <a:srgbClr val="C03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Calibri"/>
              </a:rPr>
              <a:t>🎭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31352" y="4361688"/>
            <a:ext cx="31391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50" b="0" i="0">
                <a:solidFill>
                  <a:srgbClr val="1A2230"/>
                </a:solidFill>
                <a:latin typeface="Calibri"/>
              </a:rPr>
              <a:t>Only placeholders are sent out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474720" y="4800600"/>
            <a:ext cx="8076895" cy="59436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1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>
                <a:solidFill>
                  <a:srgbClr val="1E5AA8"/>
                </a:solidFill>
                <a:latin typeface="Calibri"/>
              </a:rPr>
              <a:t>Output side (slide 9): </a:t>
            </a:r>
            <a:r>
              <a:rPr sz="1100" b="0" i="0">
                <a:solidFill>
                  <a:srgbClr val="1A2230"/>
                </a:solidFill>
                <a:latin typeface="Calibri"/>
              </a:rPr>
              <a:t>the model replies with placeholders, then output guardrails + PII re-insertion produce the final answer.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ZOOM · LAYER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300" b="1" i="0">
                <a:solidFill>
                  <a:srgbClr val="FFFFFF"/>
                </a:solidFill>
                <a:latin typeface="Calibri"/>
              </a:rPr>
              <a:t>Output Guardrails &amp; PII Re-insertion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237744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0B1F3A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024128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8A939F"/>
                </a:solidFill>
                <a:latin typeface="Calibri"/>
              </a:rPr>
              <a:t>ARCHITECTURE MAP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1325880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BDD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8A939F"/>
                </a:solidFill>
                <a:latin typeface="Calibri"/>
              </a:rPr>
              <a:t>💬  Client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85316" y="2057400"/>
            <a:ext cx="0" cy="237744"/>
          </a:xfrm>
          <a:prstGeom prst="line">
            <a:avLst/>
          </a:prstGeom>
          <a:ln w="19050">
            <a:solidFill>
              <a:srgbClr val="B9C2CE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714499" y="2057400"/>
            <a:ext cx="0" cy="237744"/>
          </a:xfrm>
          <a:prstGeom prst="line">
            <a:avLst/>
          </a:prstGeom>
          <a:ln w="19050">
            <a:solidFill>
              <a:srgbClr val="C9DECF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84048" y="2313432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B1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8A939F"/>
                </a:solidFill>
                <a:latin typeface="Calibri"/>
              </a:rPr>
              <a:t>🧠  Agent Orchestrator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385316" y="3044952"/>
            <a:ext cx="0" cy="237744"/>
          </a:xfrm>
          <a:prstGeom prst="line">
            <a:avLst/>
          </a:prstGeom>
          <a:ln w="19050">
            <a:solidFill>
              <a:srgbClr val="B9C2CE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714499" y="3044952"/>
            <a:ext cx="0" cy="237744"/>
          </a:xfrm>
          <a:prstGeom prst="line">
            <a:avLst/>
          </a:prstGeom>
          <a:ln w="19050">
            <a:solidFill>
              <a:srgbClr val="C9DECF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84048" y="3300984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EDD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8A939F"/>
                </a:solidFill>
                <a:latin typeface="Calibri"/>
              </a:rPr>
              <a:t>🏛️  AI Hub Gateway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385316" y="4032504"/>
            <a:ext cx="0" cy="237744"/>
          </a:xfrm>
          <a:prstGeom prst="line">
            <a:avLst/>
          </a:prstGeom>
          <a:ln w="19050">
            <a:solidFill>
              <a:srgbClr val="B9C2CE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714499" y="4032504"/>
            <a:ext cx="0" cy="237744"/>
          </a:xfrm>
          <a:prstGeom prst="line">
            <a:avLst/>
          </a:prstGeom>
          <a:ln w="19050">
            <a:solidFill>
              <a:srgbClr val="C9DECF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84048" y="4288536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6B4CA8"/>
          </a:solidFill>
          <a:ln w="31750">
            <a:solidFill>
              <a:srgbClr val="C9A227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🤖  LLM Providers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385316" y="5020056"/>
            <a:ext cx="0" cy="237744"/>
          </a:xfrm>
          <a:prstGeom prst="line">
            <a:avLst/>
          </a:prstGeom>
          <a:ln w="19050">
            <a:solidFill>
              <a:srgbClr val="B9C2CE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714499" y="5020056"/>
            <a:ext cx="0" cy="237744"/>
          </a:xfrm>
          <a:prstGeom prst="line">
            <a:avLst/>
          </a:prstGeom>
          <a:ln w="19050">
            <a:solidFill>
              <a:srgbClr val="C9DECF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697479" y="4645152"/>
            <a:ext cx="347472" cy="0"/>
          </a:xfrm>
          <a:prstGeom prst="line">
            <a:avLst/>
          </a:prstGeom>
          <a:ln w="28575">
            <a:solidFill>
              <a:srgbClr val="C9A227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2441448" y="4123944"/>
            <a:ext cx="384048" cy="38404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0B1F3A"/>
                </a:solidFill>
                <a:latin typeface="Calibri"/>
              </a:rPr>
              <a:t>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048" y="5276088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B8DE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8A939F"/>
                </a:solidFill>
                <a:latin typeface="Calibri"/>
              </a:rPr>
              <a:t>🗄️  Data &amp; RAG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6035040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546275"/>
                </a:solidFill>
                <a:latin typeface="Calibri"/>
              </a:rPr>
              <a:t>▼ request   </a:t>
            </a:r>
            <a:r>
              <a:rPr sz="850" b="1" i="0">
                <a:solidFill>
                  <a:srgbClr val="43A86B"/>
                </a:solidFill>
                <a:latin typeface="Calibri"/>
              </a:rPr>
              <a:t>▲ response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547104"/>
            <a:ext cx="73152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6547104"/>
            <a:ext cx="277063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9 / 15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46120" y="1143000"/>
            <a:ext cx="8534095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7780">
            <a:solidFill>
              <a:srgbClr val="A694CB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 Same Side Corner Rectangle 27"/>
          <p:cNvSpPr/>
          <p:nvPr/>
        </p:nvSpPr>
        <p:spPr>
          <a:xfrm>
            <a:off x="3246120" y="1143000"/>
            <a:ext cx="8534095" cy="658368"/>
          </a:xfrm>
          <a:prstGeom prst="round2SameRect">
            <a:avLst/>
          </a:prstGeom>
          <a:solidFill>
            <a:srgbClr val="6B4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410712" y="1261872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6B4CA8"/>
                </a:solidFill>
                <a:latin typeface="Calibri"/>
              </a:rPr>
              <a:t>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59352" y="1197864"/>
            <a:ext cx="6705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Calibri"/>
              </a:rPr>
              <a:t>4 · LLM Providers — Output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59352" y="1508760"/>
            <a:ext cx="6705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0" i="0">
                <a:solidFill>
                  <a:srgbClr val="E8F1FB"/>
                </a:solidFill>
                <a:latin typeface="Calibri"/>
              </a:rPr>
              <a:t>Restore real data only inside the trust boundary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362895" y="1307592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00" b="1" i="0">
                <a:solidFill>
                  <a:srgbClr val="6B4CA8"/>
                </a:solidFill>
                <a:latin typeface="Calibri"/>
              </a:rPr>
              <a:t>ZOOM 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74720" y="1965960"/>
            <a:ext cx="1895779" cy="1783080"/>
          </a:xfrm>
          <a:prstGeom prst="roundRect">
            <a:avLst>
              <a:gd name="adj" fmla="val 6000"/>
            </a:avLst>
          </a:prstGeom>
          <a:solidFill>
            <a:srgbClr val="ECE6F6"/>
          </a:solidFill>
          <a:ln w="15240">
            <a:solidFill>
              <a:srgbClr val="6B4CA8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474720" y="1965960"/>
            <a:ext cx="1895779" cy="420624"/>
          </a:xfrm>
          <a:prstGeom prst="round2SameRect">
            <a:avLst/>
          </a:prstGeom>
          <a:solidFill>
            <a:srgbClr val="6B4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474720" y="1965960"/>
            <a:ext cx="1895779" cy="4206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Calibri"/>
              </a:rPr>
              <a:t>1. LLM Response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84448" y="2441448"/>
            <a:ext cx="1676323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 i="0">
                <a:solidFill>
                  <a:srgbClr val="1A2230"/>
                </a:solidFill>
                <a:latin typeface="Calibri"/>
              </a:rPr>
              <a:t>…for CUSTOMER_NAME_001, account ACCOUNT_ID_001: 14 txns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370499" y="2834639"/>
            <a:ext cx="164592" cy="0"/>
          </a:xfrm>
          <a:prstGeom prst="line">
            <a:avLst/>
          </a:prstGeom>
          <a:ln w="25400">
            <a:solidFill>
              <a:srgbClr val="5A6677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5535091" y="1965960"/>
            <a:ext cx="1895779" cy="1783080"/>
          </a:xfrm>
          <a:prstGeom prst="roundRect">
            <a:avLst>
              <a:gd name="adj" fmla="val 6000"/>
            </a:avLst>
          </a:prstGeom>
          <a:solidFill>
            <a:srgbClr val="F7E4E4"/>
          </a:solidFill>
          <a:ln w="15240">
            <a:solidFill>
              <a:srgbClr val="C0393D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5535091" y="1965960"/>
            <a:ext cx="1895779" cy="420624"/>
          </a:xfrm>
          <a:prstGeom prst="round2SameRect">
            <a:avLst/>
          </a:prstGeom>
          <a:solidFill>
            <a:srgbClr val="C03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535091" y="1965960"/>
            <a:ext cx="1895779" cy="4206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Calibri"/>
              </a:rPr>
              <a:t>2. Output Guardrails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44819" y="2441448"/>
            <a:ext cx="1676323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 i="0">
                <a:solidFill>
                  <a:srgbClr val="1A2230"/>
                </a:solidFill>
                <a:latin typeface="Calibri"/>
              </a:rPr>
              <a:t>check leaked PII, hallucination, toxicity, disclosure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430871" y="2834639"/>
            <a:ext cx="164592" cy="0"/>
          </a:xfrm>
          <a:prstGeom prst="line">
            <a:avLst/>
          </a:prstGeom>
          <a:ln w="25400">
            <a:solidFill>
              <a:srgbClr val="5A6677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7595463" y="1965960"/>
            <a:ext cx="1895779" cy="1783080"/>
          </a:xfrm>
          <a:prstGeom prst="roundRect">
            <a:avLst>
              <a:gd name="adj" fmla="val 6000"/>
            </a:avLst>
          </a:prstGeom>
          <a:solidFill>
            <a:srgbClr val="E3F3E9"/>
          </a:solidFill>
          <a:ln w="15240">
            <a:solidFill>
              <a:srgbClr val="2E9E5B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7595463" y="1965960"/>
            <a:ext cx="1895779" cy="420624"/>
          </a:xfrm>
          <a:prstGeom prst="round2Same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95463" y="1965960"/>
            <a:ext cx="1895779" cy="4206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Calibri"/>
              </a:rPr>
              <a:t>3. PII Re-insertion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05191" y="2441448"/>
            <a:ext cx="1676323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 i="0">
                <a:solidFill>
                  <a:srgbClr val="1A2230"/>
                </a:solidFill>
                <a:latin typeface="Calibri"/>
              </a:rPr>
              <a:t>restore real values from the secure mapping table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491243" y="2834639"/>
            <a:ext cx="164592" cy="0"/>
          </a:xfrm>
          <a:prstGeom prst="line">
            <a:avLst/>
          </a:prstGeom>
          <a:ln w="25400">
            <a:solidFill>
              <a:srgbClr val="5A6677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9655835" y="1965960"/>
            <a:ext cx="1895779" cy="1783080"/>
          </a:xfrm>
          <a:prstGeom prst="roundRect">
            <a:avLst>
              <a:gd name="adj" fmla="val 6000"/>
            </a:avLst>
          </a:prstGeom>
          <a:solidFill>
            <a:srgbClr val="E8F1FB"/>
          </a:solidFill>
          <a:ln w="15240">
            <a:solidFill>
              <a:srgbClr val="1E5AA8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9655835" y="1965960"/>
            <a:ext cx="1895779" cy="420624"/>
          </a:xfrm>
          <a:prstGeom prst="round2Same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655835" y="1965960"/>
            <a:ext cx="1895779" cy="4206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Calibri"/>
              </a:rPr>
              <a:t>4. Final Answer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65563" y="2441448"/>
            <a:ext cx="1676323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00" b="0" i="0">
                <a:solidFill>
                  <a:srgbClr val="1A2230"/>
                </a:solidFill>
                <a:latin typeface="Calibri"/>
              </a:rPr>
              <a:t>…for Somchai Jantapan, account 1234567890: 14 txns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74720" y="3931920"/>
            <a:ext cx="80768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50" b="1" i="0">
                <a:solidFill>
                  <a:srgbClr val="0B1F3A"/>
                </a:solidFill>
                <a:latin typeface="Calibri"/>
              </a:rPr>
              <a:t>Output guardrail checks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74720" y="4251960"/>
            <a:ext cx="1916353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C0393D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584448" y="4361688"/>
            <a:ext cx="420624" cy="420624"/>
          </a:xfrm>
          <a:prstGeom prst="ellipse">
            <a:avLst/>
          </a:prstGeom>
          <a:solidFill>
            <a:srgbClr val="C03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Calibri"/>
              </a:rPr>
              <a:t>🔍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78224" y="4361688"/>
            <a:ext cx="123055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0B1F3A"/>
                </a:solidFill>
                <a:latin typeface="Calibri"/>
              </a:rPr>
              <a:t>No PII leakage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528233" y="4251960"/>
            <a:ext cx="1916353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1E5AA8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637961" y="4361688"/>
            <a:ext cx="420624" cy="420624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31737" y="4361688"/>
            <a:ext cx="123055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0B1F3A"/>
                </a:solidFill>
                <a:latin typeface="Calibri"/>
              </a:rPr>
              <a:t>Grounded &amp; accurate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581747" y="4251960"/>
            <a:ext cx="1916353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6B4CA8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691475" y="4361688"/>
            <a:ext cx="420624" cy="420624"/>
          </a:xfrm>
          <a:prstGeom prst="ellipse">
            <a:avLst/>
          </a:prstGeom>
          <a:solidFill>
            <a:srgbClr val="6B4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Calibri"/>
              </a:rPr>
              <a:t>🧹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85251" y="4361688"/>
            <a:ext cx="123055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0B1F3A"/>
                </a:solidFill>
                <a:latin typeface="Calibri"/>
              </a:rPr>
              <a:t>Safe content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635261" y="4251960"/>
            <a:ext cx="1916353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2E9E5B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9744989" y="4361688"/>
            <a:ext cx="420624" cy="42062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Calibri"/>
              </a:rPr>
              <a:t>📜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38765" y="4361688"/>
            <a:ext cx="123055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0B1F3A"/>
                </a:solidFill>
                <a:latin typeface="Calibri"/>
              </a:rPr>
              <a:t>Disclosure rules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ZOOM · LAYER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300" b="1" i="0">
                <a:solidFill>
                  <a:srgbClr val="FFFFFF"/>
                </a:solidFill>
                <a:latin typeface="Calibri"/>
              </a:rPr>
              <a:t>Data &amp; Knowledge Layer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237744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0B1F3A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024128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8A939F"/>
                </a:solidFill>
                <a:latin typeface="Calibri"/>
              </a:rPr>
              <a:t>ARCHITECTURE MAP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1325880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BDD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8A939F"/>
                </a:solidFill>
                <a:latin typeface="Calibri"/>
              </a:rPr>
              <a:t>💬  Client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85316" y="2057400"/>
            <a:ext cx="0" cy="237744"/>
          </a:xfrm>
          <a:prstGeom prst="line">
            <a:avLst/>
          </a:prstGeom>
          <a:ln w="19050">
            <a:solidFill>
              <a:srgbClr val="B9C2CE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714499" y="2057400"/>
            <a:ext cx="0" cy="237744"/>
          </a:xfrm>
          <a:prstGeom prst="line">
            <a:avLst/>
          </a:prstGeom>
          <a:ln w="19050">
            <a:solidFill>
              <a:srgbClr val="C9DECF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84048" y="2313432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B1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8A939F"/>
                </a:solidFill>
                <a:latin typeface="Calibri"/>
              </a:rPr>
              <a:t>🧠  Agent Orchestrator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385316" y="3044952"/>
            <a:ext cx="0" cy="237744"/>
          </a:xfrm>
          <a:prstGeom prst="line">
            <a:avLst/>
          </a:prstGeom>
          <a:ln w="19050">
            <a:solidFill>
              <a:srgbClr val="B9C2CE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714499" y="3044952"/>
            <a:ext cx="0" cy="237744"/>
          </a:xfrm>
          <a:prstGeom prst="line">
            <a:avLst/>
          </a:prstGeom>
          <a:ln w="19050">
            <a:solidFill>
              <a:srgbClr val="C9DECF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84048" y="3300984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EDD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8A939F"/>
                </a:solidFill>
                <a:latin typeface="Calibri"/>
              </a:rPr>
              <a:t>🏛️  AI Hub Gateway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385316" y="4032504"/>
            <a:ext cx="0" cy="237744"/>
          </a:xfrm>
          <a:prstGeom prst="line">
            <a:avLst/>
          </a:prstGeom>
          <a:ln w="19050">
            <a:solidFill>
              <a:srgbClr val="B9C2CE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714499" y="4032504"/>
            <a:ext cx="0" cy="237744"/>
          </a:xfrm>
          <a:prstGeom prst="line">
            <a:avLst/>
          </a:prstGeom>
          <a:ln w="19050">
            <a:solidFill>
              <a:srgbClr val="C9DECF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84048" y="4288536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CDC2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8A939F"/>
                </a:solidFill>
                <a:latin typeface="Calibri"/>
              </a:rPr>
              <a:t>🤖  LLM Providers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385316" y="5020056"/>
            <a:ext cx="0" cy="237744"/>
          </a:xfrm>
          <a:prstGeom prst="line">
            <a:avLst/>
          </a:prstGeom>
          <a:ln w="19050">
            <a:solidFill>
              <a:srgbClr val="B9C2CE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714499" y="5020056"/>
            <a:ext cx="0" cy="237744"/>
          </a:xfrm>
          <a:prstGeom prst="line">
            <a:avLst/>
          </a:prstGeom>
          <a:ln w="19050">
            <a:solidFill>
              <a:srgbClr val="C9DECF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384048" y="5276088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 w="31750">
            <a:solidFill>
              <a:srgbClr val="C9A227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🗄️  Data &amp; RAG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97479" y="5632704"/>
            <a:ext cx="347472" cy="0"/>
          </a:xfrm>
          <a:prstGeom prst="line">
            <a:avLst/>
          </a:prstGeom>
          <a:ln w="28575">
            <a:solidFill>
              <a:srgbClr val="C9A227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2441448" y="5111496"/>
            <a:ext cx="384048" cy="38404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300" b="1" i="0">
                <a:solidFill>
                  <a:srgbClr val="0B1F3A"/>
                </a:solidFill>
                <a:latin typeface="Calibri"/>
              </a:rPr>
              <a:t>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6035040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546275"/>
                </a:solidFill>
                <a:latin typeface="Calibri"/>
              </a:rPr>
              <a:t>▼ request   </a:t>
            </a:r>
            <a:r>
              <a:rPr sz="850" b="1" i="0">
                <a:solidFill>
                  <a:srgbClr val="43A86B"/>
                </a:solidFill>
                <a:latin typeface="Calibri"/>
              </a:rPr>
              <a:t>▲ response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547104"/>
            <a:ext cx="73152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6547104"/>
            <a:ext cx="277063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10 / 15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46120" y="1143000"/>
            <a:ext cx="8534095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7780">
            <a:solidFill>
              <a:srgbClr val="82C59D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 Same Side Corner Rectangle 27"/>
          <p:cNvSpPr/>
          <p:nvPr/>
        </p:nvSpPr>
        <p:spPr>
          <a:xfrm>
            <a:off x="3246120" y="1143000"/>
            <a:ext cx="8534095" cy="658368"/>
          </a:xfrm>
          <a:prstGeom prst="round2Same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410712" y="1261872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2E9E5B"/>
                </a:solidFill>
                <a:latin typeface="Calibri"/>
              </a:rPr>
              <a:t>🗄️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59352" y="1197864"/>
            <a:ext cx="6705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Calibri"/>
              </a:rPr>
              <a:t>5 · Data &amp; RAG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59352" y="1508760"/>
            <a:ext cx="6705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0" i="0">
                <a:solidFill>
                  <a:srgbClr val="E8F1FB"/>
                </a:solidFill>
                <a:latin typeface="Calibri"/>
              </a:rPr>
              <a:t>Grounding the answer in real, governed data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362895" y="1307592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00" b="1" i="0">
                <a:solidFill>
                  <a:srgbClr val="2E9E5B"/>
                </a:solidFill>
                <a:latin typeface="Calibri"/>
              </a:rPr>
              <a:t>ZOOM 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74720" y="1965960"/>
            <a:ext cx="3947007" cy="9144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3970">
            <a:solidFill>
              <a:srgbClr val="1E5AA8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621024" y="2148840"/>
            <a:ext cx="548640" cy="548640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Calibri"/>
              </a:rPr>
              <a:t>🗄️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43400" y="2112264"/>
            <a:ext cx="294116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0B1F3A"/>
                </a:solidFill>
                <a:latin typeface="Calibri"/>
              </a:rPr>
              <a:t>Transactional DB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43400" y="2468880"/>
            <a:ext cx="294116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0" i="0">
                <a:solidFill>
                  <a:srgbClr val="5A6677"/>
                </a:solidFill>
                <a:latin typeface="Calibri"/>
              </a:rPr>
              <a:t>read-only SQL · row-level scope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04607" y="1965960"/>
            <a:ext cx="3947007" cy="914400"/>
          </a:xfrm>
          <a:prstGeom prst="roundRect">
            <a:avLst>
              <a:gd name="adj" fmla="val 8000"/>
            </a:avLst>
          </a:prstGeom>
          <a:solidFill>
            <a:srgbClr val="ECE6F6"/>
          </a:solidFill>
          <a:ln w="13970">
            <a:solidFill>
              <a:srgbClr val="6B4CA8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750911" y="2148840"/>
            <a:ext cx="548640" cy="548640"/>
          </a:xfrm>
          <a:prstGeom prst="ellipse">
            <a:avLst/>
          </a:prstGeom>
          <a:solidFill>
            <a:srgbClr val="6B4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Calibri"/>
              </a:rPr>
              <a:t>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3287" y="2112264"/>
            <a:ext cx="294116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0B1F3A"/>
                </a:solidFill>
                <a:latin typeface="Calibri"/>
              </a:rPr>
              <a:t>Vector Knowledge Base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73287" y="2468880"/>
            <a:ext cx="294116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0" i="0">
                <a:solidFill>
                  <a:srgbClr val="5A6677"/>
                </a:solidFill>
                <a:latin typeface="Calibri"/>
              </a:rPr>
              <a:t>semantic RAG retrieval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74720" y="3063239"/>
            <a:ext cx="3947007" cy="914400"/>
          </a:xfrm>
          <a:prstGeom prst="roundRect">
            <a:avLst>
              <a:gd name="adj" fmla="val 8000"/>
            </a:avLst>
          </a:prstGeom>
          <a:solidFill>
            <a:srgbClr val="FBECD9"/>
          </a:solidFill>
          <a:ln w="13970">
            <a:solidFill>
              <a:srgbClr val="E0822B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621024" y="3246120"/>
            <a:ext cx="548640" cy="548640"/>
          </a:xfrm>
          <a:prstGeom prst="ellipse">
            <a:avLst/>
          </a:prstGeom>
          <a:solidFill>
            <a:srgbClr val="E0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Calibri"/>
              </a:rPr>
              <a:t>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43400" y="3209544"/>
            <a:ext cx="294116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0B1F3A"/>
                </a:solidFill>
                <a:latin typeface="Calibri"/>
              </a:rPr>
              <a:t>Document Store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43400" y="3566159"/>
            <a:ext cx="294116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0" i="0">
                <a:solidFill>
                  <a:srgbClr val="5A6677"/>
                </a:solidFill>
                <a:latin typeface="Calibri"/>
              </a:rPr>
              <a:t>policies, products, statements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604607" y="3063239"/>
            <a:ext cx="3947007" cy="914400"/>
          </a:xfrm>
          <a:prstGeom prst="roundRect">
            <a:avLst>
              <a:gd name="adj" fmla="val 8000"/>
            </a:avLst>
          </a:prstGeom>
          <a:solidFill>
            <a:srgbClr val="E3F3E9"/>
          </a:solidFill>
          <a:ln w="13970">
            <a:solidFill>
              <a:srgbClr val="2E9E5B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750911" y="3246120"/>
            <a:ext cx="548640" cy="54864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Calibri"/>
              </a:rPr>
              <a:t>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73287" y="3209544"/>
            <a:ext cx="294116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0B1F3A"/>
                </a:solidFill>
                <a:latin typeface="Calibri"/>
              </a:rPr>
              <a:t>Audit Trail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73287" y="3566159"/>
            <a:ext cx="294116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0" i="0">
                <a:solidFill>
                  <a:srgbClr val="5A6677"/>
                </a:solidFill>
                <a:latin typeface="Calibri"/>
              </a:rPr>
              <a:t>immutable log of every access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474720" y="4160520"/>
            <a:ext cx="2387498" cy="502920"/>
          </a:xfrm>
          <a:prstGeom prst="roundRect">
            <a:avLst>
              <a:gd name="adj" fmla="val 40000"/>
            </a:avLst>
          </a:prstGeom>
          <a:solidFill>
            <a:srgbClr val="1A9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Calibri"/>
              </a:rPr>
              <a:t>Redacted query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862218" y="4416552"/>
            <a:ext cx="457200" cy="0"/>
          </a:xfrm>
          <a:prstGeom prst="line">
            <a:avLst/>
          </a:prstGeom>
          <a:ln w="28575">
            <a:solidFill>
              <a:srgbClr val="5A6677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6319418" y="4160520"/>
            <a:ext cx="2387498" cy="502920"/>
          </a:xfrm>
          <a:prstGeom prst="roundRect">
            <a:avLst>
              <a:gd name="adj" fmla="val 40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Calibri"/>
              </a:rPr>
              <a:t>Retrieve (SQL+RAG)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706916" y="4416552"/>
            <a:ext cx="457200" cy="0"/>
          </a:xfrm>
          <a:prstGeom prst="line">
            <a:avLst/>
          </a:prstGeom>
          <a:ln w="28575">
            <a:solidFill>
              <a:srgbClr val="5A6677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9164116" y="4160520"/>
            <a:ext cx="2387498" cy="502920"/>
          </a:xfrm>
          <a:prstGeom prst="roundRect">
            <a:avLst>
              <a:gd name="adj" fmla="val 40000"/>
            </a:avLst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Calibri"/>
              </a:rPr>
              <a:t>Ground response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CROSS-CUTTING · ALL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300" b="1" i="0">
                <a:solidFill>
                  <a:srgbClr val="FFFFFF"/>
                </a:solidFill>
                <a:latin typeface="Calibri"/>
              </a:rPr>
              <a:t>End-to-End Request Lifecycle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237744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0B1F3A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024128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8A939F"/>
                </a:solidFill>
                <a:latin typeface="Calibri"/>
              </a:rPr>
              <a:t>ARCHITECTURE MAP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1325880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3C82D6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💬  Client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85316" y="2057400"/>
            <a:ext cx="0" cy="237744"/>
          </a:xfrm>
          <a:prstGeom prst="line">
            <a:avLst/>
          </a:prstGeom>
          <a:ln w="19050">
            <a:solidFill>
              <a:srgbClr val="919AA6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714499" y="2057400"/>
            <a:ext cx="0" cy="237744"/>
          </a:xfrm>
          <a:prstGeom prst="line">
            <a:avLst/>
          </a:prstGeom>
          <a:ln w="19050">
            <a:solidFill>
              <a:srgbClr val="82C59D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84048" y="2313432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1A9C9C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🧠  Agent Orchestrator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385316" y="3044952"/>
            <a:ext cx="0" cy="237744"/>
          </a:xfrm>
          <a:prstGeom prst="line">
            <a:avLst/>
          </a:prstGeom>
          <a:ln w="19050">
            <a:solidFill>
              <a:srgbClr val="919AA6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714499" y="3044952"/>
            <a:ext cx="0" cy="237744"/>
          </a:xfrm>
          <a:prstGeom prst="line">
            <a:avLst/>
          </a:prstGeom>
          <a:ln w="19050">
            <a:solidFill>
              <a:srgbClr val="82C59D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84048" y="3300984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0B1F3A"/>
                </a:solidFill>
                <a:latin typeface="Calibri"/>
              </a:rPr>
              <a:t>🏛️  AI Hub Gateway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385316" y="4032504"/>
            <a:ext cx="0" cy="237744"/>
          </a:xfrm>
          <a:prstGeom prst="line">
            <a:avLst/>
          </a:prstGeom>
          <a:ln w="19050">
            <a:solidFill>
              <a:srgbClr val="919AA6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714499" y="4032504"/>
            <a:ext cx="0" cy="237744"/>
          </a:xfrm>
          <a:prstGeom prst="line">
            <a:avLst/>
          </a:prstGeom>
          <a:ln w="19050">
            <a:solidFill>
              <a:srgbClr val="82C59D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84048" y="4288536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6B4CA8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🤖  LLM Providers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385316" y="5020056"/>
            <a:ext cx="0" cy="237744"/>
          </a:xfrm>
          <a:prstGeom prst="line">
            <a:avLst/>
          </a:prstGeom>
          <a:ln w="19050">
            <a:solidFill>
              <a:srgbClr val="919AA6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714499" y="5020056"/>
            <a:ext cx="0" cy="237744"/>
          </a:xfrm>
          <a:prstGeom prst="line">
            <a:avLst/>
          </a:prstGeom>
          <a:ln w="19050">
            <a:solidFill>
              <a:srgbClr val="82C59D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384048" y="5276088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🗄️  Data &amp; RAG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6035040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546275"/>
                </a:solidFill>
                <a:latin typeface="Calibri"/>
              </a:rPr>
              <a:t>▼ request   </a:t>
            </a:r>
            <a:r>
              <a:rPr sz="850" b="1" i="0">
                <a:solidFill>
                  <a:srgbClr val="43A86B"/>
                </a:solidFill>
                <a:latin typeface="Calibri"/>
              </a:rPr>
              <a:t>▲ response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547104"/>
            <a:ext cx="73152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6547104"/>
            <a:ext cx="277063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11 / 15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46120" y="1143000"/>
            <a:ext cx="8534095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7780">
            <a:solidFill>
              <a:srgbClr val="728298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 Same Side Corner Rectangle 25"/>
          <p:cNvSpPr/>
          <p:nvPr/>
        </p:nvSpPr>
        <p:spPr>
          <a:xfrm>
            <a:off x="3246120" y="1143000"/>
            <a:ext cx="8534095" cy="658368"/>
          </a:xfrm>
          <a:prstGeom prst="round2SameRect">
            <a:avLst/>
          </a:prstGeom>
          <a:solidFill>
            <a:srgbClr val="142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410712" y="1261872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142E53"/>
                </a:solidFill>
                <a:latin typeface="Calibri"/>
              </a:rPr>
              <a:t>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59352" y="1197864"/>
            <a:ext cx="6705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Calibri"/>
              </a:rPr>
              <a:t>Sequence 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59352" y="1508760"/>
            <a:ext cx="6705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0" i="0">
                <a:solidFill>
                  <a:srgbClr val="E8F1FB"/>
                </a:solidFill>
                <a:latin typeface="Calibri"/>
              </a:rPr>
              <a:t>How one query traverses all five layers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362895" y="1307592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00" b="1" i="0">
                <a:solidFill>
                  <a:srgbClr val="142E53"/>
                </a:solidFill>
                <a:latin typeface="Calibri"/>
              </a:rPr>
              <a:t>ZOOM 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08960" y="2011679"/>
            <a:ext cx="1554480" cy="411480"/>
          </a:xfrm>
          <a:prstGeom prst="roundRect">
            <a:avLst>
              <a:gd name="adj" fmla="val 30000"/>
            </a:avLst>
          </a:prstGeom>
          <a:solidFill>
            <a:srgbClr val="3C8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00" b="1" i="0">
                <a:solidFill>
                  <a:srgbClr val="FFFFFF"/>
                </a:solidFill>
                <a:latin typeface="Calibri"/>
              </a:rPr>
              <a:t>User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886200" y="2423160"/>
            <a:ext cx="0" cy="2788919"/>
          </a:xfrm>
          <a:prstGeom prst="line">
            <a:avLst/>
          </a:prstGeom>
          <a:ln w="12700">
            <a:solidFill>
              <a:srgbClr val="C4CCD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4876723" y="2011679"/>
            <a:ext cx="1554480" cy="411480"/>
          </a:xfrm>
          <a:prstGeom prst="roundRect">
            <a:avLst>
              <a:gd name="adj" fmla="val 30000"/>
            </a:avLst>
          </a:prstGeom>
          <a:solidFill>
            <a:srgbClr val="1A9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00" b="1" i="0">
                <a:solidFill>
                  <a:srgbClr val="FFFFFF"/>
                </a:solidFill>
                <a:latin typeface="Calibri"/>
              </a:rPr>
              <a:t>Orchestrator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653963" y="2423160"/>
            <a:ext cx="0" cy="2788919"/>
          </a:xfrm>
          <a:prstGeom prst="line">
            <a:avLst/>
          </a:prstGeom>
          <a:ln w="12700">
            <a:solidFill>
              <a:srgbClr val="C4CCD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644487" y="2011679"/>
            <a:ext cx="1554480" cy="411480"/>
          </a:xfrm>
          <a:prstGeom prst="roundRect">
            <a:avLst>
              <a:gd name="adj" fmla="val 3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00" b="1" i="0">
                <a:solidFill>
                  <a:srgbClr val="0B1F3A"/>
                </a:solidFill>
                <a:latin typeface="Calibri"/>
              </a:rPr>
              <a:t>AI Hub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421727" y="2423160"/>
            <a:ext cx="0" cy="2788919"/>
          </a:xfrm>
          <a:prstGeom prst="line">
            <a:avLst/>
          </a:prstGeom>
          <a:ln w="12700">
            <a:solidFill>
              <a:srgbClr val="C4CCD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8412251" y="2011679"/>
            <a:ext cx="1554480" cy="411480"/>
          </a:xfrm>
          <a:prstGeom prst="roundRect">
            <a:avLst>
              <a:gd name="adj" fmla="val 30000"/>
            </a:avLst>
          </a:prstGeom>
          <a:solidFill>
            <a:srgbClr val="6B4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00" b="1" i="0">
                <a:solidFill>
                  <a:srgbClr val="FFFFFF"/>
                </a:solidFill>
                <a:latin typeface="Calibri"/>
              </a:rPr>
              <a:t>LLM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89491" y="2423160"/>
            <a:ext cx="0" cy="2788919"/>
          </a:xfrm>
          <a:prstGeom prst="line">
            <a:avLst/>
          </a:prstGeom>
          <a:ln w="12700">
            <a:solidFill>
              <a:srgbClr val="C4CCD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10180015" y="2011679"/>
            <a:ext cx="1554480" cy="411480"/>
          </a:xfrm>
          <a:prstGeom prst="roundRect">
            <a:avLst>
              <a:gd name="adj" fmla="val 30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00" b="1" i="0">
                <a:solidFill>
                  <a:srgbClr val="FFFFFF"/>
                </a:solidFill>
                <a:latin typeface="Calibri"/>
              </a:rPr>
              <a:t>Data/RAG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957255" y="2423160"/>
            <a:ext cx="0" cy="2788919"/>
          </a:xfrm>
          <a:prstGeom prst="line">
            <a:avLst/>
          </a:prstGeom>
          <a:ln w="12700">
            <a:solidFill>
              <a:srgbClr val="C4CCD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886200" y="2670048"/>
            <a:ext cx="1767763" cy="0"/>
          </a:xfrm>
          <a:prstGeom prst="line">
            <a:avLst/>
          </a:prstGeom>
          <a:ln w="24130">
            <a:solidFill>
              <a:srgbClr val="1E5AA8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931920" y="2432303"/>
            <a:ext cx="1859203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1A2230"/>
                </a:solidFill>
                <a:latin typeface="Calibri"/>
              </a:rPr>
              <a:t>1 · query (raw)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53963" y="2825496"/>
            <a:ext cx="822960" cy="237744"/>
          </a:xfrm>
          <a:prstGeom prst="roundRect">
            <a:avLst>
              <a:gd name="adj" fmla="val 40000"/>
            </a:avLst>
          </a:prstGeom>
          <a:noFill/>
          <a:ln w="17780">
            <a:solidFill>
              <a:srgbClr val="C03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68363" y="2697479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1A2230"/>
                </a:solidFill>
                <a:latin typeface="Calibri"/>
              </a:rPr>
              <a:t>2 · guardrails + PII redaction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653963" y="3200400"/>
            <a:ext cx="5303292" cy="0"/>
          </a:xfrm>
          <a:prstGeom prst="line">
            <a:avLst/>
          </a:prstGeom>
          <a:ln w="24130">
            <a:solidFill>
              <a:srgbClr val="2E9E5B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699683" y="2962656"/>
            <a:ext cx="539473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1A2230"/>
                </a:solidFill>
                <a:latin typeface="Calibri"/>
              </a:rPr>
              <a:t>3 · retrieve (SQL / RAG)</a:t>
            </a:r>
          </a:p>
        </p:txBody>
      </p:sp>
      <p:cxnSp>
        <p:nvCxnSpPr>
          <p:cNvPr id="47" name="Connector 46"/>
          <p:cNvCxnSpPr/>
          <p:nvPr/>
        </p:nvCxnSpPr>
        <p:spPr>
          <a:xfrm flipH="1">
            <a:off x="5653963" y="3465576"/>
            <a:ext cx="5303292" cy="0"/>
          </a:xfrm>
          <a:prstGeom prst="line">
            <a:avLst/>
          </a:prstGeom>
          <a:ln w="24130">
            <a:solidFill>
              <a:srgbClr val="2E9E5B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699683" y="3227832"/>
            <a:ext cx="539473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1A2230"/>
                </a:solidFill>
                <a:latin typeface="Calibri"/>
              </a:rPr>
              <a:t>4 · placeholdered rows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653963" y="3730752"/>
            <a:ext cx="1767764" cy="0"/>
          </a:xfrm>
          <a:prstGeom prst="line">
            <a:avLst/>
          </a:prstGeom>
          <a:ln w="24130">
            <a:solidFill>
              <a:srgbClr val="1A9C9C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699683" y="3493008"/>
            <a:ext cx="1859203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1A2230"/>
                </a:solidFill>
                <a:latin typeface="Calibri"/>
              </a:rPr>
              <a:t>5 · masked prompt → gateway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7421727" y="3995927"/>
            <a:ext cx="1767764" cy="0"/>
          </a:xfrm>
          <a:prstGeom prst="line">
            <a:avLst/>
          </a:prstGeom>
          <a:ln w="24130">
            <a:solidFill>
              <a:srgbClr val="C9A227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7467447" y="3758183"/>
            <a:ext cx="1859203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1A2230"/>
                </a:solidFill>
                <a:latin typeface="Calibri"/>
              </a:rPr>
              <a:t>6 · policy ✓, route</a:t>
            </a:r>
          </a:p>
        </p:txBody>
      </p:sp>
      <p:cxnSp>
        <p:nvCxnSpPr>
          <p:cNvPr id="53" name="Connector 52"/>
          <p:cNvCxnSpPr/>
          <p:nvPr/>
        </p:nvCxnSpPr>
        <p:spPr>
          <a:xfrm flipH="1">
            <a:off x="7421727" y="4261103"/>
            <a:ext cx="1767764" cy="0"/>
          </a:xfrm>
          <a:prstGeom prst="line">
            <a:avLst/>
          </a:prstGeom>
          <a:ln w="24130">
            <a:solidFill>
              <a:srgbClr val="6B4CA8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7467447" y="4023359"/>
            <a:ext cx="1859203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1A2230"/>
                </a:solidFill>
                <a:latin typeface="Calibri"/>
              </a:rPr>
              <a:t>7 · model response</a:t>
            </a:r>
          </a:p>
        </p:txBody>
      </p:sp>
      <p:cxnSp>
        <p:nvCxnSpPr>
          <p:cNvPr id="55" name="Connector 54"/>
          <p:cNvCxnSpPr/>
          <p:nvPr/>
        </p:nvCxnSpPr>
        <p:spPr>
          <a:xfrm flipH="1">
            <a:off x="5653963" y="4526279"/>
            <a:ext cx="1767764" cy="0"/>
          </a:xfrm>
          <a:prstGeom prst="line">
            <a:avLst/>
          </a:prstGeom>
          <a:ln w="24130">
            <a:solidFill>
              <a:srgbClr val="C9A227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699683" y="4288536"/>
            <a:ext cx="1859203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1A2230"/>
                </a:solidFill>
                <a:latin typeface="Calibri"/>
              </a:rPr>
              <a:t>8 · logged + masked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653963" y="4681728"/>
            <a:ext cx="822960" cy="237744"/>
          </a:xfrm>
          <a:prstGeom prst="roundRect">
            <a:avLst>
              <a:gd name="adj" fmla="val 40000"/>
            </a:avLst>
          </a:prstGeom>
          <a:noFill/>
          <a:ln w="17780">
            <a:solidFill>
              <a:srgbClr val="C03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68363" y="455371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1A2230"/>
                </a:solidFill>
                <a:latin typeface="Calibri"/>
              </a:rPr>
              <a:t>9 · output guardrails + re-insertion</a:t>
            </a:r>
          </a:p>
        </p:txBody>
      </p:sp>
      <p:cxnSp>
        <p:nvCxnSpPr>
          <p:cNvPr id="59" name="Connector 58"/>
          <p:cNvCxnSpPr/>
          <p:nvPr/>
        </p:nvCxnSpPr>
        <p:spPr>
          <a:xfrm flipH="1">
            <a:off x="3886200" y="5056631"/>
            <a:ext cx="1767763" cy="0"/>
          </a:xfrm>
          <a:prstGeom prst="line">
            <a:avLst/>
          </a:prstGeom>
          <a:ln w="24130">
            <a:solidFill>
              <a:srgbClr val="1E5AA8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3931920" y="4818888"/>
            <a:ext cx="1859203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1A2230"/>
                </a:solidFill>
                <a:latin typeface="Calibri"/>
              </a:rPr>
              <a:t>10 · final answer (real data)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474720" y="5349240"/>
            <a:ext cx="80768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C0393D"/>
                </a:solidFill>
                <a:latin typeface="Calibri"/>
              </a:rPr>
              <a:t>🛡 guardrails at 2 &amp; 9   ·   </a:t>
            </a:r>
            <a:r>
              <a:rPr sz="950" b="1" i="0">
                <a:solidFill>
                  <a:srgbClr val="C9A227"/>
                </a:solidFill>
                <a:latin typeface="Calibri"/>
              </a:rPr>
              <a:t>🏛 gateway governs 5–8   ·   </a:t>
            </a:r>
            <a:r>
              <a:rPr sz="950" b="1" i="0">
                <a:solidFill>
                  <a:srgbClr val="2E9E5B"/>
                </a:solidFill>
                <a:latin typeface="Calibri"/>
              </a:rPr>
              <a:t>🎭 real PII never crosses the dashed boundary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CROSS-CUTTING · ALL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300" b="1" i="0">
                <a:solidFill>
                  <a:srgbClr val="FFFFFF"/>
                </a:solidFill>
                <a:latin typeface="Calibri"/>
              </a:rPr>
              <a:t>Logging, Monitoring &amp; Audit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237744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0B1F3A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024128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8A939F"/>
                </a:solidFill>
                <a:latin typeface="Calibri"/>
              </a:rPr>
              <a:t>ARCHITECTURE MAP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1325880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3C82D6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💬  Client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85316" y="2057400"/>
            <a:ext cx="0" cy="237744"/>
          </a:xfrm>
          <a:prstGeom prst="line">
            <a:avLst/>
          </a:prstGeom>
          <a:ln w="19050">
            <a:solidFill>
              <a:srgbClr val="919AA6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714499" y="2057400"/>
            <a:ext cx="0" cy="237744"/>
          </a:xfrm>
          <a:prstGeom prst="line">
            <a:avLst/>
          </a:prstGeom>
          <a:ln w="19050">
            <a:solidFill>
              <a:srgbClr val="82C59D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84048" y="2313432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1A9C9C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🧠  Agent Orchestrator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385316" y="3044952"/>
            <a:ext cx="0" cy="237744"/>
          </a:xfrm>
          <a:prstGeom prst="line">
            <a:avLst/>
          </a:prstGeom>
          <a:ln w="19050">
            <a:solidFill>
              <a:srgbClr val="919AA6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714499" y="3044952"/>
            <a:ext cx="0" cy="237744"/>
          </a:xfrm>
          <a:prstGeom prst="line">
            <a:avLst/>
          </a:prstGeom>
          <a:ln w="19050">
            <a:solidFill>
              <a:srgbClr val="82C59D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84048" y="3300984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0B1F3A"/>
                </a:solidFill>
                <a:latin typeface="Calibri"/>
              </a:rPr>
              <a:t>🏛️  AI Hub Gateway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385316" y="4032504"/>
            <a:ext cx="0" cy="237744"/>
          </a:xfrm>
          <a:prstGeom prst="line">
            <a:avLst/>
          </a:prstGeom>
          <a:ln w="19050">
            <a:solidFill>
              <a:srgbClr val="919AA6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714499" y="4032504"/>
            <a:ext cx="0" cy="237744"/>
          </a:xfrm>
          <a:prstGeom prst="line">
            <a:avLst/>
          </a:prstGeom>
          <a:ln w="19050">
            <a:solidFill>
              <a:srgbClr val="82C59D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84048" y="4288536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6B4CA8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🤖  LLM Providers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385316" y="5020056"/>
            <a:ext cx="0" cy="237744"/>
          </a:xfrm>
          <a:prstGeom prst="line">
            <a:avLst/>
          </a:prstGeom>
          <a:ln w="19050">
            <a:solidFill>
              <a:srgbClr val="919AA6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714499" y="5020056"/>
            <a:ext cx="0" cy="237744"/>
          </a:xfrm>
          <a:prstGeom prst="line">
            <a:avLst/>
          </a:prstGeom>
          <a:ln w="19050">
            <a:solidFill>
              <a:srgbClr val="82C59D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384048" y="5276088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🗄️  Data &amp; RAG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6035040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546275"/>
                </a:solidFill>
                <a:latin typeface="Calibri"/>
              </a:rPr>
              <a:t>▼ request   </a:t>
            </a:r>
            <a:r>
              <a:rPr sz="850" b="1" i="0">
                <a:solidFill>
                  <a:srgbClr val="43A86B"/>
                </a:solidFill>
                <a:latin typeface="Calibri"/>
              </a:rPr>
              <a:t>▲ response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547104"/>
            <a:ext cx="73152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6547104"/>
            <a:ext cx="277063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12 / 15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46120" y="1143000"/>
            <a:ext cx="8534095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7780">
            <a:solidFill>
              <a:srgbClr val="728298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 Same Side Corner Rectangle 25"/>
          <p:cNvSpPr/>
          <p:nvPr/>
        </p:nvSpPr>
        <p:spPr>
          <a:xfrm>
            <a:off x="3246120" y="1143000"/>
            <a:ext cx="8534095" cy="658368"/>
          </a:xfrm>
          <a:prstGeom prst="round2SameRect">
            <a:avLst/>
          </a:prstGeom>
          <a:solidFill>
            <a:srgbClr val="142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410712" y="1261872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142E53"/>
                </a:solidFill>
                <a:latin typeface="Calibri"/>
              </a:rPr>
              <a:t>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59352" y="1197864"/>
            <a:ext cx="6705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Calibri"/>
              </a:rPr>
              <a:t>Observability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59352" y="1508760"/>
            <a:ext cx="6705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0" i="0">
                <a:solidFill>
                  <a:srgbClr val="E8F1FB"/>
                </a:solidFill>
                <a:latin typeface="Calibri"/>
              </a:rPr>
              <a:t>Every layer emits telemetry into one pipeline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362895" y="1307592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00" b="1" i="0">
                <a:solidFill>
                  <a:srgbClr val="142E53"/>
                </a:solidFill>
                <a:latin typeface="Calibri"/>
              </a:rPr>
              <a:t>ZOOM 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74720" y="1965960"/>
            <a:ext cx="8076895" cy="502920"/>
          </a:xfrm>
          <a:prstGeom prst="roundRect">
            <a:avLst>
              <a:gd name="adj" fmla="val 20000"/>
            </a:avLst>
          </a:prstGeom>
          <a:solidFill>
            <a:srgbClr val="C9A227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0B1F3A"/>
                </a:solidFill>
                <a:latin typeface="Calibri"/>
              </a:rPr>
              <a:t>📥  Telemetry Collector — structured logs · traces · metrics · events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474720" y="2651760"/>
            <a:ext cx="2570378" cy="1371600"/>
          </a:xfrm>
          <a:prstGeom prst="roundRect">
            <a:avLst>
              <a:gd name="adj" fmla="val 6000"/>
            </a:avLst>
          </a:prstGeom>
          <a:solidFill>
            <a:srgbClr val="E8F1FB"/>
          </a:solidFill>
          <a:ln w="15240">
            <a:solidFill>
              <a:srgbClr val="1E5AA8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621024" y="2807208"/>
            <a:ext cx="502920" cy="502920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Calibri"/>
              </a:rPr>
              <a:t>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06240" y="2807208"/>
            <a:ext cx="174741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300" b="1" i="0">
                <a:solidFill>
                  <a:srgbClr val="0B1F3A"/>
                </a:solidFill>
                <a:latin typeface="Calibri"/>
              </a:rPr>
              <a:t>Metrics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9312" y="3383280"/>
            <a:ext cx="2250338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50" b="0" i="0">
                <a:solidFill>
                  <a:srgbClr val="5A6677"/>
                </a:solidFill>
                <a:latin typeface="Calibri"/>
              </a:rPr>
              <a:t>latency, tokens, cost, error &amp; throttle rates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27978" y="2651760"/>
            <a:ext cx="2570378" cy="1371600"/>
          </a:xfrm>
          <a:prstGeom prst="roundRect">
            <a:avLst>
              <a:gd name="adj" fmla="val 6000"/>
            </a:avLst>
          </a:prstGeom>
          <a:solidFill>
            <a:srgbClr val="ECE6F6"/>
          </a:solidFill>
          <a:ln w="15240">
            <a:solidFill>
              <a:srgbClr val="6B4CA8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74282" y="2807208"/>
            <a:ext cx="502920" cy="502920"/>
          </a:xfrm>
          <a:prstGeom prst="ellipse">
            <a:avLst/>
          </a:prstGeom>
          <a:solidFill>
            <a:srgbClr val="6B4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Calibri"/>
              </a:rPr>
              <a:t>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59498" y="2807208"/>
            <a:ext cx="174741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300" b="1" i="0">
                <a:solidFill>
                  <a:srgbClr val="0B1F3A"/>
                </a:solidFill>
                <a:latin typeface="Calibri"/>
              </a:rPr>
              <a:t>Traces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92570" y="3383280"/>
            <a:ext cx="2250338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50" b="0" i="0">
                <a:solidFill>
                  <a:srgbClr val="5A6677"/>
                </a:solidFill>
                <a:latin typeface="Calibri"/>
              </a:rPr>
              <a:t>end-to-end span per request, correlation IDs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81236" y="2651760"/>
            <a:ext cx="2570378" cy="1371600"/>
          </a:xfrm>
          <a:prstGeom prst="roundRect">
            <a:avLst>
              <a:gd name="adj" fmla="val 6000"/>
            </a:avLst>
          </a:prstGeom>
          <a:solidFill>
            <a:srgbClr val="E3F3E9"/>
          </a:solidFill>
          <a:ln w="15240">
            <a:solidFill>
              <a:srgbClr val="2E9E5B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127540" y="2807208"/>
            <a:ext cx="502920" cy="50292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Calibri"/>
              </a:rPr>
              <a:t>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12756" y="2807208"/>
            <a:ext cx="174741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300" b="1" i="0">
                <a:solidFill>
                  <a:srgbClr val="0B1F3A"/>
                </a:solidFill>
                <a:latin typeface="Calibri"/>
              </a:rPr>
              <a:t>Audit Logs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5828" y="3383280"/>
            <a:ext cx="2250338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50" b="0" i="0">
                <a:solidFill>
                  <a:srgbClr val="5A6677"/>
                </a:solidFill>
                <a:latin typeface="Calibri"/>
              </a:rPr>
              <a:t>immutable prompts, decisions &amp; PII actions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74720" y="4206240"/>
            <a:ext cx="8076895" cy="960120"/>
          </a:xfrm>
          <a:prstGeom prst="roundRect">
            <a:avLst>
              <a:gd name="adj" fmla="val 6000"/>
            </a:avLst>
          </a:prstGeom>
          <a:solidFill>
            <a:srgbClr val="E8F1FB"/>
          </a:solidFill>
          <a:ln w="12700">
            <a:solidFill>
              <a:srgbClr val="1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0" y="4270248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1E5AA8"/>
                </a:solidFill>
                <a:latin typeface="Calibri"/>
              </a:rPr>
              <a:t>What this enables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03320" y="4572000"/>
            <a:ext cx="380984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0" i="0">
                <a:solidFill>
                  <a:srgbClr val="1A2230"/>
                </a:solidFill>
                <a:latin typeface="Calibri"/>
              </a:rPr>
              <a:t>🔎  </a:t>
            </a:r>
            <a:r>
              <a:rPr sz="1050" b="0" i="0">
                <a:solidFill>
                  <a:srgbClr val="1A2230"/>
                </a:solidFill>
                <a:latin typeface="Calibri"/>
              </a:rPr>
              <a:t>Full traceability per interaction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13167" y="4572000"/>
            <a:ext cx="380984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0" i="0">
                <a:solidFill>
                  <a:srgbClr val="1A2230"/>
                </a:solidFill>
                <a:latin typeface="Calibri"/>
              </a:rPr>
              <a:t>⚖️  </a:t>
            </a:r>
            <a:r>
              <a:rPr sz="1050" b="0" i="0">
                <a:solidFill>
                  <a:srgbClr val="1A2230"/>
                </a:solidFill>
                <a:latin typeface="Calibri"/>
              </a:rPr>
              <a:t>Audit readiness (BOT, PDPA)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03320" y="4864608"/>
            <a:ext cx="380984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0" i="0">
                <a:solidFill>
                  <a:srgbClr val="1A2230"/>
                </a:solidFill>
                <a:latin typeface="Calibri"/>
              </a:rPr>
              <a:t>💰  </a:t>
            </a:r>
            <a:r>
              <a:rPr sz="1050" b="0" i="0">
                <a:solidFill>
                  <a:srgbClr val="1A2230"/>
                </a:solidFill>
                <a:latin typeface="Calibri"/>
              </a:rPr>
              <a:t>Cost &amp; quota accountability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13167" y="4864608"/>
            <a:ext cx="380984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0" i="0">
                <a:solidFill>
                  <a:srgbClr val="1A2230"/>
                </a:solidFill>
                <a:latin typeface="Calibri"/>
              </a:rPr>
              <a:t>🚨  </a:t>
            </a:r>
            <a:r>
              <a:rPr sz="1050" b="0" i="0">
                <a:solidFill>
                  <a:srgbClr val="1A2230"/>
                </a:solidFill>
                <a:latin typeface="Calibri"/>
              </a:rPr>
              <a:t>Real-time anomaly detection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CROSS-CUTTING · ALL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300" b="1" i="0">
                <a:solidFill>
                  <a:srgbClr val="FFFFFF"/>
                </a:solidFill>
                <a:latin typeface="Calibri"/>
              </a:rPr>
              <a:t>Defense-in-Depth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237744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0B1F3A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024128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8A939F"/>
                </a:solidFill>
                <a:latin typeface="Calibri"/>
              </a:rPr>
              <a:t>ARCHITECTURE MAP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1325880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3C82D6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💬  Client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85316" y="2057400"/>
            <a:ext cx="0" cy="237744"/>
          </a:xfrm>
          <a:prstGeom prst="line">
            <a:avLst/>
          </a:prstGeom>
          <a:ln w="19050">
            <a:solidFill>
              <a:srgbClr val="919AA6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714499" y="2057400"/>
            <a:ext cx="0" cy="237744"/>
          </a:xfrm>
          <a:prstGeom prst="line">
            <a:avLst/>
          </a:prstGeom>
          <a:ln w="19050">
            <a:solidFill>
              <a:srgbClr val="82C59D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84048" y="2313432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1A9C9C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🧠  Agent Orchestrator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385316" y="3044952"/>
            <a:ext cx="0" cy="237744"/>
          </a:xfrm>
          <a:prstGeom prst="line">
            <a:avLst/>
          </a:prstGeom>
          <a:ln w="19050">
            <a:solidFill>
              <a:srgbClr val="919AA6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714499" y="3044952"/>
            <a:ext cx="0" cy="237744"/>
          </a:xfrm>
          <a:prstGeom prst="line">
            <a:avLst/>
          </a:prstGeom>
          <a:ln w="19050">
            <a:solidFill>
              <a:srgbClr val="82C59D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84048" y="3300984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0B1F3A"/>
                </a:solidFill>
                <a:latin typeface="Calibri"/>
              </a:rPr>
              <a:t>🏛️  AI Hub Gateway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385316" y="4032504"/>
            <a:ext cx="0" cy="237744"/>
          </a:xfrm>
          <a:prstGeom prst="line">
            <a:avLst/>
          </a:prstGeom>
          <a:ln w="19050">
            <a:solidFill>
              <a:srgbClr val="919AA6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714499" y="4032504"/>
            <a:ext cx="0" cy="237744"/>
          </a:xfrm>
          <a:prstGeom prst="line">
            <a:avLst/>
          </a:prstGeom>
          <a:ln w="19050">
            <a:solidFill>
              <a:srgbClr val="82C59D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84048" y="4288536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6B4CA8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🤖  LLM Providers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385316" y="5020056"/>
            <a:ext cx="0" cy="237744"/>
          </a:xfrm>
          <a:prstGeom prst="line">
            <a:avLst/>
          </a:prstGeom>
          <a:ln w="19050">
            <a:solidFill>
              <a:srgbClr val="919AA6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714499" y="5020056"/>
            <a:ext cx="0" cy="237744"/>
          </a:xfrm>
          <a:prstGeom prst="line">
            <a:avLst/>
          </a:prstGeom>
          <a:ln w="19050">
            <a:solidFill>
              <a:srgbClr val="82C59D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384048" y="5276088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🗄️  Data &amp; RAG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6035040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546275"/>
                </a:solidFill>
                <a:latin typeface="Calibri"/>
              </a:rPr>
              <a:t>▼ request   </a:t>
            </a:r>
            <a:r>
              <a:rPr sz="850" b="1" i="0">
                <a:solidFill>
                  <a:srgbClr val="43A86B"/>
                </a:solidFill>
                <a:latin typeface="Calibri"/>
              </a:rPr>
              <a:t>▲ response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547104"/>
            <a:ext cx="73152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6547104"/>
            <a:ext cx="277063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13 / 15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46120" y="1143000"/>
            <a:ext cx="8534095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7780">
            <a:solidFill>
              <a:srgbClr val="728298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 Same Side Corner Rectangle 25"/>
          <p:cNvSpPr/>
          <p:nvPr/>
        </p:nvSpPr>
        <p:spPr>
          <a:xfrm>
            <a:off x="3246120" y="1143000"/>
            <a:ext cx="8534095" cy="658368"/>
          </a:xfrm>
          <a:prstGeom prst="round2SameRect">
            <a:avLst/>
          </a:prstGeom>
          <a:solidFill>
            <a:srgbClr val="142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410712" y="1261872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142E53"/>
                </a:solidFill>
                <a:latin typeface="Calibri"/>
              </a:rPr>
              <a:t>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59352" y="1197864"/>
            <a:ext cx="6705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Calibri"/>
              </a:rPr>
              <a:t>Security &amp; Compliance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59352" y="1508760"/>
            <a:ext cx="6705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0" i="0">
                <a:solidFill>
                  <a:srgbClr val="E8F1FB"/>
                </a:solidFill>
                <a:latin typeface="Calibri"/>
              </a:rPr>
              <a:t>Layered controls — no single point of failure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362895" y="1307592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00" b="1" i="0">
                <a:solidFill>
                  <a:srgbClr val="142E53"/>
                </a:solidFill>
                <a:latin typeface="Calibri"/>
              </a:rPr>
              <a:t>ZOOM 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74720" y="1965960"/>
            <a:ext cx="3947007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888B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474720" y="1965960"/>
            <a:ext cx="109728" cy="960120"/>
          </a:xfrm>
          <a:prstGeom prst="rect">
            <a:avLst/>
          </a:prstGeom>
          <a:solidFill>
            <a:srgbClr val="C03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730752" y="2221991"/>
            <a:ext cx="457200" cy="457200"/>
          </a:xfrm>
          <a:prstGeom prst="ellipse">
            <a:avLst/>
          </a:prstGeom>
          <a:solidFill>
            <a:srgbClr val="C03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Calibri"/>
              </a:rPr>
              <a:t>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5968" y="2084831"/>
            <a:ext cx="29868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50" b="1" i="0">
                <a:solidFill>
                  <a:srgbClr val="0B1F3A"/>
                </a:solidFill>
                <a:latin typeface="Calibri"/>
              </a:rPr>
              <a:t>Data Protection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15968" y="2423160"/>
            <a:ext cx="298688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50" b="0" i="0">
                <a:solidFill>
                  <a:srgbClr val="5A6677"/>
                </a:solidFill>
                <a:latin typeface="Calibri"/>
              </a:rPr>
              <a:t>redaction · tokenization · encryption · secure vault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604607" y="1965960"/>
            <a:ext cx="3947007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CB480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604607" y="1965960"/>
            <a:ext cx="109728" cy="960120"/>
          </a:xfrm>
          <a:prstGeom prst="rect">
            <a:avLst/>
          </a:prstGeom>
          <a:solidFill>
            <a:srgbClr val="E0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860639" y="2221991"/>
            <a:ext cx="457200" cy="457200"/>
          </a:xfrm>
          <a:prstGeom prst="ellipse">
            <a:avLst/>
          </a:prstGeom>
          <a:solidFill>
            <a:srgbClr val="E0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Calibri"/>
              </a:rPr>
              <a:t>🛡️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45855" y="2084831"/>
            <a:ext cx="29868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50" b="1" i="0">
                <a:solidFill>
                  <a:srgbClr val="0B1F3A"/>
                </a:solidFill>
                <a:latin typeface="Calibri"/>
              </a:rPr>
              <a:t>Guardrails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45855" y="2423160"/>
            <a:ext cx="298688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50" b="0" i="0">
                <a:solidFill>
                  <a:srgbClr val="5A6677"/>
                </a:solidFill>
                <a:latin typeface="Calibri"/>
              </a:rPr>
              <a:t>input/output filtering · injection defense · screening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74720" y="3063239"/>
            <a:ext cx="3947007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C77D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474720" y="3063239"/>
            <a:ext cx="109728" cy="9601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730752" y="3319272"/>
            <a:ext cx="457200" cy="45720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Calibri"/>
              </a:rPr>
              <a:t>🏛️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15968" y="3182111"/>
            <a:ext cx="29868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50" b="1" i="0">
                <a:solidFill>
                  <a:srgbClr val="0B1F3A"/>
                </a:solidFill>
                <a:latin typeface="Calibri"/>
              </a:rPr>
              <a:t>Governance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15968" y="3520439"/>
            <a:ext cx="298688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50" b="0" i="0">
                <a:solidFill>
                  <a:srgbClr val="5A6677"/>
                </a:solidFill>
                <a:latin typeface="Calibri"/>
              </a:rPr>
              <a:t>central policy · allow-lists · quotas · approvals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604607" y="3063239"/>
            <a:ext cx="3947007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89CCB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604607" y="3063239"/>
            <a:ext cx="109728" cy="96012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860639" y="3319272"/>
            <a:ext cx="457200" cy="457200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Calibri"/>
              </a:rPr>
              <a:t>👤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45855" y="3182111"/>
            <a:ext cx="29868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50" b="1" i="0">
                <a:solidFill>
                  <a:srgbClr val="0B1F3A"/>
                </a:solidFill>
                <a:latin typeface="Calibri"/>
              </a:rPr>
              <a:t>Access Control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45855" y="3520439"/>
            <a:ext cx="298688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50" b="0" i="0">
                <a:solidFill>
                  <a:srgbClr val="5A6677"/>
                </a:solidFill>
                <a:latin typeface="Calibri"/>
              </a:rPr>
              <a:t>RBAC · row-level scope · least-privilege tools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474720" y="4160520"/>
            <a:ext cx="3947007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A694CB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474720" y="4160520"/>
            <a:ext cx="109728" cy="960120"/>
          </a:xfrm>
          <a:prstGeom prst="rect">
            <a:avLst/>
          </a:prstGeom>
          <a:solidFill>
            <a:srgbClr val="6B4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730752" y="4416552"/>
            <a:ext cx="457200" cy="457200"/>
          </a:xfrm>
          <a:prstGeom prst="ellipse">
            <a:avLst/>
          </a:prstGeom>
          <a:solidFill>
            <a:srgbClr val="6B4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Calibri"/>
              </a:rPr>
              <a:t>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15968" y="4279392"/>
            <a:ext cx="29868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50" b="1" i="0">
                <a:solidFill>
                  <a:srgbClr val="0B1F3A"/>
                </a:solidFill>
                <a:latin typeface="Calibri"/>
              </a:rPr>
              <a:t>Compliance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15968" y="4617720"/>
            <a:ext cx="298688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50" b="0" i="0">
                <a:solidFill>
                  <a:srgbClr val="5A6677"/>
                </a:solidFill>
                <a:latin typeface="Calibri"/>
              </a:rPr>
              <a:t>PDPA &amp; BOT · audit trails · residency &amp; retention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604607" y="4160520"/>
            <a:ext cx="3947007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2C59D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604607" y="4160520"/>
            <a:ext cx="109728" cy="96012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860639" y="4416552"/>
            <a:ext cx="457200" cy="45720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Calibri"/>
              </a:rPr>
              <a:t>🔭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45855" y="4279392"/>
            <a:ext cx="2986887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50" b="1" i="0">
                <a:solidFill>
                  <a:srgbClr val="0B1F3A"/>
                </a:solidFill>
                <a:latin typeface="Calibri"/>
              </a:rPr>
              <a:t>Monitoring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45855" y="4617720"/>
            <a:ext cx="2986887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950" b="0" i="0">
                <a:solidFill>
                  <a:srgbClr val="5A6677"/>
                </a:solidFill>
                <a:latin typeface="Calibri"/>
              </a:rPr>
              <a:t>continuous logging · anomaly detection · response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C9A227"/>
                </a:solidFill>
                <a:latin typeface="Calibri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300" b="1" i="0">
                <a:solidFill>
                  <a:srgbClr val="FFFFFF"/>
                </a:solidFill>
                <a:latin typeface="Calibri"/>
              </a:rPr>
              <a:t>Key Takeaways</a:t>
            </a:r>
          </a:p>
        </p:txBody>
      </p:sp>
      <p:sp>
        <p:nvSpPr>
          <p:cNvPr id="6" name="Oval 5"/>
          <p:cNvSpPr/>
          <p:nvPr/>
        </p:nvSpPr>
        <p:spPr>
          <a:xfrm>
            <a:off x="11430000" y="237744"/>
            <a:ext cx="502920" cy="50292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0B1F3A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024128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50" b="1" i="0">
                <a:solidFill>
                  <a:srgbClr val="8A939F"/>
                </a:solidFill>
                <a:latin typeface="Calibri"/>
              </a:rPr>
              <a:t>ARCHITECTURE MAP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1325880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3C82D6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💬  Client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85316" y="2057400"/>
            <a:ext cx="0" cy="237744"/>
          </a:xfrm>
          <a:prstGeom prst="line">
            <a:avLst/>
          </a:prstGeom>
          <a:ln w="19050">
            <a:solidFill>
              <a:srgbClr val="919AA6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714499" y="2057400"/>
            <a:ext cx="0" cy="237744"/>
          </a:xfrm>
          <a:prstGeom prst="line">
            <a:avLst/>
          </a:prstGeom>
          <a:ln w="19050">
            <a:solidFill>
              <a:srgbClr val="82C59D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84048" y="2313432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1A9C9C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🧠  Agent Orchestrator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385316" y="3044952"/>
            <a:ext cx="0" cy="237744"/>
          </a:xfrm>
          <a:prstGeom prst="line">
            <a:avLst/>
          </a:prstGeom>
          <a:ln w="19050">
            <a:solidFill>
              <a:srgbClr val="919AA6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714499" y="3044952"/>
            <a:ext cx="0" cy="237744"/>
          </a:xfrm>
          <a:prstGeom prst="line">
            <a:avLst/>
          </a:prstGeom>
          <a:ln w="19050">
            <a:solidFill>
              <a:srgbClr val="82C59D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84048" y="3300984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0B1F3A"/>
                </a:solidFill>
                <a:latin typeface="Calibri"/>
              </a:rPr>
              <a:t>🏛️  AI Hub Gateway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385316" y="4032504"/>
            <a:ext cx="0" cy="237744"/>
          </a:xfrm>
          <a:prstGeom prst="line">
            <a:avLst/>
          </a:prstGeom>
          <a:ln w="19050">
            <a:solidFill>
              <a:srgbClr val="919AA6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714499" y="4032504"/>
            <a:ext cx="0" cy="237744"/>
          </a:xfrm>
          <a:prstGeom prst="line">
            <a:avLst/>
          </a:prstGeom>
          <a:ln w="19050">
            <a:solidFill>
              <a:srgbClr val="82C59D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84048" y="4288536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6B4CA8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🤖  LLM Providers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385316" y="5020056"/>
            <a:ext cx="0" cy="237744"/>
          </a:xfrm>
          <a:prstGeom prst="line">
            <a:avLst/>
          </a:prstGeom>
          <a:ln w="19050">
            <a:solidFill>
              <a:srgbClr val="919AA6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714499" y="5020056"/>
            <a:ext cx="0" cy="237744"/>
          </a:xfrm>
          <a:prstGeom prst="line">
            <a:avLst/>
          </a:prstGeom>
          <a:ln w="19050">
            <a:solidFill>
              <a:srgbClr val="82C59D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384048" y="5276088"/>
            <a:ext cx="2331720" cy="713232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FFFFFF"/>
                </a:solidFill>
                <a:latin typeface="Calibri"/>
              </a:rPr>
              <a:t>🗄️  Data &amp; RAG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6035040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546275"/>
                </a:solidFill>
                <a:latin typeface="Calibri"/>
              </a:rPr>
              <a:t>▼ request   </a:t>
            </a:r>
            <a:r>
              <a:rPr sz="850" b="1" i="0">
                <a:solidFill>
                  <a:srgbClr val="43A86B"/>
                </a:solidFill>
                <a:latin typeface="Calibri"/>
              </a:rPr>
              <a:t>▲ response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1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547104"/>
            <a:ext cx="73152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Bangkok Bank InnoHub  |  AI Technology Team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6547104"/>
            <a:ext cx="277063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  <a:buNone/>
            </a:pPr>
            <a:r>
              <a:rPr sz="900" b="0" i="0">
                <a:solidFill>
                  <a:srgbClr val="5A6677"/>
                </a:solidFill>
                <a:latin typeface="Calibri"/>
              </a:rPr>
              <a:t>Confidential  ·  14 / 15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46120" y="1143000"/>
            <a:ext cx="8534095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7780">
            <a:solidFill>
              <a:srgbClr val="728298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 Same Side Corner Rectangle 25"/>
          <p:cNvSpPr/>
          <p:nvPr/>
        </p:nvSpPr>
        <p:spPr>
          <a:xfrm>
            <a:off x="3246120" y="1143000"/>
            <a:ext cx="8534095" cy="658368"/>
          </a:xfrm>
          <a:prstGeom prst="round2SameRect">
            <a:avLst/>
          </a:prstGeom>
          <a:solidFill>
            <a:srgbClr val="142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410712" y="1261872"/>
            <a:ext cx="420624" cy="42062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142E53"/>
                </a:solidFill>
                <a:latin typeface="Calibri"/>
              </a:rPr>
              <a:t>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59352" y="1197864"/>
            <a:ext cx="67052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FFFFFF"/>
                </a:solidFill>
                <a:latin typeface="Calibri"/>
              </a:rPr>
              <a:t>What to Remember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59352" y="1508760"/>
            <a:ext cx="67052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0" i="0">
                <a:solidFill>
                  <a:srgbClr val="E8F1FB"/>
                </a:solidFill>
                <a:latin typeface="Calibri"/>
              </a:rPr>
              <a:t>Five ideas, one for each layer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362895" y="1307592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00" b="1" i="0">
                <a:solidFill>
                  <a:srgbClr val="142E53"/>
                </a:solidFill>
                <a:latin typeface="Calibri"/>
              </a:rPr>
              <a:t>ZOOM 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74720" y="1965960"/>
            <a:ext cx="8076895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B4E6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474720" y="1965960"/>
            <a:ext cx="109728" cy="603504"/>
          </a:xfrm>
          <a:prstGeom prst="rect">
            <a:avLst/>
          </a:prstGeom>
          <a:solidFill>
            <a:srgbClr val="3C8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630168" y="2084831"/>
            <a:ext cx="365760" cy="365760"/>
          </a:xfrm>
          <a:prstGeom prst="ellipse">
            <a:avLst/>
          </a:prstGeom>
          <a:solidFill>
            <a:srgbClr val="3C82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Calibri"/>
              </a:rPr>
              <a:t>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60520" y="2011679"/>
            <a:ext cx="32918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50" b="1" i="0">
                <a:solidFill>
                  <a:srgbClr val="0B1F3A"/>
                </a:solidFill>
                <a:latin typeface="Calibri"/>
              </a:rPr>
              <a:t>Layered by design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3800" y="2011679"/>
            <a:ext cx="396209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50" b="0" i="0">
                <a:solidFill>
                  <a:srgbClr val="5A6677"/>
                </a:solidFill>
                <a:latin typeface="Calibri"/>
              </a:rPr>
              <a:t>Five cooperating layers turn one query into a governed response.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74720" y="2642615"/>
            <a:ext cx="8076895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76C4C4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74720" y="2642615"/>
            <a:ext cx="109728" cy="603504"/>
          </a:xfrm>
          <a:prstGeom prst="rect">
            <a:avLst/>
          </a:prstGeom>
          <a:solidFill>
            <a:srgbClr val="1A9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630168" y="2761487"/>
            <a:ext cx="365760" cy="365760"/>
          </a:xfrm>
          <a:prstGeom prst="ellipse">
            <a:avLst/>
          </a:prstGeom>
          <a:solidFill>
            <a:srgbClr val="1A9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Calibri"/>
              </a:rPr>
              <a:t>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60520" y="2688335"/>
            <a:ext cx="32918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50" b="1" i="0">
                <a:solidFill>
                  <a:srgbClr val="0B1F3A"/>
                </a:solidFill>
                <a:latin typeface="Calibri"/>
              </a:rPr>
              <a:t>PII stays inside the boundary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43800" y="2688335"/>
            <a:ext cx="396209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50" b="0" i="0">
                <a:solidFill>
                  <a:srgbClr val="5A6677"/>
                </a:solidFill>
                <a:latin typeface="Calibri"/>
              </a:rPr>
              <a:t>Redact in, re-insert out — models only ever see placeholders.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74720" y="3319272"/>
            <a:ext cx="8076895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FC77D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474720" y="3319272"/>
            <a:ext cx="10972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630168" y="3438144"/>
            <a:ext cx="365760" cy="365760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 i="0">
                <a:solidFill>
                  <a:srgbClr val="0B1F3A"/>
                </a:solidFill>
                <a:latin typeface="Calibri"/>
              </a:rPr>
              <a:t>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60520" y="3364991"/>
            <a:ext cx="32918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50" b="1" i="0">
                <a:solidFill>
                  <a:srgbClr val="0B1F3A"/>
                </a:solidFill>
                <a:latin typeface="Calibri"/>
              </a:rPr>
              <a:t>Guardrails at every stage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43800" y="3364991"/>
            <a:ext cx="396209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50" b="0" i="0">
                <a:solidFill>
                  <a:srgbClr val="5A6677"/>
                </a:solidFill>
                <a:latin typeface="Calibri"/>
              </a:rPr>
              <a:t>Input, processing &amp; output checks make compliance continuous.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474720" y="3995928"/>
            <a:ext cx="8076895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A694CB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474720" y="3995928"/>
            <a:ext cx="109728" cy="603504"/>
          </a:xfrm>
          <a:prstGeom prst="rect">
            <a:avLst/>
          </a:prstGeom>
          <a:solidFill>
            <a:srgbClr val="6B4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630168" y="4114800"/>
            <a:ext cx="365760" cy="365760"/>
          </a:xfrm>
          <a:prstGeom prst="ellipse">
            <a:avLst/>
          </a:prstGeom>
          <a:solidFill>
            <a:srgbClr val="6B4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Calibri"/>
              </a:rPr>
              <a:t>④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60520" y="4041648"/>
            <a:ext cx="32918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50" b="1" i="0">
                <a:solidFill>
                  <a:srgbClr val="0B1F3A"/>
                </a:solidFill>
                <a:latin typeface="Calibri"/>
              </a:rPr>
              <a:t>One gateway governs all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43800" y="4041648"/>
            <a:ext cx="396209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50" b="0" i="0">
                <a:solidFill>
                  <a:srgbClr val="5A6677"/>
                </a:solidFill>
                <a:latin typeface="Calibri"/>
              </a:rPr>
              <a:t>The AI Hub centralizes policy, masking, routing, quota &amp; logging.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474720" y="4672584"/>
            <a:ext cx="8076895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2C59D"/>
            </a:solidFill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474720" y="4672584"/>
            <a:ext cx="109728" cy="603504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630168" y="4791456"/>
            <a:ext cx="365760" cy="36576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Calibri"/>
              </a:rPr>
              <a:t>⑤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60520" y="4718304"/>
            <a:ext cx="32918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50" b="1" i="0">
                <a:solidFill>
                  <a:srgbClr val="0B1F3A"/>
                </a:solidFill>
                <a:latin typeface="Calibri"/>
              </a:rPr>
              <a:t>Observable end-to-end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43800" y="4718304"/>
            <a:ext cx="396209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050" b="0" i="0">
                <a:solidFill>
                  <a:srgbClr val="5A6677"/>
                </a:solidFill>
                <a:latin typeface="Calibri"/>
              </a:rPr>
              <a:t>Metrics, traces &amp; audit logs deliver trust &amp; regulatory readiness.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1828800" y="4023360"/>
            <a:ext cx="16459200" cy="3108960"/>
          </a:xfrm>
          <a:prstGeom prst="parallelogram">
            <a:avLst/>
          </a:prstGeom>
          <a:solidFill>
            <a:srgbClr val="142E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03120"/>
            <a:ext cx="109728" cy="20116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68680" y="1097280"/>
            <a:ext cx="2926080" cy="45720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200" b="1" i="0">
                <a:solidFill>
                  <a:srgbClr val="0B1F3A"/>
                </a:solidFill>
                <a:latin typeface="Calibri"/>
              </a:rPr>
              <a:t>◆  BANGKOK BANK · InnoHub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73152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3800" b="1" i="0">
                <a:solidFill>
                  <a:srgbClr val="FFFFFF"/>
                </a:solidFill>
                <a:latin typeface="Calibri"/>
              </a:rPr>
              <a:t>Building Trustworthy AI,</a:t>
            </a:r>
          </a:p>
          <a:p>
            <a:pPr algn="l">
              <a:spcBef>
                <a:spcPts val="0"/>
              </a:spcBef>
              <a:spcAft>
                <a:spcPts val="1200"/>
              </a:spcAft>
              <a:buNone/>
            </a:pPr>
            <a:r>
              <a:rPr sz="3800" b="1" i="0">
                <a:solidFill>
                  <a:srgbClr val="C9A227"/>
                </a:solidFill>
                <a:latin typeface="Calibri"/>
              </a:rPr>
              <a:t>Layer by Layer.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600" b="0" i="0">
                <a:solidFill>
                  <a:srgbClr val="E8F1FB"/>
                </a:solidFill>
                <a:latin typeface="Calibri"/>
              </a:rPr>
              <a:t>Intelligence, security and compliance — engineered together,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600" b="0" i="0">
                <a:solidFill>
                  <a:srgbClr val="E8F1FB"/>
                </a:solidFill>
                <a:latin typeface="Calibri"/>
              </a:rPr>
              <a:t>from the first keystroke to the final, audited response.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4800600"/>
            <a:ext cx="2103120" cy="548640"/>
          </a:xfrm>
          <a:prstGeom prst="roundRect">
            <a:avLst>
              <a:gd name="adj" fmla="val 50000"/>
            </a:avLst>
          </a:prstGeom>
          <a:solidFill>
            <a:srgbClr val="3C82D6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Calibri"/>
              </a:rPr>
              <a:t>💬 Client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54679" y="5074920"/>
            <a:ext cx="45720" cy="0"/>
          </a:xfrm>
          <a:prstGeom prst="line">
            <a:avLst/>
          </a:prstGeom>
          <a:ln w="19050">
            <a:solidFill>
              <a:srgbClr val="C9A227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200399" y="4800600"/>
            <a:ext cx="2103120" cy="548640"/>
          </a:xfrm>
          <a:prstGeom prst="roundRect">
            <a:avLst>
              <a:gd name="adj" fmla="val 50000"/>
            </a:avLst>
          </a:prstGeom>
          <a:solidFill>
            <a:srgbClr val="1A9C9C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Calibri"/>
              </a:rPr>
              <a:t>🧠 Agent Orchestrator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03519" y="5074920"/>
            <a:ext cx="45720" cy="0"/>
          </a:xfrm>
          <a:prstGeom prst="line">
            <a:avLst/>
          </a:prstGeom>
          <a:ln w="19050">
            <a:solidFill>
              <a:srgbClr val="C9A227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349240" y="4800600"/>
            <a:ext cx="2103120" cy="54864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0B1F3A"/>
                </a:solidFill>
                <a:latin typeface="Calibri"/>
              </a:rPr>
              <a:t>🏛️ AI Hub Gateway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452359" y="5074920"/>
            <a:ext cx="45720" cy="0"/>
          </a:xfrm>
          <a:prstGeom prst="line">
            <a:avLst/>
          </a:prstGeom>
          <a:ln w="19050">
            <a:solidFill>
              <a:srgbClr val="C9A227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98079" y="4800600"/>
            <a:ext cx="2103120" cy="548640"/>
          </a:xfrm>
          <a:prstGeom prst="roundRect">
            <a:avLst>
              <a:gd name="adj" fmla="val 50000"/>
            </a:avLst>
          </a:prstGeom>
          <a:solidFill>
            <a:srgbClr val="6B4CA8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Calibri"/>
              </a:rPr>
              <a:t>🤖 LLM Providers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601200" y="5074920"/>
            <a:ext cx="45720" cy="0"/>
          </a:xfrm>
          <a:prstGeom prst="line">
            <a:avLst/>
          </a:prstGeom>
          <a:ln w="19050">
            <a:solidFill>
              <a:srgbClr val="C9A227"/>
            </a:solidFill>
            <a:headEnd type="none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646919" y="4800600"/>
            <a:ext cx="2103120" cy="54864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>
            <a:noFill/>
          </a:ln>
          <a:effectLst/>
          <a:effectLst>
            <a:outerShdw blurRad="60000" dist="30000" dir="5400000" rotWithShape="0">
              <a:srgbClr val="1A223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Calibri"/>
              </a:rPr>
              <a:t>🗄️ Data &amp; RAG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8521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300" b="0" i="0">
                <a:solidFill>
                  <a:srgbClr val="5A6677"/>
                </a:solidFill>
                <a:latin typeface="Calibri"/>
              </a:rPr>
              <a:t>Thank you  ·  AI Technology Team  ·  Questions &amp; discussion welcome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