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680960" y="-1371600"/>
            <a:ext cx="6400800" cy="9601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9728" cy="2286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73152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7315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AI Chat Application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4400" b="1" i="0">
                <a:solidFill>
                  <a:srgbClr val="C9A227"/>
                </a:solidFill>
                <a:latin typeface="Calibri"/>
              </a:rPr>
              <a:t>Architecture Walkthrough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A step-by-step journey from the user's question to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answer — with PII protected at the AI 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52628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80060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64992" y="452628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13832" y="480060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78424" y="452628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27264" y="480060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91856" y="452628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46120" y="5303520"/>
            <a:ext cx="214884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5093208"/>
            <a:ext cx="0" cy="192024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60350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0">
                <a:solidFill>
                  <a:srgbClr val="5A6677"/>
                </a:solidFill>
                <a:latin typeface="Calibri"/>
              </a:rPr>
              <a:t>Executive Briefing  ·  AI Technology Team  · 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We'll Cover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89C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28016" cy="105156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1673352"/>
            <a:ext cx="548640" cy="54864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58191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The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9842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5A6677"/>
                </a:solidFill>
                <a:latin typeface="Calibri"/>
              </a:rPr>
              <a:t>Four components — Client, AI Agents, AI Hub, LLM — plus the Database.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24328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6C4C4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624328"/>
            <a:ext cx="128016" cy="1051560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78892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The 11-Step Journey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5A6677"/>
                </a:solidFill>
                <a:latin typeface="Calibri"/>
              </a:rPr>
              <a:t>Follow one real request through the whole system, step by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31336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C77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831336"/>
            <a:ext cx="128016" cy="10515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0B1F3A"/>
                </a:solidFill>
                <a:latin typeface="Calibri"/>
              </a:rPr>
              <a:t>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399592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Guardrails &amp; PII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398264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5A6677"/>
                </a:solidFill>
                <a:latin typeface="Calibri"/>
              </a:rPr>
              <a:t>Where checks run and how PII is protected at the AI Hub.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038344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2C59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038344"/>
            <a:ext cx="128016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20293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Key Takeaways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605272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5A6677"/>
                </a:solidFill>
                <a:latin typeface="Calibri"/>
              </a:rPr>
              <a:t>The few ideas worth remembering.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3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7899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Four components in a simple chain — the Database sits next to the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💻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8F1FB"/>
                </a:solidFill>
                <a:latin typeface="Calibri"/>
              </a:rPr>
              <a:t>web / mobile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1828800"/>
            <a:ext cx="3246120" cy="2194560"/>
          </a:xfrm>
          <a:prstGeom prst="roundRect">
            <a:avLst>
              <a:gd name="adj" fmla="val 6000"/>
            </a:avLst>
          </a:prstGeom>
          <a:solidFill>
            <a:srgbClr val="DEF1F1"/>
          </a:solidFill>
          <a:ln w="20320">
            <a:solidFill>
              <a:srgbClr val="1A9C9C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3240" y="1828800"/>
            <a:ext cx="3246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1A9C9C"/>
                </a:solidFill>
                <a:latin typeface="Calibri"/>
              </a:rPr>
              <a:t>🤖  AI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331720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🧭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Router / Orchestrator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862072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🔎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Data Retrieval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3392424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📊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Analysis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01168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03720" y="2084832"/>
            <a:ext cx="23317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🏛️  AI HUB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542032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🔢  Token 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2926080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🎭  PII redact / re-insert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59168" y="3310128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🛡️  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2148840"/>
            <a:ext cx="1874519" cy="1188720"/>
          </a:xfrm>
          <a:prstGeom prst="roundRect">
            <a:avLst>
              <a:gd name="adj" fmla="val 12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🧠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CE6F6"/>
                </a:solidFill>
                <a:latin typeface="Calibri"/>
              </a:rPr>
              <a:t>generates SQL &amp; text</a:t>
            </a:r>
          </a:p>
        </p:txBody>
      </p:sp>
      <p:sp>
        <p:nvSpPr>
          <p:cNvPr id="23" name="Can 22"/>
          <p:cNvSpPr/>
          <p:nvPr/>
        </p:nvSpPr>
        <p:spPr>
          <a:xfrm>
            <a:off x="3657600" y="4526280"/>
            <a:ext cx="2057400" cy="9601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DATABASE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87168" y="274320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27648" y="274320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3728" y="274320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663440" y="4041648"/>
            <a:ext cx="0" cy="466344"/>
          </a:xfrm>
          <a:prstGeom prst="line">
            <a:avLst/>
          </a:prstGeom>
          <a:ln w="3175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2960" y="5943600"/>
            <a:ext cx="2697480" cy="502920"/>
          </a:xfrm>
          <a:prstGeom prst="roundRect">
            <a:avLst>
              <a:gd name="adj" fmla="val 10000"/>
            </a:avLst>
          </a:prstGeom>
          <a:solidFill>
            <a:srgbClr val="F7E4E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1A2230"/>
                </a:solidFill>
                <a:latin typeface="Calibri"/>
              </a:rPr>
              <a:t>🛡️ Guardrails at the client edge — no PII redaction here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5943600"/>
            <a:ext cx="2834640" cy="502920"/>
          </a:xfrm>
          <a:prstGeom prst="roundRect">
            <a:avLst>
              <a:gd name="adj" fmla="val 10000"/>
            </a:avLst>
          </a:prstGeom>
          <a:solidFill>
            <a:srgbClr val="F2E6BE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1A2230"/>
                </a:solidFill>
                <a:latin typeface="Calibri"/>
              </a:rPr>
              <a:t>🎭 PII redacted &amp; re-inserted only at the AI 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END-TO-END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Sequence Diagram — One Request, Start to Finish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607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1">
                <a:solidFill>
                  <a:srgbClr val="5A6677"/>
                </a:solidFill>
                <a:latin typeface="Calibri"/>
              </a:rPr>
              <a:t>The 11 steps as message exchanges.   </a:t>
            </a:r>
            <a:r>
              <a:rPr sz="1150" b="1" i="0">
                <a:solidFill>
                  <a:srgbClr val="C0393D"/>
                </a:solidFill>
                <a:latin typeface="Calibri"/>
              </a:rPr>
              <a:t>🛡️ = guardrail (input · PII redact · PII re-insert · output).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27632"/>
            <a:ext cx="1737360" cy="457200"/>
          </a:xfrm>
          <a:prstGeom prst="roundRect">
            <a:avLst>
              <a:gd name="adj" fmla="val 30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7320" y="2084832"/>
            <a:ext cx="0" cy="4297680"/>
          </a:xfrm>
          <a:prstGeom prst="line">
            <a:avLst/>
          </a:prstGeom>
          <a:ln w="1397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17520" y="1627632"/>
            <a:ext cx="1737360" cy="457200"/>
          </a:xfrm>
          <a:prstGeom prst="roundRect">
            <a:avLst>
              <a:gd name="adj" fmla="val 30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86200" y="2084832"/>
            <a:ext cx="0" cy="4297680"/>
          </a:xfrm>
          <a:prstGeom prst="line">
            <a:avLst/>
          </a:prstGeom>
          <a:ln w="1397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32120" y="1627632"/>
            <a:ext cx="1737360" cy="457200"/>
          </a:xfrm>
          <a:prstGeom prst="roundRect">
            <a:avLst>
              <a:gd name="adj" fmla="val 30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2084832"/>
            <a:ext cx="0" cy="4297680"/>
          </a:xfrm>
          <a:prstGeom prst="line">
            <a:avLst/>
          </a:prstGeom>
          <a:ln w="1397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863840" y="1627632"/>
            <a:ext cx="1737360" cy="457200"/>
          </a:xfrm>
          <a:prstGeom prst="roundRect">
            <a:avLst>
              <a:gd name="adj" fmla="val 30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2520" y="2084832"/>
            <a:ext cx="0" cy="4297680"/>
          </a:xfrm>
          <a:prstGeom prst="line">
            <a:avLst/>
          </a:prstGeom>
          <a:ln w="1397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58400" y="1627632"/>
            <a:ext cx="1737360" cy="457200"/>
          </a:xfrm>
          <a:prstGeom prst="roundRect">
            <a:avLst>
              <a:gd name="adj" fmla="val 30000"/>
            </a:avLst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27080" y="2084832"/>
            <a:ext cx="0" cy="4297680"/>
          </a:xfrm>
          <a:prstGeom prst="line">
            <a:avLst/>
          </a:prstGeom>
          <a:ln w="1397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20" y="2359152"/>
            <a:ext cx="2468880" cy="0"/>
          </a:xfrm>
          <a:prstGeom prst="line">
            <a:avLst/>
          </a:prstGeom>
          <a:ln w="25400">
            <a:solidFill>
              <a:srgbClr val="C0393D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514600" y="2103120"/>
            <a:ext cx="274320" cy="27432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13969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1  request</a:t>
            </a:r>
          </a:p>
        </p:txBody>
      </p:sp>
      <p:sp>
        <p:nvSpPr>
          <p:cNvPr id="24" name="Left Brace 23"/>
          <p:cNvSpPr/>
          <p:nvPr/>
        </p:nvSpPr>
        <p:spPr>
          <a:xfrm>
            <a:off x="3886200" y="2546603"/>
            <a:ext cx="502920" cy="256032"/>
          </a:xfrm>
          <a:prstGeom prst="leftBrace">
            <a:avLst/>
          </a:prstGeom>
          <a:noFill/>
          <a:ln w="2032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2510027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2  route → Retrieval Agent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86200" y="2990087"/>
            <a:ext cx="2514600" cy="0"/>
          </a:xfrm>
          <a:prstGeom prst="line">
            <a:avLst/>
          </a:prstGeom>
          <a:ln w="25400">
            <a:solidFill>
              <a:srgbClr val="1A9C9C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31920" y="2770631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3  request SQL generation</a:t>
            </a:r>
          </a:p>
        </p:txBody>
      </p:sp>
      <p:sp>
        <p:nvSpPr>
          <p:cNvPr id="28" name="Left Brace 27"/>
          <p:cNvSpPr/>
          <p:nvPr/>
        </p:nvSpPr>
        <p:spPr>
          <a:xfrm>
            <a:off x="6400800" y="3177539"/>
            <a:ext cx="502920" cy="256032"/>
          </a:xfrm>
          <a:prstGeom prst="leftBrace">
            <a:avLst/>
          </a:prstGeom>
          <a:noFill/>
          <a:ln w="2032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89904" y="3168395"/>
            <a:ext cx="274320" cy="27432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140963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4  tokens · PII redact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0" y="3621023"/>
            <a:ext cx="2331720" cy="0"/>
          </a:xfrm>
          <a:prstGeom prst="line">
            <a:avLst/>
          </a:prstGeom>
          <a:ln w="25400">
            <a:solidFill>
              <a:srgbClr val="C9A227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46520" y="3401567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5  generate SQL (redacted)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400800" y="3936491"/>
            <a:ext cx="2331720" cy="0"/>
          </a:xfrm>
          <a:prstGeom prst="line">
            <a:avLst/>
          </a:prstGeom>
          <a:ln w="17780">
            <a:solidFill>
              <a:srgbClr val="5A6677"/>
            </a:solidFill>
            <a:prstDash val="dash"/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46520" y="371703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1">
                <a:solidFill>
                  <a:srgbClr val="1A2230"/>
                </a:solidFill>
                <a:latin typeface="Calibri"/>
              </a:rPr>
              <a:t>SQL</a:t>
            </a:r>
          </a:p>
        </p:txBody>
      </p:sp>
      <p:sp>
        <p:nvSpPr>
          <p:cNvPr id="35" name="Left Brace 34"/>
          <p:cNvSpPr/>
          <p:nvPr/>
        </p:nvSpPr>
        <p:spPr>
          <a:xfrm>
            <a:off x="6400800" y="4123943"/>
            <a:ext cx="502920" cy="256032"/>
          </a:xfrm>
          <a:prstGeom prst="leftBrace">
            <a:avLst/>
          </a:prstGeom>
          <a:noFill/>
          <a:ln w="2032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089904" y="4114799"/>
            <a:ext cx="274320" cy="27432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4087367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6  PII re-insert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3886200" y="4567427"/>
            <a:ext cx="2514600" cy="0"/>
          </a:xfrm>
          <a:prstGeom prst="line">
            <a:avLst/>
          </a:prstGeom>
          <a:ln w="25400">
            <a:solidFill>
              <a:srgbClr val="C9A227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931920" y="4347971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7  return SQL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886200" y="4882895"/>
            <a:ext cx="7040880" cy="0"/>
          </a:xfrm>
          <a:prstGeom prst="line">
            <a:avLst/>
          </a:prstGeom>
          <a:ln w="25400">
            <a:solidFill>
              <a:srgbClr val="1A9C9C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931920" y="4663439"/>
            <a:ext cx="713231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8  run SQL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3886200" y="5198363"/>
            <a:ext cx="7040880" cy="0"/>
          </a:xfrm>
          <a:prstGeom prst="line">
            <a:avLst/>
          </a:prstGeom>
          <a:ln w="17780">
            <a:solidFill>
              <a:srgbClr val="5A6677"/>
            </a:solidFill>
            <a:prstDash val="dash"/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931920" y="4978907"/>
            <a:ext cx="713231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1">
                <a:solidFill>
                  <a:srgbClr val="1A2230"/>
                </a:solidFill>
                <a:latin typeface="Calibri"/>
              </a:rPr>
              <a:t>rows</a:t>
            </a:r>
          </a:p>
        </p:txBody>
      </p:sp>
      <p:sp>
        <p:nvSpPr>
          <p:cNvPr id="44" name="Left Brace 43"/>
          <p:cNvSpPr/>
          <p:nvPr/>
        </p:nvSpPr>
        <p:spPr>
          <a:xfrm>
            <a:off x="3886200" y="5385815"/>
            <a:ext cx="502920" cy="256032"/>
          </a:xfrm>
          <a:prstGeom prst="leftBrace">
            <a:avLst/>
          </a:prstGeom>
          <a:noFill/>
          <a:ln w="2032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3128" y="5349239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9  analyse &amp; write answer</a:t>
            </a:r>
          </a:p>
        </p:txBody>
      </p:sp>
      <p:sp>
        <p:nvSpPr>
          <p:cNvPr id="46" name="Left Brace 45"/>
          <p:cNvSpPr/>
          <p:nvPr/>
        </p:nvSpPr>
        <p:spPr>
          <a:xfrm>
            <a:off x="3886200" y="5701283"/>
            <a:ext cx="502920" cy="256032"/>
          </a:xfrm>
          <a:prstGeom prst="leftBrace">
            <a:avLst/>
          </a:prstGeom>
          <a:noFill/>
          <a:ln w="2032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75304" y="5692139"/>
            <a:ext cx="274320" cy="27432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53128" y="5664707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10  output guardrail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417320" y="6144767"/>
            <a:ext cx="2468880" cy="0"/>
          </a:xfrm>
          <a:prstGeom prst="line">
            <a:avLst/>
          </a:prstGeom>
          <a:ln w="25400">
            <a:solidFill>
              <a:srgbClr val="1A9C9C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463040" y="5925311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11  show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1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User Sends a Request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5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Oval 18"/>
          <p:cNvSpPr/>
          <p:nvPr/>
        </p:nvSpPr>
        <p:spPr>
          <a:xfrm>
            <a:off x="2779776" y="1042415"/>
            <a:ext cx="384048" cy="38404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1847088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1E5AA8"/>
          </a:solidFill>
          <a:ln w="2540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 Guardrail — client submits the prompt; first input guardrail runs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User types a natural-language question in the chat app.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Input guardrail checks content, policy &amp; prompt-injection.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No PII redaction at this step — that happens at the AI Hub.</a:t>
            </a:r>
          </a:p>
        </p:txBody>
      </p:sp>
      <p:sp>
        <p:nvSpPr>
          <p:cNvPr id="28" name="Oval 27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Clean requests are passed to the AI Agents.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789C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Chat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13448" y="3310128"/>
            <a:ext cx="4489703" cy="1280160"/>
          </a:xfrm>
          <a:prstGeom prst="roundRect">
            <a:avLst>
              <a:gd name="adj" fmla="val 18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FFFFFF"/>
                </a:solidFill>
                <a:latin typeface="Calibri"/>
              </a:rPr>
              <a:t>Show me transaction history for Somchai Jantapan, account 1234567890, last month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13448" y="4727448"/>
            <a:ext cx="4489703" cy="868680"/>
          </a:xfrm>
          <a:prstGeom prst="roundRect">
            <a:avLst>
              <a:gd name="adj" fmla="val 10000"/>
            </a:avLst>
          </a:prstGeom>
          <a:solidFill>
            <a:srgbClr val="F7E4E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0393D"/>
                </a:solidFill>
                <a:latin typeface="Calibri"/>
              </a:rPr>
              <a:t>Guardrail: </a:t>
            </a:r>
            <a:r>
              <a:rPr sz="1000" b="0" i="0">
                <a:solidFill>
                  <a:srgbClr val="1A2230"/>
                </a:solidFill>
                <a:latin typeface="Calibri"/>
              </a:rPr>
              <a:t>policy + prompt-injection checks. PII is NOT redacted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2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Router Agent Plans the Work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6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Router understands intent and routes to the Data Retrieval Agent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Router / Orchestrator interprets the user's intent.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Decides the request needs data retrieval first.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Hands the task to the Data Retrieval Agent.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Will orchestrate the remaining steps &amp; state.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76C4C4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🧭  Routing decision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548640"/>
          </a:xfrm>
          <a:prstGeom prst="roundRect">
            <a:avLst>
              <a:gd name="adj" fmla="val 10000"/>
            </a:avLst>
          </a:prstGeom>
          <a:solidFill>
            <a:srgbClr val="DEF1F1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1A9C9C"/>
                </a:solidFill>
                <a:latin typeface="Calibri"/>
              </a:rPr>
              <a:t>Intent: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retrieve transactions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58300" y="3904488"/>
            <a:ext cx="0" cy="274320"/>
          </a:xfrm>
          <a:prstGeom prst="line">
            <a:avLst/>
          </a:prstGeom>
          <a:ln w="25400">
            <a:solidFill>
              <a:srgbClr val="1A9C9C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013448" y="4224528"/>
            <a:ext cx="4489703" cy="548640"/>
          </a:xfrm>
          <a:prstGeom prst="roundRect">
            <a:avLst>
              <a:gd name="adj" fmla="val 1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→  Route to Data Retrieval Agent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13448" y="5001768"/>
            <a:ext cx="4489703" cy="50292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then → Analysis Agent (later)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3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Retrieval Agent Calls the AI Hub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7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Data Retrieval Agent sends the query request to the AI Hub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agent needs a SQL query generated for it.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It forwards the request to the central AI Hub.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Every model call goes through the Hub — one control point.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Hub will govern and protect this call.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76C4C4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📨  Request to AI Hub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173736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7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9752" y="3419856"/>
            <a:ext cx="421538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onsolas"/>
              </a:rPr>
              <a:t>POST </a:t>
            </a:r>
            <a:r>
              <a:rPr sz="1050" b="0" i="0">
                <a:solidFill>
                  <a:srgbClr val="1A2230"/>
                </a:solidFill>
                <a:latin typeface="Consolas"/>
              </a:rPr>
              <a:t>/ai-hub/generate-sql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onsolas"/>
              </a:rPr>
              <a:t>task: text-to-SQL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onsolas"/>
              </a:rPr>
              <a:t>prompt: "transactions for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onsolas"/>
              </a:rPr>
              <a:t>  Somchai J., acct 1234567890…"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4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AI Hub Secures the Input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8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Oval 18"/>
          <p:cNvSpPr/>
          <p:nvPr/>
        </p:nvSpPr>
        <p:spPr>
          <a:xfrm>
            <a:off x="7882127" y="1042415"/>
            <a:ext cx="384048" cy="38404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847088"/>
            <a:ext cx="1600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C0393D"/>
                </a:solidFill>
                <a:latin typeface="Calibri"/>
              </a:rPr>
              <a:t>PII guardrail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2540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🛡️ PII Guardrail — token counting, guardrails &amp; PII redaction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Counts input tokens for quota &amp; cost tracking.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Runs gateway guardrails and policy checks.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PII redaction is a guardrail — real values → placeholders.</a:t>
            </a:r>
          </a:p>
        </p:txBody>
      </p:sp>
      <p:sp>
        <p:nvSpPr>
          <p:cNvPr id="28" name="Oval 27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Only the redacted prompt is sent onward to the LLM.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DFC77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🛡️  PII guardrail — redact + tokens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13448" y="3310128"/>
            <a:ext cx="4489703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0393D"/>
                </a:solidFill>
                <a:latin typeface="Calibri"/>
              </a:rPr>
              <a:t>IN  </a:t>
            </a:r>
            <a:r>
              <a:rPr sz="1000" b="0" i="0">
                <a:solidFill>
                  <a:srgbClr val="1A2230"/>
                </a:solidFill>
                <a:latin typeface="Calibri"/>
              </a:rPr>
              <a:t>Somchai J. · acct 1234567890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58300" y="4059936"/>
            <a:ext cx="0" cy="210312"/>
          </a:xfrm>
          <a:prstGeom prst="line">
            <a:avLst/>
          </a:prstGeom>
          <a:ln w="25400">
            <a:solidFill>
              <a:srgbClr val="5A6677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013448" y="4315968"/>
            <a:ext cx="4489703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2E9E5B"/>
                </a:solidFill>
                <a:latin typeface="Calibri"/>
              </a:rPr>
              <a:t>OUT  </a:t>
            </a:r>
            <a:r>
              <a:rPr sz="1000" b="0" i="0">
                <a:solidFill>
                  <a:srgbClr val="1A2230"/>
                </a:solidFill>
                <a:latin typeface="Calibri"/>
              </a:rPr>
              <a:t>:NAME_001 · acct :ACCT_001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13448" y="5184648"/>
            <a:ext cx="4489703" cy="457200"/>
          </a:xfrm>
          <a:prstGeom prst="roundRect">
            <a:avLst>
              <a:gd name="adj" fmla="val 30000"/>
            </a:avLst>
          </a:prstGeom>
          <a:solidFill>
            <a:srgbClr val="F2E6BE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🔢 input tokens counted: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5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LLM Generates the SQL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9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provider model writes the query from the redacted prompt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6B4CA8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LLM receives placeholders only — never real PII.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6B4CA8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Generates parameterized, read-only SQL.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6B4CA8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Returns the generated SQL to the AI Hub.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6B4CA8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Output tokens are counted as well.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A694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Generated SQL (placeholders)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1783080"/>
          </a:xfrm>
          <a:prstGeom prst="roundRect">
            <a:avLst>
              <a:gd name="adj" fmla="val 4000"/>
            </a:avLst>
          </a:prstGeom>
          <a:solidFill>
            <a:srgbClr val="101A2B"/>
          </a:solidFill>
          <a:ln w="12700">
            <a:solidFill>
              <a:srgbClr val="142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3438144"/>
            <a:ext cx="4215383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SELECT </a:t>
            </a:r>
            <a:r>
              <a:rPr sz="1050" b="0">
                <a:solidFill>
                  <a:srgbClr val="FFFFFF"/>
                </a:solidFill>
                <a:latin typeface="Consolas"/>
              </a:rPr>
              <a:t>txn_date, amount, channel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FROM </a:t>
            </a:r>
            <a:r>
              <a:rPr sz="1050" b="0">
                <a:solidFill>
                  <a:srgbClr val="FFFFFF"/>
                </a:solidFill>
                <a:latin typeface="Consolas"/>
              </a:rPr>
              <a:t>transactions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WHERE </a:t>
            </a:r>
            <a:r>
              <a:rPr sz="1050" b="0">
                <a:solidFill>
                  <a:srgbClr val="FFFFFF"/>
                </a:solidFill>
                <a:latin typeface="Consolas"/>
              </a:rPr>
              <a:t>name = </a:t>
            </a:r>
            <a:r>
              <a:rPr sz="1050" b="1">
                <a:solidFill>
                  <a:srgbClr val="C9A227"/>
                </a:solidFill>
                <a:latin typeface="Consolas"/>
              </a:rPr>
              <a:t>:NAME_001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acct = </a:t>
            </a:r>
            <a:r>
              <a:rPr sz="1050" b="1">
                <a:solidFill>
                  <a:srgbClr val="C9A227"/>
                </a:solidFill>
                <a:latin typeface="Consolas"/>
              </a:rPr>
              <a:t>:ACCT_001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month = last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3448" y="5138928"/>
            <a:ext cx="44897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1">
                <a:solidFill>
                  <a:srgbClr val="6B4CA8"/>
                </a:solidFill>
                <a:latin typeface="Calibri"/>
              </a:rPr>
              <a:t>LLM sees placeholders only — no real PII.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6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AI Hub Re-inserts PII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10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Oval 18"/>
          <p:cNvSpPr/>
          <p:nvPr/>
        </p:nvSpPr>
        <p:spPr>
          <a:xfrm>
            <a:off x="7882127" y="1042415"/>
            <a:ext cx="384048" cy="38404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847088"/>
            <a:ext cx="1600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C0393D"/>
                </a:solidFill>
                <a:latin typeface="Calibri"/>
              </a:rPr>
              <a:t>PII guardrail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2540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🛡️ PII Guardrail — real values are restored into the SQL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PII re-insertion is also a guardrail at the Hub.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Maps placeholders back to the real values.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Uses the secure mapping kept for this request.</a:t>
            </a:r>
          </a:p>
        </p:txBody>
      </p:sp>
      <p:sp>
        <p:nvSpPr>
          <p:cNvPr id="28" name="Oval 27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Real PII never left the trust boundary.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DFC77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🛡️  PII guardrail — re-insert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13448" y="3310128"/>
            <a:ext cx="4489703" cy="1783080"/>
          </a:xfrm>
          <a:prstGeom prst="roundRect">
            <a:avLst>
              <a:gd name="adj" fmla="val 4000"/>
            </a:avLst>
          </a:prstGeom>
          <a:solidFill>
            <a:srgbClr val="101A2B"/>
          </a:solidFill>
          <a:ln w="12700">
            <a:solidFill>
              <a:srgbClr val="142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438144"/>
            <a:ext cx="4215383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SELECT </a:t>
            </a:r>
            <a:r>
              <a:rPr sz="1050" b="0">
                <a:solidFill>
                  <a:srgbClr val="FFFFFF"/>
                </a:solidFill>
                <a:latin typeface="Consolas"/>
              </a:rPr>
              <a:t>txn_date, amount, channel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FROM </a:t>
            </a:r>
            <a:r>
              <a:rPr sz="1050" b="0">
                <a:solidFill>
                  <a:srgbClr val="FFFFFF"/>
                </a:solidFill>
                <a:latin typeface="Consolas"/>
              </a:rPr>
              <a:t>transactions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WHERE </a:t>
            </a:r>
            <a:r>
              <a:rPr sz="1050" b="0">
                <a:solidFill>
                  <a:srgbClr val="FFFFFF"/>
                </a:solidFill>
                <a:latin typeface="Consolas"/>
              </a:rPr>
              <a:t>name = </a:t>
            </a:r>
            <a:r>
              <a:rPr sz="1050" b="1">
                <a:solidFill>
                  <a:srgbClr val="E3F3E9"/>
                </a:solidFill>
                <a:latin typeface="Consolas"/>
              </a:rPr>
              <a:t>'Somchai J.'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acct = </a:t>
            </a:r>
            <a:r>
              <a:rPr sz="1050" b="1">
                <a:solidFill>
                  <a:srgbClr val="E3F3E9"/>
                </a:solidFill>
                <a:latin typeface="Consolas"/>
              </a:rPr>
              <a:t>'1234567890'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month = last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5138928"/>
            <a:ext cx="44897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1">
                <a:solidFill>
                  <a:srgbClr val="2E9E5B"/>
                </a:solidFill>
                <a:latin typeface="Calibri"/>
              </a:rPr>
              <a:t>Placeholders → real values, ready to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7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SQL Returns to the Agent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11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AI Hub sends the completed SQL back to the Retrieval Agent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ready-to-run SQL is returned to the agent.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Retrieval Agent receives it from the Hub.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exchange is logged and traced.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Next: execute it against the database.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DFC77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↩️  SQL handed 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1783080"/>
          </a:xfrm>
          <a:prstGeom prst="roundRect">
            <a:avLst>
              <a:gd name="adj" fmla="val 4000"/>
            </a:avLst>
          </a:prstGeom>
          <a:solidFill>
            <a:srgbClr val="101A2B"/>
          </a:solidFill>
          <a:ln w="12700">
            <a:solidFill>
              <a:srgbClr val="142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3438144"/>
            <a:ext cx="4215383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SELECT </a:t>
            </a:r>
            <a:r>
              <a:rPr sz="1050" b="0">
                <a:solidFill>
                  <a:srgbClr val="FFFFFF"/>
                </a:solidFill>
                <a:latin typeface="Consolas"/>
              </a:rPr>
              <a:t>txn_date, amount, channel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FROM </a:t>
            </a:r>
            <a:r>
              <a:rPr sz="1050" b="0">
                <a:solidFill>
                  <a:srgbClr val="FFFFFF"/>
                </a:solidFill>
                <a:latin typeface="Consolas"/>
              </a:rPr>
              <a:t>transactions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WHERE </a:t>
            </a:r>
            <a:r>
              <a:rPr sz="1050" b="0">
                <a:solidFill>
                  <a:srgbClr val="FFFFFF"/>
                </a:solidFill>
                <a:latin typeface="Consolas"/>
              </a:rPr>
              <a:t>name = </a:t>
            </a:r>
            <a:r>
              <a:rPr sz="1050" b="1">
                <a:solidFill>
                  <a:srgbClr val="E3F3E9"/>
                </a:solidFill>
                <a:latin typeface="Consolas"/>
              </a:rPr>
              <a:t>'Somchai J.'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acct = </a:t>
            </a:r>
            <a:r>
              <a:rPr sz="1050" b="1">
                <a:solidFill>
                  <a:srgbClr val="E3F3E9"/>
                </a:solidFill>
                <a:latin typeface="Consolas"/>
              </a:rPr>
              <a:t>'1234567890'</a:t>
            </a:r>
          </a:p>
          <a:p>
            <a:pPr>
              <a:spcAft>
                <a:spcPts val="100"/>
              </a:spcAft>
              <a:buNone/>
            </a:pPr>
            <a:r>
              <a:rPr sz="10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050" b="0">
                <a:solidFill>
                  <a:srgbClr val="FFFFFF"/>
                </a:solidFill>
                <a:latin typeface="Consolas"/>
              </a:rPr>
              <a:t>month = last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13448" y="5184648"/>
            <a:ext cx="4489703" cy="457200"/>
          </a:xfrm>
          <a:prstGeom prst="roundRect">
            <a:avLst>
              <a:gd name="adj" fmla="val 3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→ delivered to Data Retrieval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8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Retrieval Agent Queries the Database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12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2E9E5B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Run the SQL to fetch the customer's data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Read-only query with row-level access scope.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Returns the matching transaction rows.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No LLM is involved in data access itself.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Results are handed to the Analysis Agent.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82C59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Query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13448" y="3310128"/>
            <a:ext cx="1526499" cy="457200"/>
          </a:xfrm>
          <a:prstGeom prst="rect">
            <a:avLst/>
          </a:prstGeom>
          <a:solidFill>
            <a:srgbClr val="2E9E5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39947" y="3310128"/>
            <a:ext cx="1526499" cy="457200"/>
          </a:xfrm>
          <a:prstGeom prst="rect">
            <a:avLst/>
          </a:prstGeom>
          <a:solidFill>
            <a:srgbClr val="2E9E5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66446" y="3310128"/>
            <a:ext cx="1436705" cy="457200"/>
          </a:xfrm>
          <a:prstGeom prst="rect">
            <a:avLst/>
          </a:prstGeom>
          <a:solidFill>
            <a:srgbClr val="2E9E5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13448" y="3767328"/>
            <a:ext cx="1526499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05 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39947" y="3767328"/>
            <a:ext cx="1526499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− 1,200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66446" y="3767328"/>
            <a:ext cx="1436705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ATM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13448" y="4224528"/>
            <a:ext cx="152649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12 Jun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39947" y="4224528"/>
            <a:ext cx="152649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+ 8,500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66446" y="4224528"/>
            <a:ext cx="143670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Transfer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13448" y="4681728"/>
            <a:ext cx="1526499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21 Jun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39947" y="4681728"/>
            <a:ext cx="1526499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− 350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66446" y="4681728"/>
            <a:ext cx="1436705" cy="457200"/>
          </a:xfrm>
          <a:prstGeom prst="rect">
            <a:avLst/>
          </a:prstGeom>
          <a:solidFill>
            <a:srgbClr val="E3F3E9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QR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3448" y="5184648"/>
            <a:ext cx="44897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1">
                <a:solidFill>
                  <a:srgbClr val="2E9E5B"/>
                </a:solidFill>
                <a:latin typeface="Calibri"/>
              </a:rPr>
              <a:t>14 transactions returned (sample).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9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Analysis Agent Writes the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381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Analyse the data and compose a natural-language response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Analysis Agent reviews the returned rows.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Generates the answer via AI Hub → LLM (PII-safe).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Summarises the result in clear language.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A9C9C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Prepares the response for delivery.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76C4C4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📊  Draft 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2103120"/>
          </a:xfrm>
          <a:prstGeom prst="roundRect">
            <a:avLst>
              <a:gd name="adj" fmla="val 12000"/>
            </a:avLst>
          </a:prstGeom>
          <a:solidFill>
            <a:srgbClr val="DEF1F1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"Last month Somchai had 14 transactions totalling ฿7,950 net — mostly QR payments, with one ฿8,500 transfer in on 12 Jun."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10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Output Guardrail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14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Oval 18"/>
          <p:cNvSpPr/>
          <p:nvPr/>
        </p:nvSpPr>
        <p:spPr>
          <a:xfrm>
            <a:off x="2779776" y="1042415"/>
            <a:ext cx="384048" cy="38404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1847088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C0393D"/>
          </a:solidFill>
          <a:ln w="2540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 Guardrail — check the response before it leaves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ECC4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Scan the answer for any leaked PII.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ECC4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Toxicity and safety screening.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ECC4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Confirm it is grounded in the retrieved data.</a:t>
            </a:r>
          </a:p>
        </p:txBody>
      </p:sp>
      <p:sp>
        <p:nvSpPr>
          <p:cNvPr id="28" name="Oval 27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ECC4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Attach any required disclosures.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D9888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🛡️  Output checks</a:t>
            </a:r>
          </a:p>
        </p:txBody>
      </p:sp>
      <p:sp>
        <p:nvSpPr>
          <p:cNvPr id="33" name="Oval 32"/>
          <p:cNvSpPr/>
          <p:nvPr/>
        </p:nvSpPr>
        <p:spPr>
          <a:xfrm>
            <a:off x="7013448" y="3310128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3328416"/>
            <a:ext cx="384962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No leaked PII</a:t>
            </a:r>
          </a:p>
        </p:txBody>
      </p:sp>
      <p:sp>
        <p:nvSpPr>
          <p:cNvPr id="35" name="Oval 34"/>
          <p:cNvSpPr/>
          <p:nvPr/>
        </p:nvSpPr>
        <p:spPr>
          <a:xfrm>
            <a:off x="7013448" y="3877056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3895344"/>
            <a:ext cx="384962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Safe &amp; non-toxic</a:t>
            </a:r>
          </a:p>
        </p:txBody>
      </p:sp>
      <p:sp>
        <p:nvSpPr>
          <p:cNvPr id="37" name="Oval 36"/>
          <p:cNvSpPr/>
          <p:nvPr/>
        </p:nvSpPr>
        <p:spPr>
          <a:xfrm>
            <a:off x="7013448" y="4443984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4462272"/>
            <a:ext cx="384962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Grounded in the data</a:t>
            </a:r>
          </a:p>
        </p:txBody>
      </p:sp>
      <p:sp>
        <p:nvSpPr>
          <p:cNvPr id="39" name="Oval 38"/>
          <p:cNvSpPr/>
          <p:nvPr/>
        </p:nvSpPr>
        <p:spPr>
          <a:xfrm>
            <a:off x="7013448" y="5010912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6368" y="5029200"/>
            <a:ext cx="384962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Disclosure attached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11 OF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Client Shows the Result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15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95360" y="1554480"/>
            <a:ext cx="365760" cy="0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2801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 w="3175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280160"/>
            <a:ext cx="2651760" cy="548640"/>
          </a:xfrm>
          <a:prstGeom prst="roundRect">
            <a:avLst>
              <a:gd name="adj" fmla="val 50000"/>
            </a:avLst>
          </a:prstGeom>
          <a:solidFill>
            <a:srgbClr val="BA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🤖 AI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FE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🏛️ AI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28016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D3C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8A939F"/>
                </a:solidFill>
                <a:latin typeface="Calibri"/>
              </a:rPr>
              <a:t>🧠 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1828800"/>
            <a:ext cx="0" cy="292608"/>
          </a:xfrm>
          <a:prstGeom prst="line">
            <a:avLst/>
          </a:prstGeom>
          <a:ln w="19050">
            <a:solidFill>
              <a:srgbClr val="C4CCD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n 17"/>
          <p:cNvSpPr/>
          <p:nvPr/>
        </p:nvSpPr>
        <p:spPr>
          <a:xfrm>
            <a:off x="3703320" y="2121408"/>
            <a:ext cx="1645920" cy="457200"/>
          </a:xfrm>
          <a:prstGeom prst="can">
            <a:avLst/>
          </a:prstGeom>
          <a:solidFill>
            <a:srgbClr val="C0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🗄️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24912"/>
            <a:ext cx="5989320" cy="603504"/>
          </a:xfrm>
          <a:prstGeom prst="roundRect">
            <a:avLst>
              <a:gd name="adj" fmla="val 12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user sees the final answer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" y="3566160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4747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Response is streamed back to the chat UI.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169663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078224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Presented in clear natural language.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" y="4773168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81728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full interaction is logged for audit.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5376672"/>
            <a:ext cx="237744" cy="237744"/>
          </a:xfrm>
          <a:prstGeom prst="ellipse">
            <a:avLst/>
          </a:prstGeom>
          <a:solidFill>
            <a:srgbClr val="BCC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85232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Session is ready for the next question.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2743200"/>
            <a:ext cx="48920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789C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812280" y="2743200"/>
            <a:ext cx="4892040" cy="457200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2743200"/>
            <a:ext cx="48920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Final 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13448" y="3310128"/>
            <a:ext cx="4489703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28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Last month, Somchai Jantapan (acct 1234567890) made 14 transactions, ฿7,950 net. Want a breakdown by channel?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Guardrails Across the Flow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16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7899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Four guardrail points — and PII redaction &amp; re-insertion at the AI Hub count as guardrails too.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3611880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0393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48640" y="1600200"/>
            <a:ext cx="3611880" cy="868680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0393D"/>
                </a:solidFill>
                <a:latin typeface="Calibri"/>
              </a:rP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1 · Input Guardrail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CLIENT → AGENTS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269748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Content &amp; policy moderation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324612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19125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Prompt-injection / jailbreak checks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" y="379476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73989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Scope &amp; intent validation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434340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28853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No PII redaction at this step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1600200"/>
            <a:ext cx="3611880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9A227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343400" y="1600200"/>
            <a:ext cx="3611880" cy="86868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9A227"/>
                </a:solidFill>
                <a:latin typeface="Calibri"/>
              </a:rPr>
              <a:t>🏛️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0B1F3A"/>
                </a:solidFill>
                <a:latin typeface="Calibri"/>
              </a:rPr>
              <a:t>2 · PII Guardrail · AI 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0B1F3A"/>
                </a:solidFill>
                <a:latin typeface="Calibri"/>
              </a:rPr>
              <a:t>redact + re-insert</a:t>
            </a:r>
          </a:p>
        </p:txBody>
      </p:sp>
      <p:sp>
        <p:nvSpPr>
          <p:cNvPr id="29" name="Oval 28"/>
          <p:cNvSpPr/>
          <p:nvPr/>
        </p:nvSpPr>
        <p:spPr>
          <a:xfrm>
            <a:off x="4599432" y="269748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519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PII redaction = a guardrail</a:t>
            </a:r>
          </a:p>
        </p:txBody>
      </p:sp>
      <p:sp>
        <p:nvSpPr>
          <p:cNvPr id="31" name="Oval 30"/>
          <p:cNvSpPr/>
          <p:nvPr/>
        </p:nvSpPr>
        <p:spPr>
          <a:xfrm>
            <a:off x="4599432" y="324612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5192" y="319125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PII re-insertion = a guardrail</a:t>
            </a:r>
          </a:p>
        </p:txBody>
      </p:sp>
      <p:sp>
        <p:nvSpPr>
          <p:cNvPr id="33" name="Oval 32"/>
          <p:cNvSpPr/>
          <p:nvPr/>
        </p:nvSpPr>
        <p:spPr>
          <a:xfrm>
            <a:off x="4599432" y="379476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5192" y="373989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LLM sees placeholders only</a:t>
            </a:r>
          </a:p>
        </p:txBody>
      </p:sp>
      <p:sp>
        <p:nvSpPr>
          <p:cNvPr id="35" name="Oval 34"/>
          <p:cNvSpPr/>
          <p:nvPr/>
        </p:nvSpPr>
        <p:spPr>
          <a:xfrm>
            <a:off x="4599432" y="434340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65192" y="428853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Plus token counting per call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1600200"/>
            <a:ext cx="3611880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E9E5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8138160" y="1600200"/>
            <a:ext cx="3611880" cy="868680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6676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2E9E5B"/>
                </a:solidFill>
                <a:latin typeface="Calibri"/>
              </a:rPr>
              <a:t>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3 · Output Guardrail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AGENTS → CLIENT</a:t>
            </a:r>
          </a:p>
        </p:txBody>
      </p:sp>
      <p:sp>
        <p:nvSpPr>
          <p:cNvPr id="42" name="Oval 41"/>
          <p:cNvSpPr/>
          <p:nvPr/>
        </p:nvSpPr>
        <p:spPr>
          <a:xfrm>
            <a:off x="8394192" y="269748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5995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Checks for leaked PII</a:t>
            </a:r>
          </a:p>
        </p:txBody>
      </p:sp>
      <p:sp>
        <p:nvSpPr>
          <p:cNvPr id="44" name="Oval 43"/>
          <p:cNvSpPr/>
          <p:nvPr/>
        </p:nvSpPr>
        <p:spPr>
          <a:xfrm>
            <a:off x="8394192" y="324612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319125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Toxicity &amp; safety screening</a:t>
            </a:r>
          </a:p>
        </p:txBody>
      </p:sp>
      <p:sp>
        <p:nvSpPr>
          <p:cNvPr id="46" name="Oval 45"/>
          <p:cNvSpPr/>
          <p:nvPr/>
        </p:nvSpPr>
        <p:spPr>
          <a:xfrm>
            <a:off x="8394192" y="379476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59952" y="373989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Grounded / no hallucination</a:t>
            </a:r>
          </a:p>
        </p:txBody>
      </p:sp>
      <p:sp>
        <p:nvSpPr>
          <p:cNvPr id="48" name="Oval 47"/>
          <p:cNvSpPr/>
          <p:nvPr/>
        </p:nvSpPr>
        <p:spPr>
          <a:xfrm>
            <a:off x="8394192" y="434340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9952" y="428853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Required disclosures attached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440680"/>
            <a:ext cx="11109960" cy="713232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Key point: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real customer PII reaches the LLM only as redacted placeholders — the AI Hub re-inserts the real values, so sensitive data never leaves the trust boundary.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109270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89C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63040"/>
            <a:ext cx="128016" cy="84124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1655064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54480"/>
            <a:ext cx="374903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One simple 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554480"/>
            <a:ext cx="5943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Client → Agents → AI Hub → LLM, with the Database beside the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14016"/>
            <a:ext cx="109270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6C4C4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414016"/>
            <a:ext cx="128016" cy="841248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606040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505456"/>
            <a:ext cx="374903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Agents do the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505456"/>
            <a:ext cx="5943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A Router, a Retrieval agent and an Analysis agent split the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64992"/>
            <a:ext cx="109270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FC77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364992"/>
            <a:ext cx="128016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6112" y="3557016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0B1F3A"/>
                </a:solidFill>
                <a:latin typeface="Calibri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456432"/>
            <a:ext cx="374903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The AI Hub is the control 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456432"/>
            <a:ext cx="5943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Token counting, guardrails and PII redaction / re-insertion live here.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15968"/>
            <a:ext cx="109270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A694CB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15968"/>
            <a:ext cx="128016" cy="841248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112" y="4507992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407408"/>
            <a:ext cx="374903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PII never leaves the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407408"/>
            <a:ext cx="5943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The LLM only ever sees placeholders; real values are restored by the Hub.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66944"/>
            <a:ext cx="109270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2C59D"/>
            </a:solidFill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266944"/>
            <a:ext cx="128016" cy="84124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6112" y="5458968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358383"/>
            <a:ext cx="374903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Guardrails top and tail the 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5358383"/>
            <a:ext cx="5943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An input check (no PII) and an output check protect every request.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114800"/>
            <a:ext cx="16459200" cy="301752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0058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Simple Chain, Strong Controls.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Client → Agents → AI Hub → LLM, with the Database beside the agents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and PII protected at the Hub on every model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3756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0644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7532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91840" y="5440680"/>
            <a:ext cx="228600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34840" y="5212080"/>
            <a:ext cx="0" cy="210312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Thank you  ·  AI Technology Team  ·  Questions welcome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