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7680960" y="-1371600"/>
            <a:ext cx="6400800" cy="9601200"/>
          </a:xfrm>
          <a:prstGeom prst="parallelogram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09728" cy="2286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77724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◆  BANGKOK BANK · InnoHub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73152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4400" b="1" i="0">
                <a:solidFill>
                  <a:srgbClr val="FFFFFF"/>
                </a:solidFill>
                <a:latin typeface="Calibri"/>
              </a:rPr>
              <a:t>AI Chat Application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4400" b="1" i="0">
                <a:solidFill>
                  <a:srgbClr val="C9A227"/>
                </a:solidFill>
                <a:latin typeface="Calibri"/>
              </a:rPr>
              <a:t>Architecture — Simplified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800" b="0" i="0">
                <a:solidFill>
                  <a:srgbClr val="E8F1FB"/>
                </a:solidFill>
                <a:latin typeface="Calibri"/>
              </a:rPr>
              <a:t>How a question flows across the agents, the AI Hub and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>
                <a:solidFill>
                  <a:srgbClr val="E8F1FB"/>
                </a:solidFill>
                <a:latin typeface="Calibri"/>
              </a:rPr>
              <a:t>the LLM — with PII protected at the Hub.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57200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💻 CLIENT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4846320"/>
            <a:ext cx="164592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64992" y="457200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13832" y="4846320"/>
            <a:ext cx="164592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78424" y="457200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27264" y="4846320"/>
            <a:ext cx="164592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91856" y="457200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LLM</a:t>
            </a:r>
          </a:p>
        </p:txBody>
      </p:sp>
      <p:sp>
        <p:nvSpPr>
          <p:cNvPr id="14" name="Can 13"/>
          <p:cNvSpPr/>
          <p:nvPr/>
        </p:nvSpPr>
        <p:spPr>
          <a:xfrm>
            <a:off x="3246120" y="5349240"/>
            <a:ext cx="2148840" cy="502920"/>
          </a:xfrm>
          <a:prstGeom prst="can">
            <a:avLst/>
          </a:prstGeom>
          <a:solidFill>
            <a:srgbClr val="2E9E5B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🗄️ DATABASE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0248" y="5138928"/>
            <a:ext cx="0" cy="192024"/>
          </a:xfrm>
          <a:prstGeom prst="line">
            <a:avLst/>
          </a:prstGeom>
          <a:ln w="25400">
            <a:solidFill>
              <a:srgbClr val="2E9E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60807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0">
                <a:solidFill>
                  <a:srgbClr val="5A6677"/>
                </a:solidFill>
                <a:latin typeface="Calibri"/>
              </a:rPr>
              <a:t>Executive Briefing  ·  AI Technology Team  · 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Calibri"/>
              </a:rPr>
              <a:t>The Building Blocks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2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9728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Four components in a simple chain — the Database sits next to the agents.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9456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1E5A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i="0">
                <a:solidFill>
                  <a:srgbClr val="FFFFFF"/>
                </a:solidFill>
                <a:latin typeface="Calibri"/>
              </a:rPr>
              <a:t>💻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CLIENT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0" i="0">
                <a:solidFill>
                  <a:srgbClr val="E8F1FB"/>
                </a:solidFill>
                <a:latin typeface="Calibri"/>
              </a:rPr>
              <a:t>web / mobile chat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1874519"/>
            <a:ext cx="3246120" cy="2194560"/>
          </a:xfrm>
          <a:prstGeom prst="roundRect">
            <a:avLst>
              <a:gd name="adj" fmla="val 6000"/>
            </a:avLst>
          </a:prstGeom>
          <a:solidFill>
            <a:srgbClr val="DEF1F1"/>
          </a:solidFill>
          <a:ln w="20320">
            <a:solidFill>
              <a:srgbClr val="1A9C9C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63240" y="1874519"/>
            <a:ext cx="3246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1A9C9C"/>
                </a:solidFill>
                <a:latin typeface="Calibri"/>
              </a:rPr>
              <a:t>🤖  AI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2377439"/>
            <a:ext cx="2880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9C9C"/>
                </a:solidFill>
                <a:latin typeface="Calibri"/>
              </a:rPr>
              <a:t>🧭  </a:t>
            </a:r>
            <a:r>
              <a:rPr sz="1050" b="1" i="0">
                <a:solidFill>
                  <a:srgbClr val="0B1F3A"/>
                </a:solidFill>
                <a:latin typeface="Calibri"/>
              </a:rPr>
              <a:t>Router / Orchestrator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2907791"/>
            <a:ext cx="2880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9C9C"/>
                </a:solidFill>
                <a:latin typeface="Calibri"/>
              </a:rPr>
              <a:t>🔎  </a:t>
            </a:r>
            <a:r>
              <a:rPr sz="1050" b="1" i="0">
                <a:solidFill>
                  <a:srgbClr val="0B1F3A"/>
                </a:solidFill>
                <a:latin typeface="Calibri"/>
              </a:rPr>
              <a:t>Data Retrieval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6120" y="3438144"/>
            <a:ext cx="2880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9C9C"/>
                </a:solidFill>
                <a:latin typeface="Calibri"/>
              </a:rPr>
              <a:t>📊  </a:t>
            </a:r>
            <a:r>
              <a:rPr sz="1050" b="1" i="0">
                <a:solidFill>
                  <a:srgbClr val="0B1F3A"/>
                </a:solidFill>
                <a:latin typeface="Calibri"/>
              </a:rPr>
              <a:t>Analysis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057400"/>
            <a:ext cx="2331720" cy="1828800"/>
          </a:xfrm>
          <a:prstGeom prst="roundRect">
            <a:avLst>
              <a:gd name="adj" fmla="val 8000"/>
            </a:avLst>
          </a:prstGeom>
          <a:solidFill>
            <a:srgbClr val="C9A227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03720" y="2130552"/>
            <a:ext cx="23317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🏛️  AI HUB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59168" y="2587752"/>
            <a:ext cx="2011680" cy="329184"/>
          </a:xfrm>
          <a:prstGeom prst="roundRect">
            <a:avLst>
              <a:gd name="adj" fmla="val 30000"/>
            </a:avLst>
          </a:prstGeom>
          <a:solidFill>
            <a:srgbClr val="FD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0B1F3A"/>
                </a:solidFill>
                <a:latin typeface="Calibri"/>
              </a:rPr>
              <a:t>🔢  Token counting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2971800"/>
            <a:ext cx="2011680" cy="329184"/>
          </a:xfrm>
          <a:prstGeom prst="roundRect">
            <a:avLst>
              <a:gd name="adj" fmla="val 30000"/>
            </a:avLst>
          </a:prstGeom>
          <a:solidFill>
            <a:srgbClr val="FD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0B1F3A"/>
                </a:solidFill>
                <a:latin typeface="Calibri"/>
              </a:rPr>
              <a:t>🎭  PII redact / re-insert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59168" y="3355848"/>
            <a:ext cx="2011680" cy="329184"/>
          </a:xfrm>
          <a:prstGeom prst="roundRect">
            <a:avLst>
              <a:gd name="adj" fmla="val 30000"/>
            </a:avLst>
          </a:prstGeom>
          <a:solidFill>
            <a:srgbClr val="FD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0B1F3A"/>
                </a:solidFill>
                <a:latin typeface="Calibri"/>
              </a:rPr>
              <a:t>🛡️  Guardrails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9800" y="2194560"/>
            <a:ext cx="1874519" cy="1188720"/>
          </a:xfrm>
          <a:prstGeom prst="roundRect">
            <a:avLst>
              <a:gd name="adj" fmla="val 12000"/>
            </a:avLst>
          </a:prstGeom>
          <a:solidFill>
            <a:srgbClr val="6B4C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i="0">
                <a:solidFill>
                  <a:srgbClr val="FFFFFF"/>
                </a:solidFill>
                <a:latin typeface="Calibri"/>
              </a:rPr>
              <a:t>🧠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LLM PROVIDER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0" i="0">
                <a:solidFill>
                  <a:srgbClr val="ECE6F6"/>
                </a:solidFill>
                <a:latin typeface="Calibri"/>
              </a:rPr>
              <a:t>generates SQL &amp; text</a:t>
            </a:r>
          </a:p>
        </p:txBody>
      </p:sp>
      <p:sp>
        <p:nvSpPr>
          <p:cNvPr id="23" name="Can 22"/>
          <p:cNvSpPr/>
          <p:nvPr/>
        </p:nvSpPr>
        <p:spPr>
          <a:xfrm>
            <a:off x="3657600" y="4572000"/>
            <a:ext cx="2057400" cy="960120"/>
          </a:xfrm>
          <a:prstGeom prst="can">
            <a:avLst/>
          </a:prstGeom>
          <a:solidFill>
            <a:srgbClr val="2E9E5B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🗄️  DATABASE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87168" y="2788920"/>
            <a:ext cx="557784" cy="0"/>
          </a:xfrm>
          <a:prstGeom prst="line">
            <a:avLst/>
          </a:prstGeom>
          <a:ln w="31750">
            <a:solidFill>
              <a:srgbClr val="0B1F3A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327648" y="2788920"/>
            <a:ext cx="557784" cy="0"/>
          </a:xfrm>
          <a:prstGeom prst="line">
            <a:avLst/>
          </a:prstGeom>
          <a:ln w="31750">
            <a:solidFill>
              <a:srgbClr val="0B1F3A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3728" y="2788920"/>
            <a:ext cx="557784" cy="0"/>
          </a:xfrm>
          <a:prstGeom prst="line">
            <a:avLst/>
          </a:prstGeom>
          <a:ln w="31750">
            <a:solidFill>
              <a:srgbClr val="0B1F3A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663440" y="4087368"/>
            <a:ext cx="0" cy="466344"/>
          </a:xfrm>
          <a:prstGeom prst="line">
            <a:avLst/>
          </a:prstGeom>
          <a:ln w="31750">
            <a:solidFill>
              <a:srgbClr val="2E9E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2560320" y="2286000"/>
            <a:ext cx="420624" cy="420624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16052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F7E4E4"/>
          </a:solidFill>
          <a:ln w="1270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0" i="0">
                <a:solidFill>
                  <a:srgbClr val="1A2230"/>
                </a:solidFill>
                <a:latin typeface="Calibri"/>
              </a:rPr>
              <a:t>🛡️ Input &amp; output guardrails run here — no PII redaction at this step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4160520"/>
            <a:ext cx="2834640" cy="777240"/>
          </a:xfrm>
          <a:prstGeom prst="roundRect">
            <a:avLst>
              <a:gd name="adj" fmla="val 10000"/>
            </a:avLst>
          </a:prstGeom>
          <a:solidFill>
            <a:srgbClr val="F2E6BE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0" i="0">
                <a:solidFill>
                  <a:srgbClr val="1A2230"/>
                </a:solidFill>
                <a:latin typeface="Calibri"/>
              </a:rPr>
              <a:t>🎭 PII is redacted before the LLM and re-inserted after — only at the AI Hub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044183"/>
            <a:ext cx="274320" cy="14630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952744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1A2230"/>
                </a:solidFill>
                <a:latin typeface="Calibri"/>
              </a:rPr>
              <a:t>Request / Response (bi-directional)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6044183"/>
            <a:ext cx="274320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49040" y="5952744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1A2230"/>
                </a:solidFill>
                <a:latin typeface="Calibri"/>
              </a:rPr>
              <a:t>PII boundary at AI 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6044183"/>
            <a:ext cx="274320" cy="146304"/>
          </a:xfrm>
          <a:prstGeom prst="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5952744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1A2230"/>
                </a:solidFill>
                <a:latin typeface="Calibri"/>
              </a:rPr>
              <a:t>Guardrails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60" y="6044183"/>
            <a:ext cx="274320" cy="14630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0" y="5952744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1A2230"/>
                </a:solidFill>
                <a:latin typeface="Calibri"/>
              </a:rPr>
              <a:t>Data access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END-TO-END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Calibri"/>
              </a:rPr>
              <a:t>How One Request Is Answered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3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97280"/>
            <a:ext cx="11247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Eleven steps from the user's question to the answer on screen.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1563624"/>
            <a:ext cx="457200" cy="457200"/>
          </a:xfrm>
          <a:prstGeom prst="ellipse">
            <a:avLst/>
          </a:prstGeom>
          <a:solidFill>
            <a:srgbClr val="C0393D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9848" y="1600200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F1D3D4"/>
          </a:solidFill>
          <a:ln w="1270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C0393D"/>
                </a:solidFill>
                <a:latin typeface="Calibri"/>
              </a:rPr>
              <a:t>GUARDRAIL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6312" y="1508760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User submits the request; the first input guardrail runs (no PII redaction yet).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2331720"/>
            <a:ext cx="457200" cy="457200"/>
          </a:xfrm>
          <a:prstGeom prst="ellipse">
            <a:avLst/>
          </a:prstGeom>
          <a:solidFill>
            <a:srgbClr val="1A9C9C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9848" y="2368296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CDE9E9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6312" y="2276856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Router agent reads the prompt and routes it to the Data Retrieval agent 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3099816"/>
            <a:ext cx="457200" cy="457200"/>
          </a:xfrm>
          <a:prstGeom prst="ellipse">
            <a:avLst/>
          </a:prstGeom>
          <a:solidFill>
            <a:srgbClr val="C9A227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9848" y="3136392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F3EBC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AI 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96312" y="3044952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Data Retrieval agent sends the query request to the AI Hub.</a:t>
            </a:r>
          </a:p>
        </p:txBody>
      </p:sp>
      <p:sp>
        <p:nvSpPr>
          <p:cNvPr id="20" name="Oval 19"/>
          <p:cNvSpPr/>
          <p:nvPr/>
        </p:nvSpPr>
        <p:spPr>
          <a:xfrm>
            <a:off x="502920" y="3867911"/>
            <a:ext cx="457200" cy="457200"/>
          </a:xfrm>
          <a:prstGeom prst="ellipse">
            <a:avLst/>
          </a:prstGeom>
          <a:solidFill>
            <a:srgbClr val="C9A227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69848" y="3904487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F3EBC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AI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6312" y="3813048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AI Hub counts input tokens, runs guardrails, and redacts PII.</a:t>
            </a:r>
          </a:p>
        </p:txBody>
      </p:sp>
      <p:sp>
        <p:nvSpPr>
          <p:cNvPr id="23" name="Oval 22"/>
          <p:cNvSpPr/>
          <p:nvPr/>
        </p:nvSpPr>
        <p:spPr>
          <a:xfrm>
            <a:off x="502920" y="4636007"/>
            <a:ext cx="457200" cy="457200"/>
          </a:xfrm>
          <a:prstGeom prst="ellipse">
            <a:avLst/>
          </a:prstGeom>
          <a:solidFill>
            <a:srgbClr val="6B4C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9848" y="4672583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DED8EC"/>
          </a:solidFill>
          <a:ln w="12700">
            <a:solidFill>
              <a:srgbClr val="6B4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LLM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96312" y="4581144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LLM provider generates the SQL from the redacted prompt.</a:t>
            </a:r>
          </a:p>
        </p:txBody>
      </p:sp>
      <p:sp>
        <p:nvSpPr>
          <p:cNvPr id="26" name="Oval 25"/>
          <p:cNvSpPr/>
          <p:nvPr/>
        </p:nvSpPr>
        <p:spPr>
          <a:xfrm>
            <a:off x="502920" y="5404103"/>
            <a:ext cx="457200" cy="457200"/>
          </a:xfrm>
          <a:prstGeom prst="ellipse">
            <a:avLst/>
          </a:prstGeom>
          <a:solidFill>
            <a:srgbClr val="C9A227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69848" y="5440679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F3EBC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AI 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96312" y="5349240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AI Hub re-inserts the PII into the generated SQL.</a:t>
            </a:r>
          </a:p>
        </p:txBody>
      </p:sp>
      <p:sp>
        <p:nvSpPr>
          <p:cNvPr id="29" name="Oval 28"/>
          <p:cNvSpPr/>
          <p:nvPr/>
        </p:nvSpPr>
        <p:spPr>
          <a:xfrm>
            <a:off x="6217920" y="1563624"/>
            <a:ext cx="457200" cy="457200"/>
          </a:xfrm>
          <a:prstGeom prst="ellipse">
            <a:avLst/>
          </a:prstGeom>
          <a:solidFill>
            <a:srgbClr val="1A9C9C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84848" y="1600200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CDE9E9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AGENTS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1508760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AI Hub sends the SQL back to the Retrieval agent.</a:t>
            </a:r>
          </a:p>
        </p:txBody>
      </p:sp>
      <p:sp>
        <p:nvSpPr>
          <p:cNvPr id="32" name="Oval 31"/>
          <p:cNvSpPr/>
          <p:nvPr/>
        </p:nvSpPr>
        <p:spPr>
          <a:xfrm>
            <a:off x="6217920" y="2331720"/>
            <a:ext cx="457200" cy="457200"/>
          </a:xfrm>
          <a:prstGeom prst="ellipse">
            <a:avLst/>
          </a:prstGeom>
          <a:solidFill>
            <a:srgbClr val="2E9E5B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84848" y="2368296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D1EADB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DB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2276856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Retrieval agent runs the SQL against the Database to fetch the data.</a:t>
            </a:r>
          </a:p>
        </p:txBody>
      </p:sp>
      <p:sp>
        <p:nvSpPr>
          <p:cNvPr id="35" name="Oval 34"/>
          <p:cNvSpPr/>
          <p:nvPr/>
        </p:nvSpPr>
        <p:spPr>
          <a:xfrm>
            <a:off x="6217920" y="3099816"/>
            <a:ext cx="457200" cy="457200"/>
          </a:xfrm>
          <a:prstGeom prst="ellipse">
            <a:avLst/>
          </a:prstGeom>
          <a:solidFill>
            <a:srgbClr val="1A9C9C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84848" y="3136392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CDE9E9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AGENTS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3044952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Analysis agent analyses the data and writes the final natural-language response.</a:t>
            </a:r>
          </a:p>
        </p:txBody>
      </p:sp>
      <p:sp>
        <p:nvSpPr>
          <p:cNvPr id="38" name="Oval 37"/>
          <p:cNvSpPr/>
          <p:nvPr/>
        </p:nvSpPr>
        <p:spPr>
          <a:xfrm>
            <a:off x="6217920" y="3867911"/>
            <a:ext cx="457200" cy="457200"/>
          </a:xfrm>
          <a:prstGeom prst="ellipse">
            <a:avLst/>
          </a:prstGeom>
          <a:solidFill>
            <a:srgbClr val="C0393D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84848" y="3904487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F1D3D4"/>
          </a:solidFill>
          <a:ln w="1270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C0393D"/>
                </a:solidFill>
                <a:latin typeface="Calibri"/>
              </a:rPr>
              <a:t>GUARDRAIL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3813048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Output guardrail checks the response before it leaves.</a:t>
            </a:r>
          </a:p>
        </p:txBody>
      </p:sp>
      <p:sp>
        <p:nvSpPr>
          <p:cNvPr id="41" name="Oval 40"/>
          <p:cNvSpPr/>
          <p:nvPr/>
        </p:nvSpPr>
        <p:spPr>
          <a:xfrm>
            <a:off x="6217920" y="4636007"/>
            <a:ext cx="457200" cy="457200"/>
          </a:xfrm>
          <a:prstGeom prst="ellipse">
            <a:avLst/>
          </a:prstGeom>
          <a:solidFill>
            <a:srgbClr val="1E5A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84848" y="4672583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CEDBEC"/>
          </a:solidFill>
          <a:ln w="12700">
            <a:solidFill>
              <a:srgbClr val="1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CLIENT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1312" y="4581144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Client shows the result to the user.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Calibri"/>
              </a:rPr>
              <a:t>Where Guardrails &amp; PII Protection Happen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4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9728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Three control points keep the flow safe — PII is handled only at the AI Hub.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C0393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48640" y="1600200"/>
            <a:ext cx="3611880" cy="868680"/>
          </a:xfrm>
          <a:prstGeom prst="round2Same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18013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C0393D"/>
                </a:solidFill>
                <a:latin typeface="Calibri"/>
              </a:rPr>
              <a:t>🛡️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174650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FFFFF"/>
                </a:solidFill>
                <a:latin typeface="Calibri"/>
              </a:rPr>
              <a:t>1 · Input Guardrail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10312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1">
                <a:solidFill>
                  <a:srgbClr val="E8F1FB"/>
                </a:solidFill>
                <a:latin typeface="Calibri"/>
              </a:rPr>
              <a:t>at CLIENT → AGENTS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2697480"/>
            <a:ext cx="256032" cy="256032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264261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Content &amp; policy moderation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3264408"/>
            <a:ext cx="256032" cy="256032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0954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Prompt-injection / jailbreak checks</a:t>
            </a:r>
          </a:p>
        </p:txBody>
      </p:sp>
      <p:sp>
        <p:nvSpPr>
          <p:cNvPr id="20" name="Oval 19"/>
          <p:cNvSpPr/>
          <p:nvPr/>
        </p:nvSpPr>
        <p:spPr>
          <a:xfrm>
            <a:off x="804672" y="3831336"/>
            <a:ext cx="256032" cy="256032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3776472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Scope &amp; intent validation</a:t>
            </a:r>
          </a:p>
        </p:txBody>
      </p:sp>
      <p:sp>
        <p:nvSpPr>
          <p:cNvPr id="22" name="Oval 21"/>
          <p:cNvSpPr/>
          <p:nvPr/>
        </p:nvSpPr>
        <p:spPr>
          <a:xfrm>
            <a:off x="804672" y="4398264"/>
            <a:ext cx="256032" cy="256032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343400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No PII redaction at this step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16002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4343400" y="1600200"/>
            <a:ext cx="3611880" cy="868680"/>
          </a:xfrm>
          <a:prstGeom prst="round2Same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2000" y="18013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C9A227"/>
                </a:solidFill>
                <a:latin typeface="Calibri"/>
              </a:rPr>
              <a:t>🏛️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648" y="174650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0B1F3A"/>
                </a:solidFill>
                <a:latin typeface="Calibri"/>
              </a:rPr>
              <a:t>2 · AI Hub (PII boundary)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210312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1">
                <a:solidFill>
                  <a:srgbClr val="0B1F3A"/>
                </a:solidFill>
                <a:latin typeface="Calibri"/>
              </a:rPr>
              <a:t>every LLM call</a:t>
            </a:r>
          </a:p>
        </p:txBody>
      </p:sp>
      <p:sp>
        <p:nvSpPr>
          <p:cNvPr id="29" name="Oval 28"/>
          <p:cNvSpPr/>
          <p:nvPr/>
        </p:nvSpPr>
        <p:spPr>
          <a:xfrm>
            <a:off x="4599432" y="2697480"/>
            <a:ext cx="256032" cy="256032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65192" y="264261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Counts input / output tokens</a:t>
            </a:r>
          </a:p>
        </p:txBody>
      </p:sp>
      <p:sp>
        <p:nvSpPr>
          <p:cNvPr id="31" name="Oval 30"/>
          <p:cNvSpPr/>
          <p:nvPr/>
        </p:nvSpPr>
        <p:spPr>
          <a:xfrm>
            <a:off x="4599432" y="3264408"/>
            <a:ext cx="256032" cy="256032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65192" y="320954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Redacts PII before the LLM</a:t>
            </a:r>
          </a:p>
        </p:txBody>
      </p:sp>
      <p:sp>
        <p:nvSpPr>
          <p:cNvPr id="33" name="Oval 32"/>
          <p:cNvSpPr/>
          <p:nvPr/>
        </p:nvSpPr>
        <p:spPr>
          <a:xfrm>
            <a:off x="4599432" y="3831336"/>
            <a:ext cx="256032" cy="256032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65192" y="3776472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LLM sees placeholders only</a:t>
            </a:r>
          </a:p>
        </p:txBody>
      </p:sp>
      <p:sp>
        <p:nvSpPr>
          <p:cNvPr id="35" name="Oval 34"/>
          <p:cNvSpPr/>
          <p:nvPr/>
        </p:nvSpPr>
        <p:spPr>
          <a:xfrm>
            <a:off x="4599432" y="4398264"/>
            <a:ext cx="256032" cy="256032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65192" y="4343400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Re-inserts PII into the result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16002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2E9E5B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8138160" y="1600200"/>
            <a:ext cx="3611880" cy="868680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366760" y="18013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2E9E5B"/>
                </a:solidFill>
                <a:latin typeface="Calibri"/>
              </a:rPr>
              <a:t>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79408" y="174650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FFFFF"/>
                </a:solidFill>
                <a:latin typeface="Calibri"/>
              </a:rPr>
              <a:t>3 · Output Guardrail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9408" y="210312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1">
                <a:solidFill>
                  <a:srgbClr val="E8F1FB"/>
                </a:solidFill>
                <a:latin typeface="Calibri"/>
              </a:rPr>
              <a:t>at AGENTS → CLIENT</a:t>
            </a:r>
          </a:p>
        </p:txBody>
      </p:sp>
      <p:sp>
        <p:nvSpPr>
          <p:cNvPr id="42" name="Oval 41"/>
          <p:cNvSpPr/>
          <p:nvPr/>
        </p:nvSpPr>
        <p:spPr>
          <a:xfrm>
            <a:off x="8394192" y="2697480"/>
            <a:ext cx="256032" cy="256032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59952" y="264261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Checks for leaked PII</a:t>
            </a:r>
          </a:p>
        </p:txBody>
      </p:sp>
      <p:sp>
        <p:nvSpPr>
          <p:cNvPr id="44" name="Oval 43"/>
          <p:cNvSpPr/>
          <p:nvPr/>
        </p:nvSpPr>
        <p:spPr>
          <a:xfrm>
            <a:off x="8394192" y="3264408"/>
            <a:ext cx="256032" cy="256032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59952" y="320954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Toxicity &amp; safety screening</a:t>
            </a:r>
          </a:p>
        </p:txBody>
      </p:sp>
      <p:sp>
        <p:nvSpPr>
          <p:cNvPr id="46" name="Oval 45"/>
          <p:cNvSpPr/>
          <p:nvPr/>
        </p:nvSpPr>
        <p:spPr>
          <a:xfrm>
            <a:off x="8394192" y="3831336"/>
            <a:ext cx="256032" cy="256032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59952" y="3776472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Grounded / no hallucination</a:t>
            </a:r>
          </a:p>
        </p:txBody>
      </p:sp>
      <p:sp>
        <p:nvSpPr>
          <p:cNvPr id="48" name="Oval 47"/>
          <p:cNvSpPr/>
          <p:nvPr/>
        </p:nvSpPr>
        <p:spPr>
          <a:xfrm>
            <a:off x="8394192" y="4398264"/>
            <a:ext cx="256032" cy="256032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9952" y="4343400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Required disclosures attached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48640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Key point: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real customer PII is exposed to the LLM only as redacted placeholders — the AI Hub re-inserts the real values, so sensitive data never leaves the trust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828800" y="4114800"/>
            <a:ext cx="16459200" cy="3017520"/>
          </a:xfrm>
          <a:prstGeom prst="parallelogram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011680"/>
            <a:ext cx="109728" cy="1828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00584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◆  BANGKOK BANK · InnoHub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8686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Calibri"/>
              </a:rPr>
              <a:t>Simple Chain, Strong Controls.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600" b="0" i="0">
                <a:solidFill>
                  <a:srgbClr val="E8F1FB"/>
                </a:solidFill>
                <a:latin typeface="Calibri"/>
              </a:rPr>
              <a:t>Client → Agents → AI Hub → LLM, with the Database beside the agents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0" i="0">
                <a:solidFill>
                  <a:srgbClr val="E8F1FB"/>
                </a:solidFill>
                <a:latin typeface="Calibri"/>
              </a:rPr>
              <a:t>and PII protected at the Hub on every model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6177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💻 CLIENT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37560" y="4892040"/>
            <a:ext cx="182880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20440" y="46177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06440" y="4892040"/>
            <a:ext cx="182880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89320" y="46177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75320" y="4892040"/>
            <a:ext cx="182880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58200" y="46177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LLM</a:t>
            </a:r>
          </a:p>
        </p:txBody>
      </p:sp>
      <p:sp>
        <p:nvSpPr>
          <p:cNvPr id="14" name="Can 13"/>
          <p:cNvSpPr/>
          <p:nvPr/>
        </p:nvSpPr>
        <p:spPr>
          <a:xfrm>
            <a:off x="3291840" y="5440680"/>
            <a:ext cx="2286000" cy="502920"/>
          </a:xfrm>
          <a:prstGeom prst="can">
            <a:avLst/>
          </a:prstGeom>
          <a:solidFill>
            <a:srgbClr val="2E9E5B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🗄️ DATABASE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34840" y="5212080"/>
            <a:ext cx="0" cy="210312"/>
          </a:xfrm>
          <a:prstGeom prst="line">
            <a:avLst/>
          </a:prstGeom>
          <a:ln w="25400">
            <a:solidFill>
              <a:srgbClr val="2E9E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156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0" i="0">
                <a:solidFill>
                  <a:srgbClr val="5A6677"/>
                </a:solidFill>
                <a:latin typeface="Calibri"/>
              </a:rPr>
              <a:t>Thank you  ·  AI Technology Team  ·  Questions welcome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