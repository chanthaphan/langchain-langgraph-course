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863840" y="-1371600"/>
            <a:ext cx="6400800" cy="9601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418320" y="-1371600"/>
            <a:ext cx="4572000" cy="9601200"/>
          </a:xfrm>
          <a:prstGeom prst="parallelogram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9728" cy="24688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7772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749807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600" b="1" i="0">
                <a:solidFill>
                  <a:srgbClr val="FFFFFF"/>
                </a:solidFill>
                <a:latin typeface="Calibri"/>
              </a:rPr>
              <a:t>End-to-End AI Chat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4600" b="1" i="0">
                <a:solidFill>
                  <a:srgbClr val="C9A227"/>
                </a:solidFill>
                <a:latin typeface="Calibri"/>
              </a:rPr>
              <a:t>Application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900" b="0" i="0">
                <a:solidFill>
                  <a:srgbClr val="E8F1FB"/>
                </a:solidFill>
                <a:latin typeface="Calibri"/>
              </a:rPr>
              <a:t>From User Input to Intelligent Response —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>
                <a:solidFill>
                  <a:srgbClr val="E8F1FB"/>
                </a:solidFill>
                <a:latin typeface="Calibri"/>
              </a:rPr>
              <a:t>with Governance, PII Protection &amp; Security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737360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671048" y="2194560"/>
            <a:ext cx="0" cy="109728"/>
          </a:xfrm>
          <a:prstGeom prst="line">
            <a:avLst/>
          </a:prstGeom>
          <a:ln w="19050">
            <a:solidFill>
              <a:srgbClr val="FFFFF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646920" y="2304288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671048" y="2761488"/>
            <a:ext cx="0" cy="109728"/>
          </a:xfrm>
          <a:prstGeom prst="line">
            <a:avLst/>
          </a:prstGeom>
          <a:ln w="19050">
            <a:solidFill>
              <a:srgbClr val="FFFFF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46920" y="2871215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0B1F3A"/>
                </a:solidFill>
                <a:latin typeface="Calibri"/>
              </a:rPr>
              <a:t>AI Hub Gateway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71048" y="3328415"/>
            <a:ext cx="0" cy="109729"/>
          </a:xfrm>
          <a:prstGeom prst="line">
            <a:avLst/>
          </a:prstGeom>
          <a:ln w="19050">
            <a:solidFill>
              <a:srgbClr val="FFFFF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3438144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LLM Providers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71048" y="3895344"/>
            <a:ext cx="0" cy="109728"/>
          </a:xfrm>
          <a:prstGeom prst="line">
            <a:avLst/>
          </a:prstGeom>
          <a:ln w="19050">
            <a:solidFill>
              <a:srgbClr val="FFFFF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46920" y="4005072"/>
            <a:ext cx="2057400" cy="45720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Data &amp;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Executive Briefing  ·  AI Technology Team  · 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Why Architecture Matters for Enterprise AI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2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50" b="1" i="0">
                <a:solidFill>
                  <a:srgbClr val="1E5AA8"/>
                </a:solidFill>
                <a:latin typeface="Calibri"/>
              </a:rPr>
              <a:t>Key message:  </a:t>
            </a:r>
            <a:r>
              <a:rPr sz="1450" b="0" i="0">
                <a:solidFill>
                  <a:srgbClr val="1A2230"/>
                </a:solidFill>
                <a:latin typeface="Calibri"/>
              </a:rPr>
              <a:t>Enterprise AI applications require a sophisticated, multi-layered architecture that balances intelligence, security, compliance, and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109728" cy="178308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952" y="2615184"/>
            <a:ext cx="603504" cy="603504"/>
          </a:xfrm>
          <a:prstGeom prst="ellipse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1E5AA8"/>
                </a:solidFill>
                <a:latin typeface="Calibri"/>
              </a:rPr>
              <a:t>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2596896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Intelligent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73552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User input flows through agents that plan and orchestrate complex, multi-step workflows.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2395728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2395728"/>
            <a:ext cx="109728" cy="1783080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6280" y="2615184"/>
            <a:ext cx="603504" cy="603504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1A9C9C"/>
                </a:solidFill>
                <a:latin typeface="Calibri"/>
              </a:rP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596896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Dynamic Tooling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273552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Agentic systems generate tools on-the-fly — such as SQL queries — under strict PII protection.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6" y="2395728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7576" y="2395728"/>
            <a:ext cx="109728" cy="1783080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93608" y="2615184"/>
            <a:ext cx="603504" cy="603504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C0393D"/>
                </a:solidFill>
                <a:latin typeface="Calibri"/>
              </a:rPr>
              <a:t>🛡️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596896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Multi-Stage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273552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Input, processing and output guardrails enforce compliance at every stage of the pipeline.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325112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325112"/>
            <a:ext cx="109728" cy="1783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544568"/>
            <a:ext cx="603504" cy="603504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C9A227"/>
                </a:solidFill>
                <a:latin typeface="Calibri"/>
              </a:rPr>
              <a:t>🏛️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" y="4526280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Central AI 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02936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A gateway enforces policy, PII masking, quota and provider routing in one control point.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0248" y="4325112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70248" y="4325112"/>
            <a:ext cx="109728" cy="1783080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544568"/>
            <a:ext cx="603504" cy="603504"/>
          </a:xfrm>
          <a:prstGeom prst="ellipse">
            <a:avLst/>
          </a:prstGeom>
          <a:solidFill>
            <a:srgbClr val="E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6B4CA8"/>
                </a:solidFill>
                <a:latin typeface="Calibri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2" y="4526280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Full 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5202936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End-to-end logging, tracing and monitoring maintain complete audit trails.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37576" y="4325112"/>
            <a:ext cx="3602736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37576" y="4325112"/>
            <a:ext cx="109728" cy="17830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93608" y="4544568"/>
            <a:ext cx="603504" cy="603504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200" b="0" i="0">
                <a:solidFill>
                  <a:srgbClr val="2E9E5B"/>
                </a:solidFill>
                <a:latin typeface="Calibri"/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4526280"/>
            <a:ext cx="25054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Trust by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5202936"/>
            <a:ext cx="3099815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Security and governance are built in — not bolted on after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Five-Layer Reference Architecture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3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Requests flow left → right; responses flow right → left. Guardrails sit at every boundary.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254203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02920" y="1783080"/>
            <a:ext cx="2542032" cy="457200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83080"/>
            <a:ext cx="25420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1  CLIENT</a:t>
            </a:r>
          </a:p>
        </p:txBody>
      </p:sp>
      <p:sp>
        <p:nvSpPr>
          <p:cNvPr id="14" name="Oval 13"/>
          <p:cNvSpPr/>
          <p:nvPr/>
        </p:nvSpPr>
        <p:spPr>
          <a:xfrm>
            <a:off x="1389888" y="2423160"/>
            <a:ext cx="768096" cy="768096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8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235915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Web 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66744"/>
            <a:ext cx="221284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User chat UI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Session &amp; auth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Response render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067811"/>
            <a:ext cx="237744" cy="0"/>
          </a:xfrm>
          <a:prstGeom prst="line">
            <a:avLst/>
          </a:prstGeom>
          <a:ln w="3175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063240" y="3287268"/>
            <a:ext cx="237744" cy="0"/>
          </a:xfrm>
          <a:prstGeom prst="line">
            <a:avLst/>
          </a:prstGeom>
          <a:ln w="3175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081528" y="3488435"/>
            <a:ext cx="201168" cy="20116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9272" y="1783080"/>
            <a:ext cx="254203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A9C9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3319272" y="1783080"/>
            <a:ext cx="2542032" cy="457200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1783080"/>
            <a:ext cx="25420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2  ORCHESTRATION</a:t>
            </a:r>
          </a:p>
        </p:txBody>
      </p:sp>
      <p:sp>
        <p:nvSpPr>
          <p:cNvPr id="23" name="Oval 22"/>
          <p:cNvSpPr/>
          <p:nvPr/>
        </p:nvSpPr>
        <p:spPr>
          <a:xfrm>
            <a:off x="4206240" y="2423160"/>
            <a:ext cx="768096" cy="768096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800" b="0" i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264408"/>
            <a:ext cx="235915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Agent Planner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3864" y="3666744"/>
            <a:ext cx="221284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Task planning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Tool calling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State / memory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879592" y="3067811"/>
            <a:ext cx="237744" cy="0"/>
          </a:xfrm>
          <a:prstGeom prst="line">
            <a:avLst/>
          </a:prstGeom>
          <a:ln w="3175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879592" y="3287268"/>
            <a:ext cx="237744" cy="0"/>
          </a:xfrm>
          <a:prstGeom prst="line">
            <a:avLst/>
          </a:prstGeom>
          <a:ln w="3175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897880" y="3488435"/>
            <a:ext cx="201168" cy="20116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35623" y="1783080"/>
            <a:ext cx="254203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135623" y="1783080"/>
            <a:ext cx="2542032" cy="45720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35623" y="1783080"/>
            <a:ext cx="25420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3  AI HUB GATEWAY</a:t>
            </a:r>
          </a:p>
        </p:txBody>
      </p:sp>
      <p:sp>
        <p:nvSpPr>
          <p:cNvPr id="32" name="Oval 31"/>
          <p:cNvSpPr/>
          <p:nvPr/>
        </p:nvSpPr>
        <p:spPr>
          <a:xfrm>
            <a:off x="7022592" y="2423160"/>
            <a:ext cx="768096" cy="76809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800" b="0" i="0">
                <a:solidFill>
                  <a:srgbClr val="FFFFFF"/>
                </a:solidFill>
                <a:latin typeface="Calibri"/>
              </a:rPr>
              <a:t>🏛️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3" y="3264408"/>
            <a:ext cx="235915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Central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5" y="3666744"/>
            <a:ext cx="221284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Policy engine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PII masking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Quota &amp; routing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695943" y="3067811"/>
            <a:ext cx="237744" cy="0"/>
          </a:xfrm>
          <a:prstGeom prst="line">
            <a:avLst/>
          </a:prstGeom>
          <a:ln w="3175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695943" y="3287268"/>
            <a:ext cx="237744" cy="0"/>
          </a:xfrm>
          <a:prstGeom prst="line">
            <a:avLst/>
          </a:prstGeom>
          <a:ln w="3175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714231" y="3488435"/>
            <a:ext cx="201168" cy="20116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FFFFFF"/>
                </a:solidFill>
                <a:latin typeface="Calibri"/>
              </a:rPr>
              <a:t>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51976" y="1783080"/>
            <a:ext cx="254203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8951976" y="1783080"/>
            <a:ext cx="2542032" cy="457200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51976" y="1783080"/>
            <a:ext cx="254203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4  PROVIDERS</a:t>
            </a:r>
          </a:p>
        </p:txBody>
      </p:sp>
      <p:sp>
        <p:nvSpPr>
          <p:cNvPr id="41" name="Oval 40"/>
          <p:cNvSpPr/>
          <p:nvPr/>
        </p:nvSpPr>
        <p:spPr>
          <a:xfrm>
            <a:off x="9838944" y="2423160"/>
            <a:ext cx="768096" cy="768096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8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3415" y="3264408"/>
            <a:ext cx="2359151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External LLMs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6567" y="3666744"/>
            <a:ext cx="221284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OpenAI · Claude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Gemini · Local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Fail-over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22452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E5AA8"/>
                </a:solidFill>
                <a:latin typeface="Calibri"/>
              </a:rPr>
              <a:t>▶ request  </a:t>
            </a:r>
            <a:r>
              <a:rPr sz="1000" b="1" i="0">
                <a:solidFill>
                  <a:srgbClr val="2E9E5B"/>
                </a:solidFill>
                <a:latin typeface="Calibri"/>
              </a:rPr>
              <a:t>◀ response  </a:t>
            </a:r>
            <a:r>
              <a:rPr sz="1000" b="1" i="0">
                <a:solidFill>
                  <a:srgbClr val="C0393D"/>
                </a:solidFill>
                <a:latin typeface="Calibri"/>
              </a:rPr>
              <a:t>🛡 guardrail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28032"/>
            <a:ext cx="11201400" cy="1051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4901184"/>
            <a:ext cx="27432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C9A227"/>
                </a:solidFill>
                <a:latin typeface="Calibri"/>
              </a:rPr>
              <a:t>5   DATA &amp; KNOWLEDGE LAYER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285232"/>
            <a:ext cx="2542032" cy="45720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🗄️  Transactional Database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20440" y="5285232"/>
            <a:ext cx="2542032" cy="45720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📚  RAG Knowledge Base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5285232"/>
            <a:ext cx="2542032" cy="45720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📄  Document Store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06840" y="5285232"/>
            <a:ext cx="2542032" cy="45720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📈  Logs &amp; Audit Trail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206240" y="4572000"/>
            <a:ext cx="0" cy="237744"/>
          </a:xfrm>
          <a:prstGeom prst="line">
            <a:avLst/>
          </a:prstGeom>
          <a:ln w="317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120640" y="4572000"/>
            <a:ext cx="0" cy="237744"/>
          </a:xfrm>
          <a:prstGeom prst="line">
            <a:avLst/>
          </a:prstGeom>
          <a:ln w="317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1 · USER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User Initiates a Request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4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4572000" cy="466344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5240">
            <a:solidFill>
              <a:srgbClr val="CFD6E0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640080" y="1463040"/>
            <a:ext cx="4572000" cy="640080"/>
          </a:xfrm>
          <a:prstGeom prst="round2Same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1591056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517904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InnoHub Assistant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E3F3E9"/>
                </a:solidFill>
                <a:latin typeface="Calibri"/>
              </a:rPr>
              <a:t>● Online · Secure channel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331720"/>
            <a:ext cx="29260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Hi! How can I help you today?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3154680"/>
            <a:ext cx="3703320" cy="1371600"/>
          </a:xfrm>
          <a:prstGeom prst="roundRect">
            <a:avLst>
              <a:gd name="adj" fmla="val 18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Calibri"/>
              </a:rPr>
              <a:t>Show me transaction history for customer Somchai Jantapan with account number 1234567890 from last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572000"/>
            <a:ext cx="3703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You · just now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4406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Type a message…</a:t>
            </a:r>
          </a:p>
        </p:txBody>
      </p:sp>
      <p:sp>
        <p:nvSpPr>
          <p:cNvPr id="18" name="Oval 17"/>
          <p:cNvSpPr/>
          <p:nvPr/>
        </p:nvSpPr>
        <p:spPr>
          <a:xfrm>
            <a:off x="4526280" y="5477256"/>
            <a:ext cx="420624" cy="42062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1417320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What happens behind the scenes</a:t>
            </a:r>
          </a:p>
        </p:txBody>
      </p:sp>
      <p:sp>
        <p:nvSpPr>
          <p:cNvPr id="20" name="Oval 19"/>
          <p:cNvSpPr/>
          <p:nvPr/>
        </p:nvSpPr>
        <p:spPr>
          <a:xfrm>
            <a:off x="5577840" y="2011679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965960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User submits 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350008"/>
            <a:ext cx="5440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Natural-language request entered in the secure web application.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072383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3026663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Received by Orchestrator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410711"/>
            <a:ext cx="5440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The Agent Orchestrator captures the message and opens a traced session.</a:t>
            </a:r>
          </a:p>
        </p:txBody>
      </p:sp>
      <p:sp>
        <p:nvSpPr>
          <p:cNvPr id="26" name="Oval 25"/>
          <p:cNvSpPr/>
          <p:nvPr/>
        </p:nvSpPr>
        <p:spPr>
          <a:xfrm>
            <a:off x="5577840" y="4133087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4087368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Intent recognised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4471416"/>
            <a:ext cx="5440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Agent detects this needs database retrieval + tool calling, not a simple chat reply.</a:t>
            </a:r>
          </a:p>
        </p:txBody>
      </p:sp>
      <p:sp>
        <p:nvSpPr>
          <p:cNvPr id="29" name="Oval 28"/>
          <p:cNvSpPr/>
          <p:nvPr/>
        </p:nvSpPr>
        <p:spPr>
          <a:xfrm>
            <a:off x="5577840" y="5193792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5148072"/>
            <a:ext cx="5486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Next: PII handling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532120"/>
            <a:ext cx="5440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PII identification and redaction begin before any external call is made.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77840" y="6172200"/>
            <a:ext cx="6126480" cy="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2 · INPUT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Input Validation &amp; PII Redaction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5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Input guardrails scan every query across four dimensions before it proceeds: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72768"/>
            <a:ext cx="2697480" cy="868680"/>
          </a:xfrm>
          <a:prstGeom prst="roundRect">
            <a:avLst>
              <a:gd name="adj" fmla="val 10000"/>
            </a:avLst>
          </a:prstGeom>
          <a:solidFill>
            <a:srgbClr val="F7E4E4"/>
          </a:solidFill>
          <a:ln w="1524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C0393D"/>
                </a:solidFill>
                <a:latin typeface="Calibri"/>
              </a:rPr>
              <a:t>🔐  </a:t>
            </a:r>
            <a:r>
              <a:rPr sz="1250" b="1" i="0">
                <a:solidFill>
                  <a:srgbClr val="0B1F3A"/>
                </a:solidFill>
                <a:latin typeface="Calibri"/>
              </a:rPr>
              <a:t>PII Detection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names · accounts · emails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72768"/>
            <a:ext cx="2697480" cy="868680"/>
          </a:xfrm>
          <a:prstGeom prst="roundRect">
            <a:avLst>
              <a:gd name="adj" fmla="val 10000"/>
            </a:avLst>
          </a:prstGeom>
          <a:solidFill>
            <a:srgbClr val="FBECD9"/>
          </a:solidFill>
          <a:ln w="15240">
            <a:solidFill>
              <a:srgbClr val="E0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E0822B"/>
                </a:solidFill>
                <a:latin typeface="Calibri"/>
              </a:rPr>
              <a:t>⚠️  </a:t>
            </a:r>
            <a:r>
              <a:rPr sz="1250" b="1" i="0">
                <a:solidFill>
                  <a:srgbClr val="0B1F3A"/>
                </a:solidFill>
                <a:latin typeface="Calibri"/>
              </a:rPr>
              <a:t>Prompt Injection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jailbreak / override attempts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572768"/>
            <a:ext cx="2697480" cy="86868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6B4CA8"/>
                </a:solidFill>
                <a:latin typeface="Calibri"/>
              </a:rPr>
              <a:t>🚫  </a:t>
            </a:r>
            <a:r>
              <a:rPr sz="1250" b="1" i="0">
                <a:solidFill>
                  <a:srgbClr val="0B1F3A"/>
                </a:solidFill>
                <a:latin typeface="Calibri"/>
              </a:rPr>
              <a:t>Toxic Language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harmful / abusive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1572768"/>
            <a:ext cx="2697480" cy="868680"/>
          </a:xfrm>
          <a:prstGeom prst="roundRect">
            <a:avLst>
              <a:gd name="adj" fmla="val 10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1E5AA8"/>
                </a:solidFill>
                <a:latin typeface="Calibri"/>
              </a:rPr>
              <a:t>📋  </a:t>
            </a:r>
            <a:r>
              <a:rPr sz="1250" b="1" i="0">
                <a:solidFill>
                  <a:srgbClr val="0B1F3A"/>
                </a:solidFill>
                <a:latin typeface="Calibri"/>
              </a:rPr>
              <a:t>Policy Violations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out-of-scope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9748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70632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0393D"/>
                </a:solidFill>
                <a:latin typeface="Calibri"/>
              </a:rPr>
              <a:t>ORIGINAL 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063240"/>
            <a:ext cx="32918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Show me transaction history for customer </a:t>
            </a:r>
            <a:r>
              <a:rPr sz="1100" b="1" i="0">
                <a:solidFill>
                  <a:srgbClr val="C0393D"/>
                </a:solidFill>
                <a:latin typeface="Calibri"/>
              </a:rPr>
              <a:t>Somchai Jantapan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 with account number </a:t>
            </a:r>
            <a:r>
              <a:rPr sz="1100" b="1" i="0">
                <a:solidFill>
                  <a:srgbClr val="C0393D"/>
                </a:solidFill>
                <a:latin typeface="Calibri"/>
              </a:rPr>
              <a:t>1234567890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 from last month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4528" y="2926080"/>
            <a:ext cx="1417320" cy="91440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 w="1778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FFFFFF"/>
                </a:solidFill>
                <a:latin typeface="Calibri"/>
              </a:rPr>
              <a:t>🛡️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PII SCANNER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23360" y="3383280"/>
            <a:ext cx="182880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41848" y="3383280"/>
            <a:ext cx="210312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870448" y="2697480"/>
            <a:ext cx="58338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07608" y="277063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E9E5B"/>
                </a:solidFill>
                <a:latin typeface="Calibri"/>
              </a:rPr>
              <a:t>REDACTED QUERY  ✓ safe to process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07608" y="3063240"/>
            <a:ext cx="55778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Show me transaction history for customer </a:t>
            </a:r>
            <a:r>
              <a:rPr sz="1100" b="1" i="0">
                <a:solidFill>
                  <a:srgbClr val="2E9E5B"/>
                </a:solidFill>
                <a:latin typeface="Calibri"/>
              </a:rPr>
              <a:t>CUSTOMER_NAME_001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 with account number </a:t>
            </a:r>
            <a:r>
              <a:rPr sz="1100" b="1" i="0">
                <a:solidFill>
                  <a:srgbClr val="2E9E5B"/>
                </a:solidFill>
                <a:latin typeface="Calibri"/>
              </a:rPr>
              <a:t>ACCOUNT_ID_001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 from last 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1596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PII Mapping Table (held securely for re-insertion)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700016"/>
            <a:ext cx="3931920" cy="420624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C9A227"/>
                </a:solidFill>
                <a:latin typeface="Calibri"/>
              </a:rPr>
              <a:t>Original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4700016"/>
            <a:ext cx="3291840" cy="420624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C9A227"/>
                </a:solidFill>
                <a:latin typeface="Calibri"/>
              </a:rPr>
              <a:t>PII 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26679" y="4700016"/>
            <a:ext cx="4023360" cy="420624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C9A227"/>
                </a:solidFill>
                <a:latin typeface="Calibri"/>
              </a:rPr>
              <a:t>Placeholder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20640"/>
            <a:ext cx="3931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Somchai Jantapan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34840" y="5120640"/>
            <a:ext cx="3291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Customer Name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26679" y="5120640"/>
            <a:ext cx="4023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C0393D"/>
                </a:solidFill>
                <a:latin typeface="Calibri"/>
              </a:rPr>
              <a:t>CUSTOMER_NAME_001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541264"/>
            <a:ext cx="3931920" cy="420624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1234567890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34840" y="5541264"/>
            <a:ext cx="3291840" cy="420624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Account 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5541264"/>
            <a:ext cx="4023360" cy="420624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C0393D"/>
                </a:solidFill>
                <a:latin typeface="Calibri"/>
              </a:rPr>
              <a:t>ACCOUNT_ID_001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961888"/>
            <a:ext cx="3931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"last month"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5961888"/>
            <a:ext cx="32918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Temporal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679" y="5961888"/>
            <a:ext cx="40233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5A6677"/>
                </a:solidFill>
                <a:latin typeface="Calibri"/>
              </a:rPr>
              <a:t>(no redaction needed)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3 · AGENT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Orchestrator Analyzes the Task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6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The Agent Planner receives the redacted query and decomposes it into an executable plan.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1737360"/>
            <a:ext cx="2377440" cy="914400"/>
          </a:xfrm>
          <a:prstGeom prst="roundRect">
            <a:avLst>
              <a:gd name="adj" fmla="val 2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🧠  AGENT PLANNER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E3F3E9"/>
                </a:solidFill>
                <a:latin typeface="Calibri"/>
              </a:rPr>
              <a:t>reason · plan · route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502920" y="2926080"/>
            <a:ext cx="3429000" cy="384048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2608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Task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364992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Database retrieval +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LLM-assisted SQL generation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212848" y="2651760"/>
            <a:ext cx="3867912" cy="25603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79976" y="292608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379976" y="2926080"/>
            <a:ext cx="3429000" cy="384048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9976" y="292608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Required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364992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SQL query tool · RAG retriever ·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Response formatter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2651760"/>
            <a:ext cx="9144" cy="25603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57031" y="292608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257031" y="2926080"/>
            <a:ext cx="3429000" cy="384048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292608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4" y="3364992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Transaction DB ·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Knowledge base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651760"/>
            <a:ext cx="3886199" cy="25603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02920" y="416052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7E4E4"/>
          </a:solidFill>
          <a:ln w="1524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502920" y="4160520"/>
            <a:ext cx="3429000" cy="384048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16052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599431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Read-only · row-level scope ·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PII placeholders preserved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212848" y="2651760"/>
            <a:ext cx="3867912" cy="149047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379976" y="416052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524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4379976" y="4160520"/>
            <a:ext cx="3429000" cy="384048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79976" y="416052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Execution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4599431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1) Generate SQL  2) Validate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3) Execute  4) Synthesize answer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80760" y="2651760"/>
            <a:ext cx="9144" cy="149047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257031" y="416052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0B1F3A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8257031" y="4160520"/>
            <a:ext cx="3429000" cy="384048"/>
          </a:xfrm>
          <a:prstGeom prst="round2Same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57031" y="4160520"/>
            <a:ext cx="3429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4599431"/>
            <a:ext cx="3108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Route via AI Hub ·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log every step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80760" y="2651760"/>
            <a:ext cx="3886199" cy="1490472"/>
          </a:xfrm>
          <a:prstGeom prst="line">
            <a:avLst/>
          </a:prstGeom>
          <a:ln w="15875">
            <a:solidFill>
              <a:srgbClr val="B9C2CE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4 · AGENTIC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Dynamic Tool Generation — SQL Query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7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The agent writes its own tool: a parameterized SQL query built from the redacted, placeholdered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5989320" cy="2788920"/>
          </a:xfrm>
          <a:prstGeom prst="roundRect">
            <a:avLst>
              <a:gd name="adj" fmla="val 4000"/>
            </a:avLst>
          </a:prstGeom>
          <a:solidFill>
            <a:srgbClr val="101A2B"/>
          </a:solidFill>
          <a:ln w="12700">
            <a:solidFill>
              <a:srgbClr val="142E53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02920" y="1691640"/>
            <a:ext cx="5989320" cy="384048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1819656"/>
            <a:ext cx="128016" cy="128016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1819656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8992" y="1819656"/>
            <a:ext cx="128016" cy="12801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1691640"/>
            <a:ext cx="4572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generated_query.sql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212848"/>
            <a:ext cx="5577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SELECT </a:t>
            </a:r>
            <a:r>
              <a:rPr sz="1150" b="0">
                <a:solidFill>
                  <a:srgbClr val="FFFFFF"/>
                </a:solidFill>
                <a:latin typeface="Consolas"/>
              </a:rPr>
              <a:t>txn_date, amount, channel, balance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FROM </a:t>
            </a:r>
            <a:r>
              <a:rPr sz="1150" b="0">
                <a:solidFill>
                  <a:srgbClr val="FFFFFF"/>
                </a:solidFill>
                <a:latin typeface="Consolas"/>
              </a:rPr>
              <a:t>transactions t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JOIN </a:t>
            </a:r>
            <a:r>
              <a:rPr sz="1150" b="0">
                <a:solidFill>
                  <a:srgbClr val="FFFFFF"/>
                </a:solidFill>
                <a:latin typeface="Consolas"/>
              </a:rPr>
              <a:t>customers c </a:t>
            </a:r>
            <a:r>
              <a:rPr sz="1150" b="1">
                <a:solidFill>
                  <a:srgbClr val="3C82D6"/>
                </a:solidFill>
                <a:latin typeface="Consolas"/>
              </a:rPr>
              <a:t>ON </a:t>
            </a:r>
            <a:r>
              <a:rPr sz="1150" b="0">
                <a:solidFill>
                  <a:srgbClr val="FFFFFF"/>
                </a:solidFill>
                <a:latin typeface="Consolas"/>
              </a:rPr>
              <a:t>c.id = t.cust_id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WHERE </a:t>
            </a:r>
            <a:r>
              <a:rPr sz="1150" b="0">
                <a:solidFill>
                  <a:srgbClr val="FFFFFF"/>
                </a:solidFill>
                <a:latin typeface="Consolas"/>
              </a:rPr>
              <a:t>c.name = </a:t>
            </a:r>
            <a:r>
              <a:rPr sz="1150" b="1">
                <a:solidFill>
                  <a:srgbClr val="C9A227"/>
                </a:solidFill>
                <a:latin typeface="Consolas"/>
              </a:rPr>
              <a:t>:CUSTOMER_NAME_001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150" b="0">
                <a:solidFill>
                  <a:srgbClr val="FFFFFF"/>
                </a:solidFill>
                <a:latin typeface="Consolas"/>
              </a:rPr>
              <a:t>t.account = </a:t>
            </a:r>
            <a:r>
              <a:rPr sz="1150" b="1">
                <a:solidFill>
                  <a:srgbClr val="C9A227"/>
                </a:solidFill>
                <a:latin typeface="Consolas"/>
              </a:rPr>
              <a:t>:ACCOUNT_ID_001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150" b="0">
                <a:solidFill>
                  <a:srgbClr val="FFFFFF"/>
                </a:solidFill>
                <a:latin typeface="Consolas"/>
              </a:rPr>
              <a:t>t.txn_date &gt;= </a:t>
            </a:r>
            <a:r>
              <a:rPr sz="1150" b="0">
                <a:solidFill>
                  <a:srgbClr val="E3F3E9"/>
                </a:solidFill>
                <a:latin typeface="Consolas"/>
              </a:rPr>
              <a:t>date_trunc('month',</a:t>
            </a:r>
          </a:p>
          <a:p>
            <a:pPr>
              <a:spcAft>
                <a:spcPts val="100"/>
              </a:spcAft>
              <a:buNone/>
            </a:pPr>
            <a:r>
              <a:rPr sz="1150" b="0">
                <a:solidFill>
                  <a:srgbClr val="E3F3E9"/>
                </a:solidFill>
                <a:latin typeface="Consolas"/>
              </a:rPr>
              <a:t>        current_date - interval '1 month')</a:t>
            </a:r>
          </a:p>
          <a:p>
            <a:pPr>
              <a:spcAft>
                <a:spcPts val="100"/>
              </a:spcAft>
              <a:buNone/>
            </a:pPr>
            <a:r>
              <a:rPr sz="1150" b="1">
                <a:solidFill>
                  <a:srgbClr val="3C82D6"/>
                </a:solidFill>
                <a:latin typeface="Consolas"/>
              </a:rPr>
              <a:t>ORDER BY </a:t>
            </a:r>
            <a:r>
              <a:rPr sz="1150" b="0">
                <a:solidFill>
                  <a:srgbClr val="FFFFFF"/>
                </a:solidFill>
                <a:latin typeface="Consolas"/>
              </a:rPr>
              <a:t>t.txn_date </a:t>
            </a:r>
            <a:r>
              <a:rPr sz="1150" b="1">
                <a:solidFill>
                  <a:srgbClr val="3C82D6"/>
                </a:solidFill>
                <a:latin typeface="Consolas"/>
              </a:rPr>
              <a:t>DESC</a:t>
            </a:r>
            <a:r>
              <a:rPr sz="1150" b="0">
                <a:solidFill>
                  <a:srgbClr val="FFFFFF"/>
                </a:solidFill>
                <a:latin typeface="Consolas"/>
              </a:rPr>
              <a:t>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6916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Built-in safeguards on every generated tool</a:t>
            </a:r>
          </a:p>
        </p:txBody>
      </p:sp>
      <p:sp>
        <p:nvSpPr>
          <p:cNvPr id="19" name="Oval 18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57984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Bind PII placeholders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487168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Parameters stay as :PLACEHOLDER tokens — real values are never embedded in the query string.</a:t>
            </a:r>
          </a:p>
        </p:txBody>
      </p:sp>
      <p:sp>
        <p:nvSpPr>
          <p:cNvPr id="22" name="Oval 21"/>
          <p:cNvSpPr/>
          <p:nvPr/>
        </p:nvSpPr>
        <p:spPr>
          <a:xfrm>
            <a:off x="6720840" y="3163824"/>
            <a:ext cx="402336" cy="402336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👁️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12724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Read-only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456432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Only SELECT is permitted; INSERT / UPDATE / DELETE / DDL are rejected by the policy layer.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4133087"/>
            <a:ext cx="402336" cy="402336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4096511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Static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425696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Query is parsed &amp; validated against schema and row-level access rules before execution.</a:t>
            </a:r>
          </a:p>
        </p:txBody>
      </p:sp>
      <p:sp>
        <p:nvSpPr>
          <p:cNvPr id="28" name="Oval 27"/>
          <p:cNvSpPr/>
          <p:nvPr/>
        </p:nvSpPr>
        <p:spPr>
          <a:xfrm>
            <a:off x="6720840" y="5102352"/>
            <a:ext cx="402336" cy="40233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⏱️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065776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Limits &amp; timeouts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539496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Row caps, query timeout and cost ceilings protect the production database.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800600"/>
            <a:ext cx="2103120" cy="566928"/>
          </a:xfrm>
          <a:prstGeom prst="roundRect">
            <a:avLst>
              <a:gd name="adj" fmla="val 4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Redacted intent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06039" y="5084064"/>
            <a:ext cx="182881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788920" y="4800600"/>
            <a:ext cx="2103120" cy="566928"/>
          </a:xfrm>
          <a:prstGeom prst="roundRect">
            <a:avLst>
              <a:gd name="adj" fmla="val 40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Generate 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92040" y="5084064"/>
            <a:ext cx="182880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074920" y="4800600"/>
            <a:ext cx="2103120" cy="566928"/>
          </a:xfrm>
          <a:prstGeom prst="roundRect">
            <a:avLst>
              <a:gd name="adj" fmla="val 40000"/>
            </a:avLst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Validate &amp; bind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178040" y="5084064"/>
            <a:ext cx="182880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360920" y="4800600"/>
            <a:ext cx="2103120" cy="566928"/>
          </a:xfrm>
          <a:prstGeom prst="roundRect">
            <a:avLst>
              <a:gd name="adj" fmla="val 4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Execute (read-only)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464040" y="5084064"/>
            <a:ext cx="182880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646920" y="4800600"/>
            <a:ext cx="2103120" cy="566928"/>
          </a:xfrm>
          <a:prstGeom prst="roundRect">
            <a:avLst>
              <a:gd name="adj" fmla="val 4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0B1F3A"/>
                </a:solidFill>
                <a:latin typeface="Calibri"/>
              </a:rPr>
              <a:t>Result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5321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Result:  </a:t>
            </a:r>
            <a:r>
              <a:rPr sz="1200" b="0" i="0">
                <a:solidFill>
                  <a:srgbClr val="1A2230"/>
                </a:solidFill>
                <a:latin typeface="Calibri"/>
              </a:rPr>
              <a:t>rows are returned still keyed to placeholders — real customer data is re-inserted only at the final, secured output stage.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5 · AI HUB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Central Policy &amp; Control Plane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8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Every call to an external model passes through one governed gateway — the single point of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94560"/>
            <a:ext cx="2011680" cy="1828800"/>
          </a:xfrm>
          <a:prstGeom prst="roundRect">
            <a:avLst>
              <a:gd name="adj" fmla="val 8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🧠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Agent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E3F3E9"/>
                </a:solidFill>
                <a:latin typeface="Calibri"/>
              </a:rPr>
              <a:t>redacted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169164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F2E6BE"/>
          </a:solidFill>
          <a:ln w="2032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3063240" y="1691640"/>
            <a:ext cx="5120640" cy="50292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1691640"/>
            <a:ext cx="51206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331720"/>
            <a:ext cx="46634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01568" y="2450591"/>
            <a:ext cx="420624" cy="42062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C9A227"/>
                </a:solidFill>
                <a:latin typeface="Calibri"/>
              </a:rPr>
              <a:t>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386584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Policy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660903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Access control, allow/deny lists, request classification &amp; routing rules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3044952"/>
            <a:ext cx="46634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01568" y="3163824"/>
            <a:ext cx="420624" cy="42062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C9A227"/>
                </a:solidFill>
                <a:latin typeface="Calibri"/>
              </a:rPr>
              <a:t>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3099816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PII Masking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3374136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Verifies redaction, applies extra masking, blocks leakage to providers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758184"/>
            <a:ext cx="46634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01568" y="3877056"/>
            <a:ext cx="420624" cy="42062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C9A227"/>
                </a:solidFill>
                <a:latin typeface="Calibri"/>
              </a:rPr>
              <a:t>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3813048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Quota &amp; Rate 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087368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Per-team budgets, token quotas, throttling and cost attribution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4471416"/>
            <a:ext cx="46634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01568" y="4590288"/>
            <a:ext cx="420624" cy="42062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C9A227"/>
                </a:solidFill>
                <a:latin typeface="Calibri"/>
              </a:rPr>
              <a:t>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526280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Provider Router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4800600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Selects best model, load-balances and fails over across providers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5184648"/>
            <a:ext cx="46634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D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1568" y="5303520"/>
            <a:ext cx="420624" cy="42062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C9A227"/>
                </a:solidFill>
                <a:latin typeface="Calibri"/>
              </a:rPr>
              <a:t>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0208" y="5239512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Logging &amp; Tracing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50208" y="5513832"/>
            <a:ext cx="3931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Captures every prompt, response, token count and policy 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2194560"/>
            <a:ext cx="2971800" cy="1828800"/>
          </a:xfrm>
          <a:prstGeom prst="roundRect">
            <a:avLst>
              <a:gd name="adj" fmla="val 8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32520" y="2240280"/>
            <a:ext cx="2971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2670048"/>
            <a:ext cx="2606040" cy="274320"/>
          </a:xfrm>
          <a:prstGeom prst="roundRect">
            <a:avLst>
              <a:gd name="adj" fmla="val 50000"/>
            </a:avLst>
          </a:prstGeom>
          <a:solidFill>
            <a:srgbClr val="E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6B4CA8"/>
                </a:solidFill>
                <a:latin typeface="Calibri"/>
              </a:rPr>
              <a:t>OpenAI GPT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999232"/>
            <a:ext cx="2606040" cy="274320"/>
          </a:xfrm>
          <a:prstGeom prst="roundRect">
            <a:avLst>
              <a:gd name="adj" fmla="val 50000"/>
            </a:avLst>
          </a:prstGeom>
          <a:solidFill>
            <a:srgbClr val="E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6B4CA8"/>
                </a:solidFill>
                <a:latin typeface="Calibri"/>
              </a:rPr>
              <a:t>Anthropic Claude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3328415"/>
            <a:ext cx="2606040" cy="274320"/>
          </a:xfrm>
          <a:prstGeom prst="roundRect">
            <a:avLst>
              <a:gd name="adj" fmla="val 50000"/>
            </a:avLst>
          </a:prstGeom>
          <a:solidFill>
            <a:srgbClr val="E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6B4CA8"/>
                </a:solidFill>
                <a:latin typeface="Calibri"/>
              </a:rPr>
              <a:t>Google Gemini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15400" y="3657600"/>
            <a:ext cx="2606040" cy="274320"/>
          </a:xfrm>
          <a:prstGeom prst="roundRect">
            <a:avLst>
              <a:gd name="adj" fmla="val 50000"/>
            </a:avLst>
          </a:prstGeom>
          <a:solidFill>
            <a:srgbClr val="E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6B4CA8"/>
                </a:solidFill>
                <a:latin typeface="Calibri"/>
              </a:rPr>
              <a:t>Private / On-prem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14600" y="2926080"/>
            <a:ext cx="530352" cy="0"/>
          </a:xfrm>
          <a:prstGeom prst="line">
            <a:avLst/>
          </a:prstGeom>
          <a:ln w="34925">
            <a:solidFill>
              <a:srgbClr val="1A9C9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202168" y="2926080"/>
            <a:ext cx="512064" cy="0"/>
          </a:xfrm>
          <a:prstGeom prst="line">
            <a:avLst/>
          </a:prstGeom>
          <a:ln w="34925">
            <a:solidFill>
              <a:srgbClr val="6B4C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8202168" y="3291840"/>
            <a:ext cx="512064" cy="0"/>
          </a:xfrm>
          <a:prstGeom prst="line">
            <a:avLst/>
          </a:prstGeom>
          <a:ln w="28575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514600" y="3291840"/>
            <a:ext cx="530352" cy="0"/>
          </a:xfrm>
          <a:prstGeom prst="line">
            <a:avLst/>
          </a:prstGeom>
          <a:ln w="28575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02920" y="5989320"/>
            <a:ext cx="11201400" cy="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206240"/>
            <a:ext cx="20116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E9E5B"/>
                </a:solidFill>
                <a:latin typeface="Calibri"/>
              </a:rPr>
              <a:t>⬅ response
flows back
masked &amp; logged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4206240"/>
            <a:ext cx="29718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6B4CA8"/>
                </a:solidFill>
                <a:latin typeface="Calibri"/>
              </a:rPr>
              <a:t>One gateway =
one audit point,
one policy surface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STEP 6 · OUTPUT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Response Assembly &amp; PII Re-insertion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9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The model answers using placeholders. Real data is restored only here — inside the trust boundary.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2670048" cy="1828800"/>
          </a:xfrm>
          <a:prstGeom prst="roundRect">
            <a:avLst>
              <a:gd name="adj" fmla="val 6000"/>
            </a:avLst>
          </a:prstGeom>
          <a:solidFill>
            <a:srgbClr val="ECE6F6"/>
          </a:solidFill>
          <a:ln w="1651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02920" y="1828800"/>
            <a:ext cx="2670048" cy="457200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28800"/>
            <a:ext cx="2670048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1. LLM 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" y="2331720"/>
            <a:ext cx="2450591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…history for CUSTOMER_NAME_001, account ACCOUNT_ID_001: 14 transactions…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968" y="2743200"/>
            <a:ext cx="118871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91839" y="1828800"/>
            <a:ext cx="2670048" cy="1828800"/>
          </a:xfrm>
          <a:prstGeom prst="roundRect">
            <a:avLst>
              <a:gd name="adj" fmla="val 6000"/>
            </a:avLst>
          </a:prstGeom>
          <a:solidFill>
            <a:srgbClr val="F7E4E4"/>
          </a:solidFill>
          <a:ln w="1651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3291839" y="1828800"/>
            <a:ext cx="2670048" cy="457200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39" y="1828800"/>
            <a:ext cx="2670048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2. Output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2331720"/>
            <a:ext cx="2450591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Check for leaked PII, hallucination, toxicity, policy &amp; disclosure compliance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61888" y="2743200"/>
            <a:ext cx="118871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080759" y="1828800"/>
            <a:ext cx="2670048" cy="1828800"/>
          </a:xfrm>
          <a:prstGeom prst="roundRect">
            <a:avLst>
              <a:gd name="adj" fmla="val 6000"/>
            </a:avLst>
          </a:prstGeom>
          <a:solidFill>
            <a:srgbClr val="E3F3E9"/>
          </a:solidFill>
          <a:ln w="1651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080759" y="1828800"/>
            <a:ext cx="2670048" cy="457200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59" y="1828800"/>
            <a:ext cx="2670048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3. PII Re-insertion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0488" y="2331720"/>
            <a:ext cx="2450591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Restore real values from the secure mapping table held by the orchestrator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50808" y="2743200"/>
            <a:ext cx="118872" cy="0"/>
          </a:xfrm>
          <a:prstGeom prst="line">
            <a:avLst/>
          </a:prstGeom>
          <a:ln w="3175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869680" y="1828800"/>
            <a:ext cx="2670048" cy="18288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651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 Same Side Corner Rectangle 26"/>
          <p:cNvSpPr/>
          <p:nvPr/>
        </p:nvSpPr>
        <p:spPr>
          <a:xfrm>
            <a:off x="8869680" y="1828800"/>
            <a:ext cx="2670048" cy="457200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69680" y="1828800"/>
            <a:ext cx="2670048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4. Final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79407" y="2331720"/>
            <a:ext cx="2450591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…history for Somchai Jantapan, account 1234567890: 14 transactions…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Output guardrail checks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434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7512" y="4498848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6152" y="444398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No PII leakage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" y="50292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placeholders all resolved / none exposed externally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55848" y="43434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20440" y="4498848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444398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Grounded &amp; accurate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50292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answer matches retrieved data; no fabrication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08776" y="43434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73368" y="4498848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2008" y="444398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Safe content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3368" y="50292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no toxic, biased or non-compliant language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61704" y="434340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26296" y="4498848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74936" y="444398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Disclosure rules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26296" y="502920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required disclaimers &amp; data-use notices attached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END-TO-END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Complete Request Lifecycle — Sequence View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10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59" y="160020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0160" y="2057400"/>
            <a:ext cx="0" cy="4297680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06040" y="160020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0440" y="2057400"/>
            <a:ext cx="0" cy="4297680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846320" y="160020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720" y="2057400"/>
            <a:ext cx="0" cy="4297680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86600" y="160020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01000" y="2057400"/>
            <a:ext cx="0" cy="4297680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26880" y="160020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Calibri"/>
              </a:rPr>
              <a:t>Data/RAG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41280" y="2057400"/>
            <a:ext cx="0" cy="4297680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80160" y="2350008"/>
            <a:ext cx="2240280" cy="0"/>
          </a:xfrm>
          <a:prstGeom prst="line">
            <a:avLst/>
          </a:prstGeom>
          <a:ln w="2540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71600" y="2057400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1 · query (raw)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642616"/>
            <a:ext cx="1097280" cy="292608"/>
          </a:xfrm>
          <a:prstGeom prst="roundRect">
            <a:avLst>
              <a:gd name="adj" fmla="val 40000"/>
            </a:avLst>
          </a:prstGeom>
          <a:noFill/>
          <a:ln w="1905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496312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2 · input guardrails + PII redaction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20440" y="3191256"/>
            <a:ext cx="6720840" cy="0"/>
          </a:xfrm>
          <a:prstGeom prst="line">
            <a:avLst/>
          </a:prstGeom>
          <a:ln w="2540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2898648"/>
            <a:ext cx="6903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3 · retrieve (generated SQL / RAG)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520440" y="3611880"/>
            <a:ext cx="6720840" cy="0"/>
          </a:xfrm>
          <a:prstGeom prst="line">
            <a:avLst/>
          </a:prstGeom>
          <a:ln w="2540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11880" y="3319272"/>
            <a:ext cx="6903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4 · placeholdered result set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520440" y="4032504"/>
            <a:ext cx="2240280" cy="0"/>
          </a:xfrm>
          <a:prstGeom prst="line">
            <a:avLst/>
          </a:prstGeom>
          <a:ln w="25400">
            <a:solidFill>
              <a:srgbClr val="1A9C9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11880" y="3739896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5 · masked prompt → gateway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720" y="4453128"/>
            <a:ext cx="2240280" cy="0"/>
          </a:xfrm>
          <a:prstGeom prst="line">
            <a:avLst/>
          </a:prstGeom>
          <a:ln w="2540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59" y="4160520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6 · policy ✓, route to provider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760720" y="4873752"/>
            <a:ext cx="2240280" cy="0"/>
          </a:xfrm>
          <a:prstGeom prst="line">
            <a:avLst/>
          </a:prstGeom>
          <a:ln w="25400">
            <a:solidFill>
              <a:srgbClr val="6B4C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852159" y="4581144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7 · model response (placeholders)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3520440" y="5294376"/>
            <a:ext cx="2240280" cy="0"/>
          </a:xfrm>
          <a:prstGeom prst="line">
            <a:avLst/>
          </a:prstGeom>
          <a:ln w="2540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11880" y="5001768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8 · logged + masked response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5586984"/>
            <a:ext cx="1097280" cy="292608"/>
          </a:xfrm>
          <a:prstGeom prst="roundRect">
            <a:avLst>
              <a:gd name="adj" fmla="val 40000"/>
            </a:avLst>
          </a:prstGeom>
          <a:noFill/>
          <a:ln w="1905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0" y="544068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9 · output guardrails + PII re-insertion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1280160" y="6135624"/>
            <a:ext cx="2240280" cy="0"/>
          </a:xfrm>
          <a:prstGeom prst="line">
            <a:avLst/>
          </a:prstGeom>
          <a:ln w="2540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371600" y="5843016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1A2230"/>
                </a:solidFill>
                <a:latin typeface="Calibri"/>
              </a:rPr>
              <a:t>10 · final answer (real data)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0393D"/>
                </a:solidFill>
                <a:latin typeface="Calibri"/>
              </a:rPr>
              <a:t>🛡 Guardrails fire at steps 2 &amp; 9   ·   </a:t>
            </a:r>
            <a:r>
              <a:rPr sz="1000" b="1" i="0">
                <a:solidFill>
                  <a:srgbClr val="C9A227"/>
                </a:solidFill>
                <a:latin typeface="Calibri"/>
              </a:rPr>
              <a:t>🏛 Gateway governs steps 5–8   ·   </a:t>
            </a:r>
            <a:r>
              <a:rPr sz="1000" b="1" i="0">
                <a:solidFill>
                  <a:srgbClr val="2E9E5B"/>
                </a:solidFill>
                <a:latin typeface="Calibri"/>
              </a:rPr>
              <a:t>🎭 Real PII exists only outside the dashed trust boundary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Logging, Monitoring &amp; Audit Trails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11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Every layer emits structured telemetry into a unified observability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1298448" cy="502920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144" y="2286000"/>
            <a:ext cx="2505456" cy="320040"/>
          </a:xfrm>
          <a:prstGeom prst="line">
            <a:avLst/>
          </a:prstGeom>
          <a:ln w="12700">
            <a:solidFill>
              <a:srgbClr val="C4CCD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20240" y="1783080"/>
            <a:ext cx="1298448" cy="502920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9464" y="2286000"/>
            <a:ext cx="1088136" cy="320040"/>
          </a:xfrm>
          <a:prstGeom prst="line">
            <a:avLst/>
          </a:prstGeom>
          <a:ln w="12700">
            <a:solidFill>
              <a:srgbClr val="C4CCD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37560" y="1783080"/>
            <a:ext cx="1298448" cy="502920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AI Hub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657600" y="2286000"/>
            <a:ext cx="329184" cy="320040"/>
          </a:xfrm>
          <a:prstGeom prst="line">
            <a:avLst/>
          </a:prstGeom>
          <a:ln w="12700">
            <a:solidFill>
              <a:srgbClr val="C4CCD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754880" y="1783080"/>
            <a:ext cx="1298448" cy="502920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Providers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657600" y="2286000"/>
            <a:ext cx="1746504" cy="320040"/>
          </a:xfrm>
          <a:prstGeom prst="line">
            <a:avLst/>
          </a:prstGeom>
          <a:ln w="12700">
            <a:solidFill>
              <a:srgbClr val="C4CCD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72200" y="1783080"/>
            <a:ext cx="1298448" cy="502920"/>
          </a:xfrm>
          <a:prstGeom prst="roundRect">
            <a:avLst>
              <a:gd name="adj" fmla="val 3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FFFFFF"/>
                </a:solidFill>
                <a:latin typeface="Calibri"/>
              </a:rPr>
              <a:t>Data Layer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657600" y="2286000"/>
            <a:ext cx="3163824" cy="320040"/>
          </a:xfrm>
          <a:prstGeom prst="line">
            <a:avLst/>
          </a:prstGeom>
          <a:ln w="12700">
            <a:solidFill>
              <a:srgbClr val="C4CCD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920" y="2697480"/>
            <a:ext cx="6766560" cy="54864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📥  Telemetry Collector  —  structured logs · traces · metrics · 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204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00" y="3675887"/>
            <a:ext cx="502920" cy="50292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224528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Latency, token usage, cost per request, error &amp; throttle rates, model mix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304288" y="3246120"/>
            <a:ext cx="1581912" cy="256032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25112" y="35204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07992" y="3675887"/>
            <a:ext cx="502920" cy="50292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02351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Traces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24528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End-to-end span per request across all five layers with correlation IDs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86200" y="3246120"/>
            <a:ext cx="2240279" cy="256032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47304" y="3520440"/>
            <a:ext cx="3611880" cy="1417320"/>
          </a:xfrm>
          <a:prstGeom prst="roundRect">
            <a:avLst>
              <a:gd name="adj" fmla="val 6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30183" y="3675887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24544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Audit Logs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2" y="4224528"/>
            <a:ext cx="3246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Immutable record of prompts, policy decisions, PII actions &amp; approvals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886200" y="3246120"/>
            <a:ext cx="6062472" cy="256032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02920" y="512064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175504"/>
            <a:ext cx="3657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1E5AA8"/>
                </a:solidFill>
                <a:latin typeface="Calibri"/>
              </a:rPr>
              <a:t>What this enables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532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🔎 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Full traceability for every customer interaction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79" y="5532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⚖️ 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Regulatory &amp; audit readiness (BOT, PDPA)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91616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💰 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Cost &amp; quota accountability per team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79" y="591616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🚨 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Real-time anomaly &amp; abuse 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Defense-in-Depth Across the Stack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Controls are layered so that no single failure exposes customer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91640"/>
            <a:ext cx="128016" cy="1298448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8" y="2075688"/>
            <a:ext cx="548640" cy="54864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856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Data Protection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29514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PII redaction &amp; tokenization · encryption in transit &amp; at rest · secure mapping vault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128016" cy="1298448"/>
          </a:xfrm>
          <a:prstGeom prst="rect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10528" y="2075688"/>
            <a:ext cx="548640" cy="548640"/>
          </a:xfrm>
          <a:prstGeom prst="ellipse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56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29514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Input &amp; output filtering · prompt-injection defense · content &amp; toxicity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5468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8016" cy="12984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5528" y="3538728"/>
            <a:ext cx="548640" cy="5486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🏛️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1927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Governance Gateway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75818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Centralized policy · provider allow-lists · quota enforcement · approval workflows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15468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154680"/>
            <a:ext cx="128016" cy="129844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10528" y="3538728"/>
            <a:ext cx="548640" cy="54864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31927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Access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5818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Role-based access · row-level data scoping · least-privilege tool permissions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61772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617720"/>
            <a:ext cx="128016" cy="1298448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95528" y="5001768"/>
            <a:ext cx="548640" cy="54864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478231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522122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PDPA &amp; BOT alignment · audit trails · data-residency &amp; retention policies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617720"/>
            <a:ext cx="55321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617720"/>
            <a:ext cx="128016" cy="129844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10528" y="5001768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Calibri"/>
              </a:rPr>
              <a:t>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478231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450" b="1" i="0">
                <a:solidFill>
                  <a:srgbClr val="0B1F3A"/>
                </a:solidFill>
                <a:latin typeface="Calibri"/>
              </a:rPr>
              <a:t>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221224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5A6677"/>
                </a:solidFill>
                <a:latin typeface="Calibri"/>
              </a:rPr>
              <a:t>Continuous logging · anomaly detection · incident response &amp; alerting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Reference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13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Indicative technology choices per layer — provider-agnostic and swappable.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2212848" cy="4160520"/>
          </a:xfrm>
          <a:prstGeom prst="roundRect">
            <a:avLst>
              <a:gd name="adj" fmla="val 4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02920" y="1783080"/>
            <a:ext cx="2212848" cy="566928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83080"/>
            <a:ext cx="22128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14600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Web / mobile chat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55848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Auth (OAuth2 / SSO)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Session management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38344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Streaming responses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70632" y="1783080"/>
            <a:ext cx="2212848" cy="4160520"/>
          </a:xfrm>
          <a:prstGeom prst="roundRect">
            <a:avLst>
              <a:gd name="adj" fmla="val 4000"/>
            </a:avLst>
          </a:prstGeom>
          <a:solidFill>
            <a:srgbClr val="E3F3E9"/>
          </a:solidFill>
          <a:ln w="15240">
            <a:solidFill>
              <a:srgbClr val="1A9C9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2770632" y="1783080"/>
            <a:ext cx="2212848" cy="566928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1783080"/>
            <a:ext cx="22128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07792" y="2514600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LangChain / LangGraph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3355848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Agent + tool calling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07792" y="4197096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State &amp; memory store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7792" y="5038344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Retry &amp; fallback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8344" y="1783080"/>
            <a:ext cx="2212848" cy="4160520"/>
          </a:xfrm>
          <a:prstGeom prst="roundRect">
            <a:avLst>
              <a:gd name="adj" fmla="val 4000"/>
            </a:avLst>
          </a:prstGeom>
          <a:solidFill>
            <a:srgbClr val="F2E6BE"/>
          </a:solidFill>
          <a:ln w="1524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5038344" y="1783080"/>
            <a:ext cx="2212848" cy="566928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38344" y="1783080"/>
            <a:ext cx="22128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AI Hub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75504" y="2514600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API gateway / proxy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75504" y="3355848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Policy engine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75504" y="4197096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PII masking 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75504" y="5038344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Quota &amp; key vault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06055" y="1783080"/>
            <a:ext cx="2212848" cy="4160520"/>
          </a:xfrm>
          <a:prstGeom prst="roundRect">
            <a:avLst>
              <a:gd name="adj" fmla="val 4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7306055" y="1783080"/>
            <a:ext cx="2212848" cy="566928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06055" y="1783080"/>
            <a:ext cx="22128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Providers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43215" y="2514600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OpenAI · Claude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3215" y="3355848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Gemini · open models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43215" y="4197096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On-prem / private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3215" y="5038344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Embedding models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73768" y="1783080"/>
            <a:ext cx="2212848" cy="4160520"/>
          </a:xfrm>
          <a:prstGeom prst="roundRect">
            <a:avLst>
              <a:gd name="adj" fmla="val 4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9573768" y="1783080"/>
            <a:ext cx="2212848" cy="566928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73768" y="1783080"/>
            <a:ext cx="22128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Data &amp; RAG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10928" y="2514600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SQL / warehouse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10928" y="3355848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Vector database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0928" y="4197096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Document store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10928" y="5038344"/>
            <a:ext cx="193852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2230"/>
                </a:solidFill>
                <a:latin typeface="Calibri"/>
              </a:rPr>
              <a:t>Audit log sink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Key Risks &amp; Mitigations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8404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828800"/>
            <a:ext cx="73609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3840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828800"/>
            <a:ext cx="7360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MITIGATION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286000"/>
            <a:ext cx="7360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286000"/>
            <a:ext cx="91440" cy="658368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286000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PII / 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2286000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Redaction + tokenization, output-side leak checks, secure mapping vault, gateway masking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44368"/>
            <a:ext cx="384048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2944368"/>
            <a:ext cx="736092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944368"/>
            <a:ext cx="91440" cy="658368"/>
          </a:xfrm>
          <a:prstGeom prst="rect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944368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Prompt injection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2944368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Input guardrails, instruction isolation, tool allow-lists, read-only data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02735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602735"/>
            <a:ext cx="7360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602735"/>
            <a:ext cx="91440" cy="658368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602735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Hallucination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602735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RAG grounding, output validation against source data, confidence &amp; disclosure rules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261103"/>
            <a:ext cx="384048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261103"/>
            <a:ext cx="736092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261103"/>
            <a:ext cx="91440" cy="65836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261103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Provider outage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0" y="4261103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Multi-provider routing, automatic fail-over, graceful degradation via the AI Hub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919471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4919471"/>
            <a:ext cx="7360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919471"/>
            <a:ext cx="91440" cy="6583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919471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Cost / abuse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60" y="4919471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Per-team quotas, rate limiting, token budgets, anomaly detection &amp; alerting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577839"/>
            <a:ext cx="384048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5577839"/>
            <a:ext cx="7360920" cy="658368"/>
          </a:xfrm>
          <a:prstGeom prst="rect">
            <a:avLst/>
          </a:prstGeom>
          <a:solidFill>
            <a:srgbClr val="F1F3F6"/>
          </a:solidFill>
          <a:ln w="9525">
            <a:solidFill>
              <a:srgbClr val="E2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577839"/>
            <a:ext cx="91440" cy="658368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5577839"/>
            <a:ext cx="36576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0B1F3A"/>
                </a:solidFill>
                <a:latin typeface="Calibri"/>
              </a:rPr>
              <a:t>Compliance gaps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0" y="5577839"/>
            <a:ext cx="713232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36576" bIns="36576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Immutable audit trails, PDPA/BOT controls, data residency &amp; retention policies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Calibri"/>
              </a:rPr>
              <a:t>What to Remember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310896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65392"/>
            <a:ext cx="25877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1097280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128016" cy="877824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1737360"/>
            <a:ext cx="512064" cy="51206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673352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Layered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673352"/>
            <a:ext cx="5486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Five cooperating layers turn a single user query into a governed, intelligent response.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23744"/>
            <a:ext cx="1097280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23744"/>
            <a:ext cx="128016" cy="877824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706624"/>
            <a:ext cx="512064" cy="512064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642615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PII never leaves the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642615"/>
            <a:ext cx="5486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Redaction in, re-insertion out — external models only ever see placeholders.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93008"/>
            <a:ext cx="1097280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493008"/>
            <a:ext cx="128016" cy="877824"/>
          </a:xfrm>
          <a:prstGeom prst="rect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6112" y="3675887"/>
            <a:ext cx="512064" cy="512064"/>
          </a:xfrm>
          <a:prstGeom prst="ellipse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611879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Guardrails at every stage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611879"/>
            <a:ext cx="5486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Input, processing and output controls make compliance continuous, not occasional.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462272"/>
            <a:ext cx="1097280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462272"/>
            <a:ext cx="128016" cy="8778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112" y="4645152"/>
            <a:ext cx="512064" cy="51206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581144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One gateway to govern them 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4581144"/>
            <a:ext cx="5486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The AI Hub centralizes policy, masking, routing, quotas and logging.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431536"/>
            <a:ext cx="1097280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60000" dist="30000" dir="5400000" rotWithShape="0">
              <a:srgbClr val="1A223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31536"/>
            <a:ext cx="128016" cy="87782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6112" y="5614416"/>
            <a:ext cx="512064" cy="51206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50407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Observable end-to-end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5550407"/>
            <a:ext cx="5486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5A6677"/>
                </a:solidFill>
                <a:latin typeface="Calibri"/>
              </a:rPr>
              <a:t>Metrics, traces and audit logs deliver trust, accountability and regulatory readiness.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206240"/>
            <a:ext cx="16459200" cy="2743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09728" cy="2011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28016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Trustworthy AI,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4000" b="1" i="0">
                <a:solidFill>
                  <a:srgbClr val="C9A227"/>
                </a:solidFill>
                <a:latin typeface="Calibri"/>
              </a:rPr>
              <a:t>Layer by Layer.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700" b="0" i="0">
                <a:solidFill>
                  <a:srgbClr val="E8F1FB"/>
                </a:solidFill>
                <a:latin typeface="Calibri"/>
              </a:rPr>
              <a:t>Intelligence, security and compliance — engineered together,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0" i="0">
                <a:solidFill>
                  <a:srgbClr val="E8F1FB"/>
                </a:solidFill>
                <a:latin typeface="Calibri"/>
              </a:rPr>
              <a:t>from the first keystroke to the final, audited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892040"/>
            <a:ext cx="2011680" cy="50292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3240" y="5138928"/>
            <a:ext cx="13716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00400" y="4892040"/>
            <a:ext cx="2011680" cy="50292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12080" y="5138928"/>
            <a:ext cx="13716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49240" y="4892040"/>
            <a:ext cx="2011680" cy="50292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60920" y="5138928"/>
            <a:ext cx="137159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0" y="4892040"/>
            <a:ext cx="2011680" cy="50292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Providers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09760" y="5138928"/>
            <a:ext cx="13716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46920" y="4892040"/>
            <a:ext cx="2011680" cy="502920"/>
          </a:xfrm>
          <a:prstGeom prst="roundRect">
            <a:avLst>
              <a:gd name="adj" fmla="val 40000"/>
            </a:avLst>
          </a:prstGeom>
          <a:solidFill>
            <a:srgbClr val="142E5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Data &amp;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Thank you  ·  AI Technology Team  ·  Questions &amp; discussion welcome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