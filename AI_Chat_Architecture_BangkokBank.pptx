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680960" y="-1371600"/>
            <a:ext cx="6400800" cy="9601200"/>
          </a:xfrm>
          <a:prstGeom prst="parallelogram">
            <a:avLst/>
          </a:prstGeom>
          <a:solidFill>
            <a:srgbClr val="14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9728" cy="228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73152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◆  BANGKOK BANK · InnoHub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7315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 Chat Application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4400" b="1" i="0">
                <a:solidFill>
                  <a:srgbClr val="C9A227"/>
                </a:solidFill>
                <a:latin typeface="Calibri"/>
              </a:rPr>
              <a:t>Architecture Walkthrough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800" b="0" i="0">
                <a:solidFill>
                  <a:srgbClr val="E8F1FB"/>
                </a:solidFill>
                <a:latin typeface="Calibri"/>
              </a:rPr>
              <a:t>A step-by-step journey from the user's question to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800" b="0" i="0">
                <a:solidFill>
                  <a:srgbClr val="E8F1FB"/>
                </a:solidFill>
                <a:latin typeface="Calibri"/>
              </a:rPr>
              <a:t>answer — with PII protected at the AI 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52628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💻 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4800600"/>
            <a:ext cx="164592" cy="0"/>
          </a:xfrm>
          <a:prstGeom prst="line">
            <a:avLst/>
          </a:prstGeom>
          <a:ln w="254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64992" y="452628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13832" y="4800600"/>
            <a:ext cx="164592" cy="0"/>
          </a:xfrm>
          <a:prstGeom prst="line">
            <a:avLst/>
          </a:prstGeom>
          <a:ln w="254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78424" y="452628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27264" y="4800600"/>
            <a:ext cx="164592" cy="0"/>
          </a:xfrm>
          <a:prstGeom prst="line">
            <a:avLst/>
          </a:prstGeom>
          <a:ln w="254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91856" y="4526280"/>
            <a:ext cx="2148840" cy="548640"/>
          </a:xfrm>
          <a:prstGeom prst="roundRect">
            <a:avLst>
              <a:gd name="adj" fmla="val 50000"/>
            </a:avLst>
          </a:prstGeom>
          <a:solidFill>
            <a:srgbClr val="6B4C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🧠 LLM</a:t>
            </a:r>
          </a:p>
        </p:txBody>
      </p:sp>
      <p:sp>
        <p:nvSpPr>
          <p:cNvPr id="14" name="Can 13"/>
          <p:cNvSpPr/>
          <p:nvPr/>
        </p:nvSpPr>
        <p:spPr>
          <a:xfrm>
            <a:off x="3246120" y="5303520"/>
            <a:ext cx="2148840" cy="502920"/>
          </a:xfrm>
          <a:prstGeom prst="can">
            <a:avLst/>
          </a:prstGeom>
          <a:solidFill>
            <a:srgbClr val="2E9E5B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🗄️ DATABASE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15968" y="5093208"/>
            <a:ext cx="0" cy="192024"/>
          </a:xfrm>
          <a:prstGeom prst="line">
            <a:avLst/>
          </a:prstGeom>
          <a:ln w="25400">
            <a:solidFill>
              <a:srgbClr val="2E9E5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6035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50" b="0" i="0">
                <a:solidFill>
                  <a:srgbClr val="5A6677"/>
                </a:solidFill>
                <a:latin typeface="Calibri"/>
              </a:rPr>
              <a:t>Executive Briefing  ·  AI Technology Team  · 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2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89CC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128016" cy="105156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673352"/>
            <a:ext cx="548640" cy="548640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58191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0B1F3A"/>
                </a:solidFill>
                <a:latin typeface="Calibri"/>
              </a:rPr>
              <a:t>The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98424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5A6677"/>
                </a:solidFill>
                <a:latin typeface="Calibri"/>
              </a:rPr>
              <a:t>Four components — Client, AI Agents, AI Hub, LLM — plus the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24328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6C4C4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624328"/>
            <a:ext cx="128016" cy="1051560"/>
          </a:xfrm>
          <a:prstGeom prst="rect">
            <a:avLst/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788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0B1F3A"/>
                </a:solidFill>
                <a:latin typeface="Calibri"/>
              </a:rPr>
              <a:t>The 11-Step 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5A6677"/>
                </a:solidFill>
                <a:latin typeface="Calibri"/>
              </a:rPr>
              <a:t>Follow one real request through the whole system, step by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31336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C77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31336"/>
            <a:ext cx="128016" cy="1051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 i="0">
                <a:solidFill>
                  <a:srgbClr val="0B1F3A"/>
                </a:solidFill>
                <a:latin typeface="Calibri"/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9592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0B1F3A"/>
                </a:solidFill>
                <a:latin typeface="Calibri"/>
              </a:rPr>
              <a:t>Guardrails &amp; PII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98264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5A6677"/>
                </a:solidFill>
                <a:latin typeface="Calibri"/>
              </a:rPr>
              <a:t>Where checks run and how PII is protected at the AI Hub.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38344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2C59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038344"/>
            <a:ext cx="128016" cy="10515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5294376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0293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 i="0">
                <a:solidFill>
                  <a:srgbClr val="0B1F3A"/>
                </a:solidFill>
                <a:latin typeface="Calibri"/>
              </a:rPr>
              <a:t>Key 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60527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5A6677"/>
                </a:solidFill>
                <a:latin typeface="Calibri"/>
              </a:rPr>
              <a:t>The few ideas worth remembering.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Building Blocks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3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7899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50" b="0" i="1">
                <a:solidFill>
                  <a:srgbClr val="5A6677"/>
                </a:solidFill>
                <a:latin typeface="Calibri"/>
              </a:rPr>
              <a:t>Four components in a simple chain — the Database sits next to the agents.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965960" cy="1188720"/>
          </a:xfrm>
          <a:prstGeom prst="roundRect">
            <a:avLst>
              <a:gd name="adj" fmla="val 12000"/>
            </a:avLst>
          </a:prstGeom>
          <a:solidFill>
            <a:srgbClr val="1E5A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💻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00" b="0" i="0">
                <a:solidFill>
                  <a:srgbClr val="E8F1FB"/>
                </a:solidFill>
                <a:latin typeface="Calibri"/>
              </a:rPr>
              <a:t>web / mobile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828800"/>
            <a:ext cx="3246120" cy="2194560"/>
          </a:xfrm>
          <a:prstGeom prst="roundRect">
            <a:avLst>
              <a:gd name="adj" fmla="val 6000"/>
            </a:avLst>
          </a:prstGeom>
          <a:solidFill>
            <a:srgbClr val="DEF1F1"/>
          </a:solidFill>
          <a:ln w="20320">
            <a:solidFill>
              <a:srgbClr val="1A9C9C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828800"/>
            <a:ext cx="3246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1A9C9C"/>
                </a:solidFill>
                <a:latin typeface="Calibri"/>
              </a:rPr>
              <a:t>🤖  AI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331720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A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>
                <a:solidFill>
                  <a:srgbClr val="1A9C9C"/>
                </a:solidFill>
                <a:latin typeface="Calibri"/>
              </a:rPr>
              <a:t>🧭  </a:t>
            </a:r>
            <a:r>
              <a:rPr sz="1050" b="1" i="0">
                <a:solidFill>
                  <a:srgbClr val="0B1F3A"/>
                </a:solidFill>
                <a:latin typeface="Calibri"/>
              </a:rPr>
              <a:t>Router / 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862072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A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>
                <a:solidFill>
                  <a:srgbClr val="1A9C9C"/>
                </a:solidFill>
                <a:latin typeface="Calibri"/>
              </a:rPr>
              <a:t>🔎  </a:t>
            </a:r>
            <a:r>
              <a:rPr sz="1050" b="1" i="0">
                <a:solidFill>
                  <a:srgbClr val="0B1F3A"/>
                </a:solidFill>
                <a:latin typeface="Calibri"/>
              </a:rPr>
              <a:t>Data Retrieval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392424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A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>
                <a:solidFill>
                  <a:srgbClr val="1A9C9C"/>
                </a:solidFill>
                <a:latin typeface="Calibri"/>
              </a:rPr>
              <a:t>📊  </a:t>
            </a:r>
            <a:r>
              <a:rPr sz="1050" b="1" i="0">
                <a:solidFill>
                  <a:srgbClr val="0B1F3A"/>
                </a:solidFill>
                <a:latin typeface="Calibri"/>
              </a:rPr>
              <a:t>Analysis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2084832"/>
            <a:ext cx="23317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0B1F3A"/>
                </a:solidFill>
                <a:latin typeface="Calibri"/>
              </a:rPr>
              <a:t>🏛️  AI 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2542032"/>
            <a:ext cx="2011680" cy="329184"/>
          </a:xfrm>
          <a:prstGeom prst="roundRect">
            <a:avLst>
              <a:gd name="adj" fmla="val 30000"/>
            </a:avLst>
          </a:prstGeom>
          <a:solidFill>
            <a:srgbClr val="F2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0B1F3A"/>
                </a:solidFill>
                <a:latin typeface="Calibri"/>
              </a:rPr>
              <a:t>🔢  Token counting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2926080"/>
            <a:ext cx="2011680" cy="329184"/>
          </a:xfrm>
          <a:prstGeom prst="roundRect">
            <a:avLst>
              <a:gd name="adj" fmla="val 30000"/>
            </a:avLst>
          </a:prstGeom>
          <a:solidFill>
            <a:srgbClr val="F2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0B1F3A"/>
                </a:solidFill>
                <a:latin typeface="Calibri"/>
              </a:rPr>
              <a:t>🎭  PII redact / re-insert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9168" y="3310128"/>
            <a:ext cx="2011680" cy="329184"/>
          </a:xfrm>
          <a:prstGeom prst="roundRect">
            <a:avLst>
              <a:gd name="adj" fmla="val 30000"/>
            </a:avLst>
          </a:prstGeom>
          <a:solidFill>
            <a:srgbClr val="F2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0B1F3A"/>
                </a:solidFill>
                <a:latin typeface="Calibri"/>
              </a:rPr>
              <a:t>🛡️  Guardrails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148840"/>
            <a:ext cx="1874519" cy="1188720"/>
          </a:xfrm>
          <a:prstGeom prst="roundRect">
            <a:avLst>
              <a:gd name="adj" fmla="val 12000"/>
            </a:avLst>
          </a:prstGeom>
          <a:solidFill>
            <a:srgbClr val="6B4C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🧠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LLM PROVIDER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00" b="0" i="0">
                <a:solidFill>
                  <a:srgbClr val="ECE6F6"/>
                </a:solidFill>
                <a:latin typeface="Calibri"/>
              </a:rPr>
              <a:t>generates SQL &amp; text</a:t>
            </a:r>
          </a:p>
        </p:txBody>
      </p:sp>
      <p:sp>
        <p:nvSpPr>
          <p:cNvPr id="23" name="Can 22"/>
          <p:cNvSpPr/>
          <p:nvPr/>
        </p:nvSpPr>
        <p:spPr>
          <a:xfrm>
            <a:off x="3657600" y="4526280"/>
            <a:ext cx="2057400" cy="960120"/>
          </a:xfrm>
          <a:prstGeom prst="can">
            <a:avLst/>
          </a:prstGeom>
          <a:solidFill>
            <a:srgbClr val="2E9E5B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🗄️  DATABASE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87168" y="2743200"/>
            <a:ext cx="557784" cy="0"/>
          </a:xfrm>
          <a:prstGeom prst="line">
            <a:avLst/>
          </a:prstGeom>
          <a:ln w="31750">
            <a:solidFill>
              <a:srgbClr val="0B1F3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27648" y="2743200"/>
            <a:ext cx="557784" cy="0"/>
          </a:xfrm>
          <a:prstGeom prst="line">
            <a:avLst/>
          </a:prstGeom>
          <a:ln w="31750">
            <a:solidFill>
              <a:srgbClr val="0B1F3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53728" y="2743200"/>
            <a:ext cx="557784" cy="0"/>
          </a:xfrm>
          <a:prstGeom prst="line">
            <a:avLst/>
          </a:prstGeom>
          <a:ln w="31750">
            <a:solidFill>
              <a:srgbClr val="0B1F3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3440" y="4041648"/>
            <a:ext cx="0" cy="466344"/>
          </a:xfrm>
          <a:prstGeom prst="line">
            <a:avLst/>
          </a:prstGeom>
          <a:ln w="31750">
            <a:solidFill>
              <a:srgbClr val="2E9E5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" y="5943600"/>
            <a:ext cx="2697480" cy="502920"/>
          </a:xfrm>
          <a:prstGeom prst="roundRect">
            <a:avLst>
              <a:gd name="adj" fmla="val 10000"/>
            </a:avLst>
          </a:prstGeom>
          <a:solidFill>
            <a:srgbClr val="F7E4E4"/>
          </a:solidFill>
          <a:ln w="12700">
            <a:solidFill>
              <a:srgbClr val="C0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00" b="0" i="0">
                <a:solidFill>
                  <a:srgbClr val="1A2230"/>
                </a:solidFill>
                <a:latin typeface="Calibri"/>
              </a:rPr>
              <a:t>🛡️ Guardrails at the client edge — no PII redaction 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5943600"/>
            <a:ext cx="2834640" cy="502920"/>
          </a:xfrm>
          <a:prstGeom prst="roundRect">
            <a:avLst>
              <a:gd name="adj" fmla="val 10000"/>
            </a:avLst>
          </a:prstGeom>
          <a:solidFill>
            <a:srgbClr val="F2E6BE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00" b="0" i="0">
                <a:solidFill>
                  <a:srgbClr val="1A2230"/>
                </a:solidFill>
                <a:latin typeface="Calibri"/>
              </a:rPr>
              <a:t>🎭 PII redacted &amp; re-inserted only at the AI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1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User Sends a Request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4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Oval 18"/>
          <p:cNvSpPr/>
          <p:nvPr/>
        </p:nvSpPr>
        <p:spPr>
          <a:xfrm>
            <a:off x="2779776" y="950976"/>
            <a:ext cx="384048" cy="384048"/>
          </a:xfrm>
          <a:prstGeom prst="ellipse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17556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00" b="1" i="0">
                <a:solidFill>
                  <a:srgbClr val="C0393D"/>
                </a:solidFill>
                <a:latin typeface="Calibri"/>
              </a:rPr>
              <a:t>guardrail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1E5A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Client submits the prompt; the first input guardrail runs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User types a natural-language question in the chat app.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Input guardrail checks content, policy &amp; prompt-injection.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No PII redaction at this step — that happens at the AI Hub.</a:t>
            </a:r>
          </a:p>
        </p:txBody>
      </p:sp>
      <p:sp>
        <p:nvSpPr>
          <p:cNvPr id="28" name="Oval 27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Clean requests are passed to the AI Agents.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789CC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💬  Chat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13448" y="3310128"/>
            <a:ext cx="4489703" cy="1280160"/>
          </a:xfrm>
          <a:prstGeom prst="roundRect">
            <a:avLst>
              <a:gd name="adj" fmla="val 18000"/>
            </a:avLst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Calibri"/>
              </a:rPr>
              <a:t>Show me transaction history for Somchai Jantapan, account 1234567890, last month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3448" y="4727448"/>
            <a:ext cx="4489703" cy="868680"/>
          </a:xfrm>
          <a:prstGeom prst="roundRect">
            <a:avLst>
              <a:gd name="adj" fmla="val 10000"/>
            </a:avLst>
          </a:prstGeom>
          <a:solidFill>
            <a:srgbClr val="F7E4E4"/>
          </a:solidFill>
          <a:ln w="12700">
            <a:solidFill>
              <a:srgbClr val="C0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>
                <a:solidFill>
                  <a:srgbClr val="C0393D"/>
                </a:solidFill>
                <a:latin typeface="Calibri"/>
              </a:rPr>
              <a:t>Guardrail: </a:t>
            </a:r>
            <a:r>
              <a:rPr sz="1000" b="0" i="0">
                <a:solidFill>
                  <a:srgbClr val="1A2230"/>
                </a:solidFill>
                <a:latin typeface="Calibri"/>
              </a:rPr>
              <a:t>policy + prompt-injection checks. PII is NOT redacted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2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Router Agent Plans the Work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5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1A9C9C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Router understands intent and routes to the Data Retrieval Agent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Router / Orchestrator interprets the user's intent.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Decides the request needs data retrieval first.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Hands the task to the Data Retrieval Agent.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Will orchestrate the remaining steps &amp; state.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76C4C4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🧭  Routing decision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548640"/>
          </a:xfrm>
          <a:prstGeom prst="roundRect">
            <a:avLst>
              <a:gd name="adj" fmla="val 10000"/>
            </a:avLst>
          </a:prstGeom>
          <a:solidFill>
            <a:srgbClr val="DEF1F1"/>
          </a:solidFill>
          <a:ln w="12700">
            <a:solidFill>
              <a:srgbClr val="1A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>
                <a:solidFill>
                  <a:srgbClr val="1A9C9C"/>
                </a:solidFill>
                <a:latin typeface="Calibri"/>
              </a:rPr>
              <a:t>Intent: </a:t>
            </a:r>
            <a:r>
              <a:rPr sz="1100" b="0" i="0">
                <a:solidFill>
                  <a:srgbClr val="1A2230"/>
                </a:solidFill>
                <a:latin typeface="Calibri"/>
              </a:rPr>
              <a:t>retrieve transactions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58300" y="3904488"/>
            <a:ext cx="0" cy="274320"/>
          </a:xfrm>
          <a:prstGeom prst="line">
            <a:avLst/>
          </a:prstGeom>
          <a:ln w="25400">
            <a:solidFill>
              <a:srgbClr val="1A9C9C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13448" y="4224528"/>
            <a:ext cx="4489703" cy="548640"/>
          </a:xfrm>
          <a:prstGeom prst="roundRect">
            <a:avLst>
              <a:gd name="adj" fmla="val 10000"/>
            </a:avLst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→  Route to Data Retrieval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3448" y="5001768"/>
            <a:ext cx="4489703" cy="502920"/>
          </a:xfrm>
          <a:prstGeom prst="roundRect">
            <a:avLst>
              <a:gd name="adj" fmla="val 1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5A6677"/>
                </a:solidFill>
                <a:latin typeface="Calibri"/>
              </a:rPr>
              <a:t>then → Analysis Agent (later)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3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Retrieval Agent Calls the AI Hub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6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381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1A9C9C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Data Retrieval Agent sends the query request to the AI Hub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The agent needs a SQL query generated for it.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It forwards the request to the central AI Hub.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Every model call goes through the Hub — one control point.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The Hub will govern and protect this call.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76C4C4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📨  Request to AI Hub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17373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 w="12700">
            <a:solidFill>
              <a:srgbClr val="76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2" y="3419856"/>
            <a:ext cx="4215383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>
                <a:solidFill>
                  <a:srgbClr val="1A9C9C"/>
                </a:solidFill>
                <a:latin typeface="Consolas"/>
              </a:rPr>
              <a:t>POST </a:t>
            </a:r>
            <a:r>
              <a:rPr sz="1050" b="0" i="0">
                <a:solidFill>
                  <a:srgbClr val="1A2230"/>
                </a:solidFill>
                <a:latin typeface="Consolas"/>
              </a:rPr>
              <a:t>/ai-hub/generate-sql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onsolas"/>
              </a:rPr>
              <a:t>task: text-to-SQL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onsolas"/>
              </a:rPr>
              <a:t>prompt: "transactions for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onsolas"/>
              </a:rPr>
              <a:t>  Somchai J., acct 1234567890…"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4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AI Hub Secures the Input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7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0B1F3A"/>
                </a:solidFill>
                <a:latin typeface="Calibri"/>
              </a:rPr>
              <a:t>Token counting, guardrails, and PII redaction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Counts input tokens for quota &amp; cost tracking.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Runs gateway guardrails and policy checks.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Redacts PII into placeholders (name, account…).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Only the redacted prompt is sent onward to the LLM.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FC77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🎭  PII redaction + tokens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03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>
                <a:solidFill>
                  <a:srgbClr val="C0393D"/>
                </a:solidFill>
                <a:latin typeface="Calibri"/>
              </a:rPr>
              <a:t>IN  </a:t>
            </a:r>
            <a:r>
              <a:rPr sz="1000" b="0" i="0">
                <a:solidFill>
                  <a:srgbClr val="1A2230"/>
                </a:solidFill>
                <a:latin typeface="Calibri"/>
              </a:rPr>
              <a:t>Somchai J. · acct 1234567890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58300" y="4059936"/>
            <a:ext cx="0" cy="210312"/>
          </a:xfrm>
          <a:prstGeom prst="line">
            <a:avLst/>
          </a:prstGeom>
          <a:ln w="25400">
            <a:solidFill>
              <a:srgbClr val="5A6677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13448" y="4315968"/>
            <a:ext cx="4489703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>
                <a:solidFill>
                  <a:srgbClr val="2E9E5B"/>
                </a:solidFill>
                <a:latin typeface="Calibri"/>
              </a:rPr>
              <a:t>OUT  </a:t>
            </a:r>
            <a:r>
              <a:rPr sz="1000" b="0" i="0">
                <a:solidFill>
                  <a:srgbClr val="1A2230"/>
                </a:solidFill>
                <a:latin typeface="Calibri"/>
              </a:rPr>
              <a:t>:NAME_001 · acct :ACCT_001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3448" y="5184648"/>
            <a:ext cx="4489703" cy="457200"/>
          </a:xfrm>
          <a:prstGeom prst="roundRect">
            <a:avLst>
              <a:gd name="adj" fmla="val 30000"/>
            </a:avLst>
          </a:prstGeom>
          <a:solidFill>
            <a:srgbClr val="F2E6BE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>
                <a:solidFill>
                  <a:srgbClr val="0B1F3A"/>
                </a:solidFill>
                <a:latin typeface="Calibri"/>
              </a:rPr>
              <a:t>🔢 input tokens counted: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5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LLM Generates the SQL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8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381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6B4CA8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6B4C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provider model writes the query from the redacted prompt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6B4CA8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The LLM receives placeholders only — never real PII.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6B4CA8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Generates parameterized, read-only SQL.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6B4CA8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Returns the generated SQL to the AI Hub.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6B4CA8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Output tokens are counted as well.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A694C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6B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🧠  Generated SQL (placeholders)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1783080"/>
          </a:xfrm>
          <a:prstGeom prst="roundRect">
            <a:avLst>
              <a:gd name="adj" fmla="val 4000"/>
            </a:avLst>
          </a:prstGeom>
          <a:solidFill>
            <a:srgbClr val="101A2B"/>
          </a:solidFill>
          <a:ln w="12700">
            <a:solidFill>
              <a:srgbClr val="142E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438144"/>
            <a:ext cx="4215383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SELECT </a:t>
            </a:r>
            <a:r>
              <a:rPr sz="1050" b="0">
                <a:solidFill>
                  <a:srgbClr val="FFFFFF"/>
                </a:solidFill>
                <a:latin typeface="Consolas"/>
              </a:rPr>
              <a:t>txn_date, amount, channel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FROM </a:t>
            </a:r>
            <a:r>
              <a:rPr sz="1050" b="0">
                <a:solidFill>
                  <a:srgbClr val="FFFFFF"/>
                </a:solidFill>
                <a:latin typeface="Consolas"/>
              </a:rPr>
              <a:t>transactions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WHERE </a:t>
            </a:r>
            <a:r>
              <a:rPr sz="1050" b="0">
                <a:solidFill>
                  <a:srgbClr val="FFFFFF"/>
                </a:solidFill>
                <a:latin typeface="Consolas"/>
              </a:rPr>
              <a:t>name = </a:t>
            </a:r>
            <a:r>
              <a:rPr sz="1050" b="1">
                <a:solidFill>
                  <a:srgbClr val="C9A227"/>
                </a:solidFill>
                <a:latin typeface="Consolas"/>
              </a:rPr>
              <a:t>:NAME_001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  AND </a:t>
            </a:r>
            <a:r>
              <a:rPr sz="1050" b="0">
                <a:solidFill>
                  <a:srgbClr val="FFFFFF"/>
                </a:solidFill>
                <a:latin typeface="Consolas"/>
              </a:rPr>
              <a:t>acct = </a:t>
            </a:r>
            <a:r>
              <a:rPr sz="1050" b="1">
                <a:solidFill>
                  <a:srgbClr val="C9A227"/>
                </a:solidFill>
                <a:latin typeface="Consolas"/>
              </a:rPr>
              <a:t>:ACCT_001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  AND </a:t>
            </a:r>
            <a:r>
              <a:rPr sz="1050" b="0">
                <a:solidFill>
                  <a:srgbClr val="FFFFFF"/>
                </a:solidFill>
                <a:latin typeface="Consolas"/>
              </a:rPr>
              <a:t>month = last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5138928"/>
            <a:ext cx="44897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1">
                <a:solidFill>
                  <a:srgbClr val="6B4CA8"/>
                </a:solidFill>
                <a:latin typeface="Calibri"/>
              </a:rPr>
              <a:t>LLM sees placeholders only — no real PII.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6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AI Hub Re-inserts PII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9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0B1F3A"/>
                </a:solidFill>
                <a:latin typeface="Calibri"/>
              </a:rPr>
              <a:t>Real values are restored into the generated SQL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Hub maps placeholders back to the real values.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Uses the secure mapping kept for this request.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SQL becomes executable against real data.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PII never left the trust boundary.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FC77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🎭  SQL after PII re-insert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1783080"/>
          </a:xfrm>
          <a:prstGeom prst="roundRect">
            <a:avLst>
              <a:gd name="adj" fmla="val 4000"/>
            </a:avLst>
          </a:prstGeom>
          <a:solidFill>
            <a:srgbClr val="101A2B"/>
          </a:solidFill>
          <a:ln w="12700">
            <a:solidFill>
              <a:srgbClr val="142E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438144"/>
            <a:ext cx="4215383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SELECT </a:t>
            </a:r>
            <a:r>
              <a:rPr sz="1050" b="0">
                <a:solidFill>
                  <a:srgbClr val="FFFFFF"/>
                </a:solidFill>
                <a:latin typeface="Consolas"/>
              </a:rPr>
              <a:t>txn_date, amount, channel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FROM </a:t>
            </a:r>
            <a:r>
              <a:rPr sz="1050" b="0">
                <a:solidFill>
                  <a:srgbClr val="FFFFFF"/>
                </a:solidFill>
                <a:latin typeface="Consolas"/>
              </a:rPr>
              <a:t>transactions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WHERE </a:t>
            </a:r>
            <a:r>
              <a:rPr sz="1050" b="0">
                <a:solidFill>
                  <a:srgbClr val="FFFFFF"/>
                </a:solidFill>
                <a:latin typeface="Consolas"/>
              </a:rPr>
              <a:t>name = </a:t>
            </a:r>
            <a:r>
              <a:rPr sz="1050" b="1">
                <a:solidFill>
                  <a:srgbClr val="E3F3E9"/>
                </a:solidFill>
                <a:latin typeface="Consolas"/>
              </a:rPr>
              <a:t>'Somchai J.'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  AND </a:t>
            </a:r>
            <a:r>
              <a:rPr sz="1050" b="0">
                <a:solidFill>
                  <a:srgbClr val="FFFFFF"/>
                </a:solidFill>
                <a:latin typeface="Consolas"/>
              </a:rPr>
              <a:t>acct = </a:t>
            </a:r>
            <a:r>
              <a:rPr sz="1050" b="1">
                <a:solidFill>
                  <a:srgbClr val="E3F3E9"/>
                </a:solidFill>
                <a:latin typeface="Consolas"/>
              </a:rPr>
              <a:t>'1234567890'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  AND </a:t>
            </a:r>
            <a:r>
              <a:rPr sz="1050" b="0">
                <a:solidFill>
                  <a:srgbClr val="FFFFFF"/>
                </a:solidFill>
                <a:latin typeface="Consolas"/>
              </a:rPr>
              <a:t>month = last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5138928"/>
            <a:ext cx="44897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1">
                <a:solidFill>
                  <a:srgbClr val="2E9E5B"/>
                </a:solidFill>
                <a:latin typeface="Calibri"/>
              </a:rPr>
              <a:t>Placeholders → real values, ready to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7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SQL Returns to the Agent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10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381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0B1F3A"/>
                </a:solidFill>
                <a:latin typeface="Calibri"/>
              </a:rPr>
              <a:t>AI Hub sends the completed SQL back to the Retrieval Agent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The ready-to-run SQL is returned to the agent.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Retrieval Agent receives it from the Hub.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The exchange is logged and traced.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Next: execute it against the database.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FC77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↩️  SQL handed 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1783080"/>
          </a:xfrm>
          <a:prstGeom prst="roundRect">
            <a:avLst>
              <a:gd name="adj" fmla="val 4000"/>
            </a:avLst>
          </a:prstGeom>
          <a:solidFill>
            <a:srgbClr val="101A2B"/>
          </a:solidFill>
          <a:ln w="12700">
            <a:solidFill>
              <a:srgbClr val="142E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438144"/>
            <a:ext cx="4215383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SELECT </a:t>
            </a:r>
            <a:r>
              <a:rPr sz="1050" b="0">
                <a:solidFill>
                  <a:srgbClr val="FFFFFF"/>
                </a:solidFill>
                <a:latin typeface="Consolas"/>
              </a:rPr>
              <a:t>txn_date, amount, channel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FROM </a:t>
            </a:r>
            <a:r>
              <a:rPr sz="1050" b="0">
                <a:solidFill>
                  <a:srgbClr val="FFFFFF"/>
                </a:solidFill>
                <a:latin typeface="Consolas"/>
              </a:rPr>
              <a:t>transactions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WHERE </a:t>
            </a:r>
            <a:r>
              <a:rPr sz="1050" b="0">
                <a:solidFill>
                  <a:srgbClr val="FFFFFF"/>
                </a:solidFill>
                <a:latin typeface="Consolas"/>
              </a:rPr>
              <a:t>name = </a:t>
            </a:r>
            <a:r>
              <a:rPr sz="1050" b="1">
                <a:solidFill>
                  <a:srgbClr val="E3F3E9"/>
                </a:solidFill>
                <a:latin typeface="Consolas"/>
              </a:rPr>
              <a:t>'Somchai J.'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  AND </a:t>
            </a:r>
            <a:r>
              <a:rPr sz="1050" b="0">
                <a:solidFill>
                  <a:srgbClr val="FFFFFF"/>
                </a:solidFill>
                <a:latin typeface="Consolas"/>
              </a:rPr>
              <a:t>acct = </a:t>
            </a:r>
            <a:r>
              <a:rPr sz="1050" b="1">
                <a:solidFill>
                  <a:srgbClr val="E3F3E9"/>
                </a:solidFill>
                <a:latin typeface="Consolas"/>
              </a:rPr>
              <a:t>'1234567890'</a:t>
            </a:r>
          </a:p>
          <a:p>
            <a:pPr>
              <a:spcAft>
                <a:spcPts val="100"/>
              </a:spcAft>
              <a:buNone/>
            </a:pPr>
            <a:r>
              <a:rPr sz="1050" b="1">
                <a:solidFill>
                  <a:srgbClr val="3C82D6"/>
                </a:solidFill>
                <a:latin typeface="Consolas"/>
              </a:rPr>
              <a:t>  AND </a:t>
            </a:r>
            <a:r>
              <a:rPr sz="1050" b="0">
                <a:solidFill>
                  <a:srgbClr val="FFFFFF"/>
                </a:solidFill>
                <a:latin typeface="Consolas"/>
              </a:rPr>
              <a:t>month = last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13448" y="5184648"/>
            <a:ext cx="4489703" cy="457200"/>
          </a:xfrm>
          <a:prstGeom prst="roundRect">
            <a:avLst>
              <a:gd name="adj" fmla="val 30000"/>
            </a:avLst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→ delivered to Data Retrieval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8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Retrieval Agent Queries the Database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11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381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2E9E5B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Run the SQL to fetch the customer's data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Read-only query with row-level access scope.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Returns the matching transaction rows.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No LLM is involved in data access itself.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Results are handed to the Analysis Agent.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82C59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🗄️  Query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13448" y="3310128"/>
            <a:ext cx="1526499" cy="457200"/>
          </a:xfrm>
          <a:prstGeom prst="rect">
            <a:avLst/>
          </a:prstGeom>
          <a:solidFill>
            <a:srgbClr val="2E9E5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39947" y="3310128"/>
            <a:ext cx="1526499" cy="457200"/>
          </a:xfrm>
          <a:prstGeom prst="rect">
            <a:avLst/>
          </a:prstGeom>
          <a:solidFill>
            <a:srgbClr val="2E9E5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66446" y="3310128"/>
            <a:ext cx="1436705" cy="457200"/>
          </a:xfrm>
          <a:prstGeom prst="rect">
            <a:avLst/>
          </a:prstGeom>
          <a:solidFill>
            <a:srgbClr val="2E9E5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13448" y="3767328"/>
            <a:ext cx="1526499" cy="457200"/>
          </a:xfrm>
          <a:prstGeom prst="rect">
            <a:avLst/>
          </a:prstGeom>
          <a:solidFill>
            <a:srgbClr val="E3F3E9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05 Jun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39947" y="3767328"/>
            <a:ext cx="1526499" cy="457200"/>
          </a:xfrm>
          <a:prstGeom prst="rect">
            <a:avLst/>
          </a:prstGeom>
          <a:solidFill>
            <a:srgbClr val="E3F3E9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− 1,200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66446" y="3767328"/>
            <a:ext cx="1436705" cy="457200"/>
          </a:xfrm>
          <a:prstGeom prst="rect">
            <a:avLst/>
          </a:prstGeom>
          <a:solidFill>
            <a:srgbClr val="E3F3E9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ATM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3448" y="4224528"/>
            <a:ext cx="152649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12 Jun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9947" y="4224528"/>
            <a:ext cx="152649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+ 8,500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66446" y="4224528"/>
            <a:ext cx="143670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Transfer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13448" y="4681728"/>
            <a:ext cx="1526499" cy="457200"/>
          </a:xfrm>
          <a:prstGeom prst="rect">
            <a:avLst/>
          </a:prstGeom>
          <a:solidFill>
            <a:srgbClr val="E3F3E9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21 Jun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39947" y="4681728"/>
            <a:ext cx="1526499" cy="457200"/>
          </a:xfrm>
          <a:prstGeom prst="rect">
            <a:avLst/>
          </a:prstGeom>
          <a:solidFill>
            <a:srgbClr val="E3F3E9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− 350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66446" y="4681728"/>
            <a:ext cx="1436705" cy="457200"/>
          </a:xfrm>
          <a:prstGeom prst="rect">
            <a:avLst/>
          </a:prstGeom>
          <a:solidFill>
            <a:srgbClr val="E3F3E9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000" b="0" i="0">
                <a:solidFill>
                  <a:srgbClr val="1A2230"/>
                </a:solidFill>
                <a:latin typeface="Calibri"/>
              </a:rPr>
              <a:t>QR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5184648"/>
            <a:ext cx="448970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1">
                <a:solidFill>
                  <a:srgbClr val="2E9E5B"/>
                </a:solidFill>
                <a:latin typeface="Calibri"/>
              </a:rPr>
              <a:t>14 transactions returned (sample).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9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Analysis Agent Writes the Answer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12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381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381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6B4CA8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1A9C9C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Analyse the data and compose a natural-language response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Analysis Agent reviews the returned rows.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Generates the answer via AI Hub → LLM (PII-safe).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Summarises the result in clear language.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A9C9C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Prepares the response for delivery.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76C4C4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📊  Draft 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2103120"/>
          </a:xfrm>
          <a:prstGeom prst="roundRect">
            <a:avLst>
              <a:gd name="adj" fmla="val 12000"/>
            </a:avLst>
          </a:prstGeom>
          <a:solidFill>
            <a:srgbClr val="DEF1F1"/>
          </a:solidFill>
          <a:ln w="12700">
            <a:solidFill>
              <a:srgbClr val="1A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"Last month Somchai had 14 transactions totalling ฿7,950 net — mostly QR payments, with one ฿8,500 transfer in on 12 Jun."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10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Output Guardrail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13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Oval 18"/>
          <p:cNvSpPr/>
          <p:nvPr/>
        </p:nvSpPr>
        <p:spPr>
          <a:xfrm>
            <a:off x="2779776" y="950976"/>
            <a:ext cx="384048" cy="384048"/>
          </a:xfrm>
          <a:prstGeom prst="ellipse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17556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00" b="1" i="0">
                <a:solidFill>
                  <a:srgbClr val="C0393D"/>
                </a:solidFill>
                <a:latin typeface="Calibri"/>
              </a:rPr>
              <a:t>guardrail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C0393D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Check the response before it leaves the system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EC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Scan the answer for any leaked PII.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EC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Toxicity and safety screening.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EC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Confirm it is grounded in the retrieved data.</a:t>
            </a:r>
          </a:p>
        </p:txBody>
      </p:sp>
      <p:sp>
        <p:nvSpPr>
          <p:cNvPr id="28" name="Oval 27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EC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Attach any required disclosures.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9888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🛡️  Output checks</a:t>
            </a:r>
          </a:p>
        </p:txBody>
      </p:sp>
      <p:sp>
        <p:nvSpPr>
          <p:cNvPr id="33" name="Oval 32"/>
          <p:cNvSpPr/>
          <p:nvPr/>
        </p:nvSpPr>
        <p:spPr>
          <a:xfrm>
            <a:off x="7013448" y="331012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3328416"/>
            <a:ext cx="384962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No leaked PII</a:t>
            </a:r>
          </a:p>
        </p:txBody>
      </p:sp>
      <p:sp>
        <p:nvSpPr>
          <p:cNvPr id="35" name="Oval 34"/>
          <p:cNvSpPr/>
          <p:nvPr/>
        </p:nvSpPr>
        <p:spPr>
          <a:xfrm>
            <a:off x="7013448" y="3877056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3895344"/>
            <a:ext cx="384962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Safe &amp; non-toxic</a:t>
            </a:r>
          </a:p>
        </p:txBody>
      </p:sp>
      <p:sp>
        <p:nvSpPr>
          <p:cNvPr id="37" name="Oval 36"/>
          <p:cNvSpPr/>
          <p:nvPr/>
        </p:nvSpPr>
        <p:spPr>
          <a:xfrm>
            <a:off x="7013448" y="4443984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8" y="4462272"/>
            <a:ext cx="384962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Grounded in the data</a:t>
            </a:r>
          </a:p>
        </p:txBody>
      </p:sp>
      <p:sp>
        <p:nvSpPr>
          <p:cNvPr id="39" name="Oval 38"/>
          <p:cNvSpPr/>
          <p:nvPr/>
        </p:nvSpPr>
        <p:spPr>
          <a:xfrm>
            <a:off x="7013448" y="5010912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5029200"/>
            <a:ext cx="384962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Disclosure attached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STEP 11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Client Shows the Result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14 / 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95360" y="1463040"/>
            <a:ext cx="365760" cy="0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1887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 w="3175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💻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BA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🤖 AI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FE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🏛️ AI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D3C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8A939F"/>
                </a:solidFill>
                <a:latin typeface="Calibri"/>
              </a:rPr>
              <a:t>🧠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1737360"/>
            <a:ext cx="0" cy="292608"/>
          </a:xfrm>
          <a:prstGeom prst="line">
            <a:avLst/>
          </a:prstGeom>
          <a:ln w="19050">
            <a:solidFill>
              <a:srgbClr val="C4CCD6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n 17"/>
          <p:cNvSpPr/>
          <p:nvPr/>
        </p:nvSpPr>
        <p:spPr>
          <a:xfrm>
            <a:off x="3703320" y="2029968"/>
            <a:ext cx="1645920" cy="457200"/>
          </a:xfrm>
          <a:prstGeom prst="can">
            <a:avLst/>
          </a:prstGeom>
          <a:solidFill>
            <a:srgbClr val="C0E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>
                <a:solidFill>
                  <a:srgbClr val="8A939F"/>
                </a:solidFill>
                <a:latin typeface="Calibri"/>
              </a:rPr>
              <a:t>🗄️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5989320" cy="603504"/>
          </a:xfrm>
          <a:prstGeom prst="roundRect">
            <a:avLst>
              <a:gd name="adj" fmla="val 12000"/>
            </a:avLst>
          </a:prstGeom>
          <a:solidFill>
            <a:srgbClr val="1E5A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user sees the final answer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" y="3566160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747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Response is streamed back to the chat UI.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" y="4169663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078224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Presented in clear natural language.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" y="4773168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68172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The full interaction is logged for audit.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5376672"/>
            <a:ext cx="237744" cy="237744"/>
          </a:xfrm>
          <a:prstGeom prst="ellipse">
            <a:avLst/>
          </a:prstGeom>
          <a:solidFill>
            <a:srgbClr val="BCC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1E5AA8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285232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A2230"/>
                </a:solidFill>
                <a:latin typeface="Calibri"/>
              </a:rPr>
              <a:t>Session is ready for the next question.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743200"/>
            <a:ext cx="48920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789CC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>
            <a:off x="6812280" y="2743200"/>
            <a:ext cx="4892040" cy="457200"/>
          </a:xfrm>
          <a:prstGeom prst="round2Same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2743200"/>
            <a:ext cx="48920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7315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💬  Final 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13448" y="3310128"/>
            <a:ext cx="4489703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628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Last month, Somchai Jantapan (acct 1234567890) made 14 transactions, ฿7,950 net. Want a breakdown by channel?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Where Guardrails &amp; PII Protection Happen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15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7899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50" b="0" i="1">
                <a:solidFill>
                  <a:srgbClr val="5A6677"/>
                </a:solidFill>
                <a:latin typeface="Calibri"/>
              </a:rPr>
              <a:t>Three control points keep the flow safe — PII is handled only at the AI 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36118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C0393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548640" y="1600200"/>
            <a:ext cx="3611880" cy="868680"/>
          </a:xfrm>
          <a:prstGeom prst="round2Same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C0393D"/>
                </a:solidFill>
                <a:latin typeface="Calibr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74650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1 · Input Guardrail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1031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1">
                <a:solidFill>
                  <a:srgbClr val="E8F1FB"/>
                </a:solidFill>
                <a:latin typeface="Calibri"/>
              </a:rPr>
              <a:t>at CLIENT → AGENTS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2697480"/>
            <a:ext cx="256032" cy="256032"/>
          </a:xfrm>
          <a:prstGeom prst="ellipse">
            <a:avLst/>
          </a:prstGeom>
          <a:solidFill>
            <a:srgbClr val="F7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64261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Content &amp; policy moderation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3246120"/>
            <a:ext cx="256032" cy="256032"/>
          </a:xfrm>
          <a:prstGeom prst="ellipse">
            <a:avLst/>
          </a:prstGeom>
          <a:solidFill>
            <a:srgbClr val="F7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9125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Prompt-injection / jailbreak checks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3794760"/>
            <a:ext cx="256032" cy="256032"/>
          </a:xfrm>
          <a:prstGeom prst="ellipse">
            <a:avLst/>
          </a:prstGeom>
          <a:solidFill>
            <a:srgbClr val="F7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3989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Scope &amp; intent validation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343400"/>
            <a:ext cx="256032" cy="256032"/>
          </a:xfrm>
          <a:prstGeom prst="ellipse">
            <a:avLst/>
          </a:prstGeom>
          <a:solidFill>
            <a:srgbClr val="F7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0393D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8853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No PII redaction at this 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1600200"/>
            <a:ext cx="36118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C9A227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4343400" y="1600200"/>
            <a:ext cx="3611880" cy="868680"/>
          </a:xfrm>
          <a:prstGeom prst="round2Same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180136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C9A227"/>
                </a:solidFill>
                <a:latin typeface="Calibri"/>
              </a:rPr>
              <a:t>🏛️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174650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0B1F3A"/>
                </a:solidFill>
                <a:latin typeface="Calibri"/>
              </a:rPr>
              <a:t>2 · AI Hub (PII boundary)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21031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1">
                <a:solidFill>
                  <a:srgbClr val="0B1F3A"/>
                </a:solidFill>
                <a:latin typeface="Calibri"/>
              </a:rPr>
              <a:t>every LLM call</a:t>
            </a:r>
          </a:p>
        </p:txBody>
      </p:sp>
      <p:sp>
        <p:nvSpPr>
          <p:cNvPr id="29" name="Oval 28"/>
          <p:cNvSpPr/>
          <p:nvPr/>
        </p:nvSpPr>
        <p:spPr>
          <a:xfrm>
            <a:off x="4599432" y="2697480"/>
            <a:ext cx="256032" cy="256032"/>
          </a:xfrm>
          <a:prstGeom prst="ellipse">
            <a:avLst/>
          </a:prstGeom>
          <a:solidFill>
            <a:srgbClr val="F2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264261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Counts input / output tokens</a:t>
            </a:r>
          </a:p>
        </p:txBody>
      </p:sp>
      <p:sp>
        <p:nvSpPr>
          <p:cNvPr id="31" name="Oval 30"/>
          <p:cNvSpPr/>
          <p:nvPr/>
        </p:nvSpPr>
        <p:spPr>
          <a:xfrm>
            <a:off x="4599432" y="3246120"/>
            <a:ext cx="256032" cy="256032"/>
          </a:xfrm>
          <a:prstGeom prst="ellipse">
            <a:avLst/>
          </a:prstGeom>
          <a:solidFill>
            <a:srgbClr val="F2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5192" y="319125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Redacts PII before the LLM</a:t>
            </a:r>
          </a:p>
        </p:txBody>
      </p:sp>
      <p:sp>
        <p:nvSpPr>
          <p:cNvPr id="33" name="Oval 32"/>
          <p:cNvSpPr/>
          <p:nvPr/>
        </p:nvSpPr>
        <p:spPr>
          <a:xfrm>
            <a:off x="4599432" y="3794760"/>
            <a:ext cx="256032" cy="256032"/>
          </a:xfrm>
          <a:prstGeom prst="ellipse">
            <a:avLst/>
          </a:prstGeom>
          <a:solidFill>
            <a:srgbClr val="F2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373989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LLM sees placeholders only</a:t>
            </a:r>
          </a:p>
        </p:txBody>
      </p:sp>
      <p:sp>
        <p:nvSpPr>
          <p:cNvPr id="35" name="Oval 34"/>
          <p:cNvSpPr/>
          <p:nvPr/>
        </p:nvSpPr>
        <p:spPr>
          <a:xfrm>
            <a:off x="4599432" y="4343400"/>
            <a:ext cx="256032" cy="256032"/>
          </a:xfrm>
          <a:prstGeom prst="ellipse">
            <a:avLst/>
          </a:prstGeom>
          <a:solidFill>
            <a:srgbClr val="F2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65192" y="428853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Re-inserts PII into the result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1600200"/>
            <a:ext cx="36118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8138160" y="1600200"/>
            <a:ext cx="3611880" cy="868680"/>
          </a:xfrm>
          <a:prstGeom prst="round2Same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66760" y="180136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2E9E5B"/>
                </a:solidFill>
                <a:latin typeface="Calibri"/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174650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Calibri"/>
              </a:rPr>
              <a:t>3 · Output Guardrail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21031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1">
                <a:solidFill>
                  <a:srgbClr val="E8F1FB"/>
                </a:solidFill>
                <a:latin typeface="Calibri"/>
              </a:rPr>
              <a:t>at AGENTS → CLIENT</a:t>
            </a:r>
          </a:p>
        </p:txBody>
      </p:sp>
      <p:sp>
        <p:nvSpPr>
          <p:cNvPr id="42" name="Oval 41"/>
          <p:cNvSpPr/>
          <p:nvPr/>
        </p:nvSpPr>
        <p:spPr>
          <a:xfrm>
            <a:off x="8394192" y="2697480"/>
            <a:ext cx="256032" cy="256032"/>
          </a:xfrm>
          <a:prstGeom prst="ellipse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9952" y="264261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Checks for leaked PII</a:t>
            </a:r>
          </a:p>
        </p:txBody>
      </p:sp>
      <p:sp>
        <p:nvSpPr>
          <p:cNvPr id="44" name="Oval 43"/>
          <p:cNvSpPr/>
          <p:nvPr/>
        </p:nvSpPr>
        <p:spPr>
          <a:xfrm>
            <a:off x="8394192" y="3246120"/>
            <a:ext cx="256032" cy="256032"/>
          </a:xfrm>
          <a:prstGeom prst="ellipse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2" y="319125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Toxicity &amp; safety screening</a:t>
            </a:r>
          </a:p>
        </p:txBody>
      </p:sp>
      <p:sp>
        <p:nvSpPr>
          <p:cNvPr id="46" name="Oval 45"/>
          <p:cNvSpPr/>
          <p:nvPr/>
        </p:nvSpPr>
        <p:spPr>
          <a:xfrm>
            <a:off x="8394192" y="3794760"/>
            <a:ext cx="256032" cy="256032"/>
          </a:xfrm>
          <a:prstGeom prst="ellipse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9952" y="373989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Grounded / no hallucination</a:t>
            </a:r>
          </a:p>
        </p:txBody>
      </p:sp>
      <p:sp>
        <p:nvSpPr>
          <p:cNvPr id="48" name="Oval 47"/>
          <p:cNvSpPr/>
          <p:nvPr/>
        </p:nvSpPr>
        <p:spPr>
          <a:xfrm>
            <a:off x="8394192" y="4343400"/>
            <a:ext cx="256032" cy="256032"/>
          </a:xfrm>
          <a:prstGeom prst="ellipse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2E9E5B"/>
                </a:solidFill>
                <a:latin typeface="Calibr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9952" y="4288536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A2230"/>
                </a:solidFill>
                <a:latin typeface="Calibri"/>
              </a:rPr>
              <a:t>Required disclosures attached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440680"/>
            <a:ext cx="11109960" cy="713232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Key point: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real customer PII reaches the LLM only as redacted placeholders — the AI Hub re-inserts the real values, so sensitive data never leaves the trust boundary.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C9A227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23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11430000" y="237744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500" b="1" i="0">
                <a:solidFill>
                  <a:srgbClr val="0B1F3A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Bangkok Bank InnoHub  |  AI Technology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47104"/>
            <a:ext cx="2770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>
                <a:solidFill>
                  <a:srgbClr val="5A6677"/>
                </a:solidFill>
                <a:latin typeface="Calibri"/>
              </a:rPr>
              <a:t>Confidential  ·  16 /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109270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89CC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128016" cy="84124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655064"/>
            <a:ext cx="457200" cy="457200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554480"/>
            <a:ext cx="374903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Calibri"/>
              </a:rPr>
              <a:t>One simple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554480"/>
            <a:ext cx="5943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5A6677"/>
                </a:solidFill>
                <a:latin typeface="Calibri"/>
              </a:rPr>
              <a:t>Client → Agents → AI Hub → LLM, with the Database beside the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14016"/>
            <a:ext cx="109270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6C4C4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414016"/>
            <a:ext cx="128016" cy="841248"/>
          </a:xfrm>
          <a:prstGeom prst="rect">
            <a:avLst/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606040"/>
            <a:ext cx="457200" cy="457200"/>
          </a:xfrm>
          <a:prstGeom prst="ellipse">
            <a:avLst/>
          </a:prstGeom>
          <a:solidFill>
            <a:srgbClr val="1A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505456"/>
            <a:ext cx="374903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Calibri"/>
              </a:rPr>
              <a:t>Agents do the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505456"/>
            <a:ext cx="5943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5A6677"/>
                </a:solidFill>
                <a:latin typeface="Calibri"/>
              </a:rPr>
              <a:t>A Router, a Retrieval agent and an Analysis agent split the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64992"/>
            <a:ext cx="109270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C77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64992"/>
            <a:ext cx="128016" cy="8412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3557016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0B1F3A"/>
                </a:solidFill>
                <a:latin typeface="Calibr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456432"/>
            <a:ext cx="374903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Calibri"/>
              </a:rPr>
              <a:t>The AI Hub is the control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456432"/>
            <a:ext cx="5943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5A6677"/>
                </a:solidFill>
                <a:latin typeface="Calibri"/>
              </a:rPr>
              <a:t>Token counting, guardrails and PII redaction / re-insertion live here.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15968"/>
            <a:ext cx="109270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694CB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28016" cy="841248"/>
          </a:xfrm>
          <a:prstGeom prst="rect">
            <a:avLst/>
          </a:prstGeom>
          <a:solidFill>
            <a:srgbClr val="6B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4507992"/>
            <a:ext cx="457200" cy="457200"/>
          </a:xfrm>
          <a:prstGeom prst="ellipse">
            <a:avLst/>
          </a:prstGeom>
          <a:solidFill>
            <a:srgbClr val="6B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407408"/>
            <a:ext cx="374903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Calibri"/>
              </a:rPr>
              <a:t>PII never leaves the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407408"/>
            <a:ext cx="5943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5A6677"/>
                </a:solidFill>
                <a:latin typeface="Calibri"/>
              </a:rPr>
              <a:t>The LLM only ever sees placeholders; real values are restored by the Hub.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66944"/>
            <a:ext cx="109270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2C59D"/>
            </a:solidFill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266944"/>
            <a:ext cx="128016" cy="84124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6112" y="5458968"/>
            <a:ext cx="457200" cy="45720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358383"/>
            <a:ext cx="374903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50" b="1" i="0">
                <a:solidFill>
                  <a:srgbClr val="0B1F3A"/>
                </a:solidFill>
                <a:latin typeface="Calibri"/>
              </a:rPr>
              <a:t>Guardrails top and tail the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5358383"/>
            <a:ext cx="5943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5A6677"/>
                </a:solidFill>
                <a:latin typeface="Calibri"/>
              </a:rPr>
              <a:t>An input check (no PII) and an output check protect every request.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4114800"/>
            <a:ext cx="16459200" cy="3017520"/>
          </a:xfrm>
          <a:prstGeom prst="parallelogram">
            <a:avLst/>
          </a:prstGeom>
          <a:solidFill>
            <a:srgbClr val="142E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09728" cy="18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00584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◆  BANGKOK BANK · InnoHub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8686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Calibri"/>
              </a:rPr>
              <a:t>Simple Chain, Strong Controls.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600" b="0" i="0">
                <a:solidFill>
                  <a:srgbClr val="E8F1FB"/>
                </a:solidFill>
                <a:latin typeface="Calibri"/>
              </a:rPr>
              <a:t>Client → Agents → AI Hub → LLM, with the Database beside the agents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600" b="0" i="0">
                <a:solidFill>
                  <a:srgbClr val="E8F1FB"/>
                </a:solidFill>
                <a:latin typeface="Calibri"/>
              </a:rPr>
              <a:t>and PII protected at the Hub on every model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6177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💻 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4892040"/>
            <a:ext cx="182880" cy="0"/>
          </a:xfrm>
          <a:prstGeom prst="line">
            <a:avLst/>
          </a:prstGeom>
          <a:ln w="254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46177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1A9C9C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🤖 AI AGENTS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4892040"/>
            <a:ext cx="182880" cy="0"/>
          </a:xfrm>
          <a:prstGeom prst="line">
            <a:avLst/>
          </a:prstGeom>
          <a:ln w="254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89320" y="46177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0B1F3A"/>
                </a:solidFill>
                <a:latin typeface="Calibri"/>
              </a:rPr>
              <a:t>🏛️ AI HUB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75320" y="4892040"/>
            <a:ext cx="182880" cy="0"/>
          </a:xfrm>
          <a:prstGeom prst="line">
            <a:avLst/>
          </a:prstGeom>
          <a:ln w="25400">
            <a:solidFill>
              <a:srgbClr val="C9A22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58200" y="46177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6B4CA8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🧠 LLM</a:t>
            </a:r>
          </a:p>
        </p:txBody>
      </p:sp>
      <p:sp>
        <p:nvSpPr>
          <p:cNvPr id="14" name="Can 13"/>
          <p:cNvSpPr/>
          <p:nvPr/>
        </p:nvSpPr>
        <p:spPr>
          <a:xfrm>
            <a:off x="3291840" y="5440680"/>
            <a:ext cx="2286000" cy="502920"/>
          </a:xfrm>
          <a:prstGeom prst="can">
            <a:avLst/>
          </a:prstGeom>
          <a:solidFill>
            <a:srgbClr val="2E9E5B"/>
          </a:solidFill>
          <a:ln>
            <a:noFill/>
          </a:ln>
          <a:effectLst>
            <a:outerShdw blurRad="60000" dist="30000" dir="5400000" rotWithShape="0">
              <a:srgbClr val="1A22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Calibri"/>
              </a:rPr>
              <a:t>🗄️ DATABASE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34840" y="5212080"/>
            <a:ext cx="0" cy="210312"/>
          </a:xfrm>
          <a:prstGeom prst="line">
            <a:avLst/>
          </a:prstGeom>
          <a:ln w="25400">
            <a:solidFill>
              <a:srgbClr val="2E9E5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>
                <a:solidFill>
                  <a:srgbClr val="5A6677"/>
                </a:solidFill>
                <a:latin typeface="Calibri"/>
              </a:rPr>
              <a:t>Thank you  ·  AI Technology Team  ·  Questions welcome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